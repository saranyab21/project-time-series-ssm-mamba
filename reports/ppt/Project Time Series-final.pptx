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4" r:id="rId6"/>
    <p:sldMasterId id="2147483685" r:id="rId7"/>
    <p:sldMasterId id="214748368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aranya Bhattacharje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6F472D-10C1-430E-82E2-B048DEC9DADA}">
  <a:tblStyle styleId="{B46F472D-10C1-430E-82E2-B048DEC9DA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3BF8F15-10F5-49A1-A5A8-24E36168546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7" Type="http://schemas.openxmlformats.org/officeDocument/2006/relationships/slide" Target="slides/slide18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06T14:51:11.235">
    <p:pos x="6000" y="0"/>
    <p:text>Plot 1: A Mann–Whitney U test showed a small but noticeable difference in UPDRS scores between male and female Parkinson’s subjects (p = 0.049).
Male participants had slightly higher median scores, which could point to somewhat stronger motor symptoms on average.
The effect size was small (Cliff’s δ = 0.25, 95% CI [−0.01, 0.45]), meaning that although the result is statistically significant, the actual difference between the groups is modest.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9f9cc0fea8_2_3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g39f9cc0fea8_2_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ce14d6f031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ce14d6f031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cdf56209c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cdf56209c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df56209c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cdf56209c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9f9cc0fea8_2_9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g39f9cc0fea8_2_9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9f9cc0fea8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g39f9cc0fea8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9f9cc0fea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9f9cc0fea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9f9cc0fea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39f9cc0fea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a0b820f27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3a0b820f27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9f9cc0fea8_2_9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g39f9cc0fea8_2_9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ce14d6f03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7" name="Google Shape;1147;g3ce14d6f03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a98909770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3a98909770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Combined feature set consistently performs best</a:t>
            </a:r>
            <a:r>
              <a:rPr lang="en">
                <a:solidFill>
                  <a:schemeClr val="dk1"/>
                </a:solidFill>
              </a:rPr>
              <a:t>, confirming that integrating left + right gait descriptors increases discriminative power.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SVM-RBF and Random Forest are the top performers</a:t>
            </a:r>
            <a:r>
              <a:rPr lang="en">
                <a:solidFill>
                  <a:schemeClr val="dk1"/>
                </a:solidFill>
              </a:rPr>
              <a:t>, especially for Combined and Right Foot.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Left Foot alone is weakest</a:t>
            </a:r>
            <a:r>
              <a:rPr lang="en">
                <a:solidFill>
                  <a:schemeClr val="dk1"/>
                </a:solidFill>
              </a:rPr>
              <a:t>, consistent with earlier PCA visualizations showing higher overlap.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Sensitivity is generally </a:t>
            </a:r>
            <a:r>
              <a:rPr b="1" lang="en">
                <a:solidFill>
                  <a:schemeClr val="dk1"/>
                </a:solidFill>
              </a:rPr>
              <a:t>high across all models</a:t>
            </a:r>
            <a:r>
              <a:rPr lang="en">
                <a:solidFill>
                  <a:schemeClr val="dk1"/>
                </a:solidFill>
              </a:rPr>
              <a:t>, but specificity varies more — particularly for </a:t>
            </a:r>
            <a:r>
              <a:rPr b="1" lang="en">
                <a:solidFill>
                  <a:schemeClr val="dk1"/>
                </a:solidFill>
              </a:rPr>
              <a:t>Left-foot SVM-RBF</a:t>
            </a:r>
            <a:r>
              <a:rPr lang="en">
                <a:solidFill>
                  <a:schemeClr val="dk1"/>
                </a:solidFill>
              </a:rPr>
              <a:t>, indicating more false positives.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AUC values &gt; 0.80 for Combined</a:t>
            </a:r>
            <a:r>
              <a:rPr lang="en">
                <a:solidFill>
                  <a:schemeClr val="dk1"/>
                </a:solidFill>
              </a:rPr>
              <a:t> demonstrate strong separability in the optimized baseline.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a9291a7a8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3a9291a7a8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3a98909770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3a98909770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aa5afaba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3aa5afaba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aa6e6b75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3aa6e6b75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cdf56209c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g3cdf56209c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ce14d6f031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g3ce14d6f031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bild" showMasterSp="0">
  <p:cSld name="Titelbild">
    <p:bg>
      <p:bgPr>
        <a:solidFill>
          <a:schemeClr val="dk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405000" spcFirstLastPara="1" rIns="0" wrap="square" tIns="891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92" name="Google Shape;92;p14"/>
          <p:cNvSpPr/>
          <p:nvPr>
            <p:ph idx="2" type="pic"/>
          </p:nvPr>
        </p:nvSpPr>
        <p:spPr>
          <a:xfrm>
            <a:off x="0" y="1221581"/>
            <a:ext cx="9144000" cy="392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390122" y="2185298"/>
            <a:ext cx="3734629" cy="77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4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4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96" name="Google Shape;96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7" name="Google Shape;97;p14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99" name="Google Shape;99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0" name="Google Shape;100;p1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102" name="Google Shape;102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3" name="Google Shape;103;p1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105" name="Google Shape;105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6" name="Google Shape;106;p1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107" name="Google Shape;107;p14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108" name="Google Shape;108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" name="Google Shape;109;p14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110" name="Google Shape;110;p14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111" name="Google Shape;111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2" name="Google Shape;112;p14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113" name="Google Shape;113;p14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114" name="Google Shape;114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5" name="Google Shape;115;p14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116" name="Google Shape;116;p14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117" name="Google Shape;117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8" name="Google Shape;118;p14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119" name="Google Shape;119;p14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120" name="Google Shape;120;p14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1" name="Google Shape;121;p14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122" name="Google Shape;122;p14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3" name="Google Shape;123;p14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124" name="Google Shape;124;p1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5" name="Google Shape;125;p14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126" name="Google Shape;126;p14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127" name="Google Shape;127;p14"/>
            <p:cNvSpPr/>
            <p:nvPr/>
          </p:nvSpPr>
          <p:spPr>
            <a:xfrm>
              <a:off x="519935" y="300420"/>
              <a:ext cx="78213" cy="124372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610329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67924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72508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825417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936967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005565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1052044" y="332474"/>
              <a:ext cx="75649" cy="9424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1145644" y="293688"/>
              <a:ext cx="77252" cy="131103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1246937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1302071" y="300420"/>
              <a:ext cx="115397" cy="124051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1436060" y="293688"/>
              <a:ext cx="20835" cy="130783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1479334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1572613" y="334718"/>
              <a:ext cx="85906" cy="89753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1669733" y="332795"/>
              <a:ext cx="75975" cy="9392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1772314" y="332795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1871684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197810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2083566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150561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2221081" y="300420"/>
              <a:ext cx="97126" cy="126295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2346415" y="332795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44706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2488418" y="335039"/>
              <a:ext cx="87189" cy="89753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2585223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2690683" y="332713"/>
              <a:ext cx="53852" cy="91758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2754472" y="332474"/>
              <a:ext cx="69238" cy="9424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2843264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2884935" y="306189"/>
              <a:ext cx="55775" cy="120525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2957058" y="296573"/>
              <a:ext cx="75970" cy="130142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3049376" y="306189"/>
              <a:ext cx="55775" cy="120525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510639" y="494671"/>
              <a:ext cx="92638" cy="124051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60391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703929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79785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901707" y="526726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002359" y="488901"/>
              <a:ext cx="26605" cy="129501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1045312" y="526405"/>
              <a:ext cx="69238" cy="94241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1131540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122546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132418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1482539" y="494671"/>
              <a:ext cx="77893" cy="124051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564279" y="526726"/>
              <a:ext cx="76290" cy="9392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667175" y="487619"/>
              <a:ext cx="78854" cy="131103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761416" y="528970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865594" y="487299"/>
              <a:ext cx="20835" cy="131103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905021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977144" y="490504"/>
              <a:ext cx="75970" cy="130142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2069462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14"/>
          <p:cNvSpPr/>
          <p:nvPr/>
        </p:nvSpPr>
        <p:spPr>
          <a:xfrm>
            <a:off x="7753302" y="225528"/>
            <a:ext cx="1052927" cy="40199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/>
          <p:nvPr>
            <p:ph idx="3" type="pic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trenner" showMasterSp="0">
  <p:cSld name="Kapiteltrenner">
    <p:bg>
      <p:bgPr>
        <a:solidFill>
          <a:schemeClr val="dk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/>
          <p:nvPr>
            <p:ph type="title"/>
          </p:nvPr>
        </p:nvSpPr>
        <p:spPr>
          <a:xfrm>
            <a:off x="388739" y="2156252"/>
            <a:ext cx="8368307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15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15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15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15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187" name="Google Shape;187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8" name="Google Shape;188;p15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189" name="Google Shape;189;p15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190" name="Google Shape;190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1" name="Google Shape;191;p1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192" name="Google Shape;192;p15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193" name="Google Shape;193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4" name="Google Shape;194;p1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195" name="Google Shape;195;p15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196" name="Google Shape;196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7" name="Google Shape;197;p1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198" name="Google Shape;198;p15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199" name="Google Shape;199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0" name="Google Shape;200;p15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201" name="Google Shape;201;p15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202" name="Google Shape;202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3" name="Google Shape;203;p15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204" name="Google Shape;204;p15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205" name="Google Shape;205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6" name="Google Shape;206;p15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207" name="Google Shape;207;p15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208" name="Google Shape;208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9" name="Google Shape;209;p15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210" name="Google Shape;210;p15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211" name="Google Shape;211;p15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2" name="Google Shape;212;p15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213" name="Google Shape;213;p15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14" name="Google Shape;214;p15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215" name="Google Shape;215;p1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6" name="Google Shape;216;p15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217" name="Google Shape;217;p15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218" name="Google Shape;218;p15"/>
            <p:cNvSpPr/>
            <p:nvPr/>
          </p:nvSpPr>
          <p:spPr>
            <a:xfrm>
              <a:off x="519935" y="300420"/>
              <a:ext cx="78213" cy="124372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610329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67924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72508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825417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936967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1005565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1052044" y="332474"/>
              <a:ext cx="75649" cy="9424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1145644" y="293688"/>
              <a:ext cx="77252" cy="131103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1246937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1302071" y="300420"/>
              <a:ext cx="115397" cy="124051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1436060" y="293688"/>
              <a:ext cx="20835" cy="130783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1479334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1572613" y="334718"/>
              <a:ext cx="85906" cy="89753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1669733" y="332795"/>
              <a:ext cx="75975" cy="9392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1772314" y="332795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1871684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197810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2083566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2150561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2221081" y="300420"/>
              <a:ext cx="97126" cy="126295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2346415" y="332795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244706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2488418" y="335039"/>
              <a:ext cx="87189" cy="89753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2585223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2690683" y="332713"/>
              <a:ext cx="53852" cy="91758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2754472" y="332474"/>
              <a:ext cx="69238" cy="9424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2843264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2884935" y="306189"/>
              <a:ext cx="55775" cy="120525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2957058" y="296573"/>
              <a:ext cx="75970" cy="130142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3049376" y="306189"/>
              <a:ext cx="55775" cy="120525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510639" y="494671"/>
              <a:ext cx="92638" cy="124051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0391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703929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79785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901707" y="526726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1002359" y="488901"/>
              <a:ext cx="26605" cy="129501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1045312" y="526405"/>
              <a:ext cx="69238" cy="94241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1131540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122546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132418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1482539" y="494671"/>
              <a:ext cx="77893" cy="124051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1564279" y="526726"/>
              <a:ext cx="76290" cy="9392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1667175" y="487619"/>
              <a:ext cx="78854" cy="131103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1761416" y="528970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1865594" y="487299"/>
              <a:ext cx="20835" cy="131103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1905021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1977144" y="490504"/>
              <a:ext cx="75970" cy="130142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2069462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15"/>
          <p:cNvSpPr/>
          <p:nvPr/>
        </p:nvSpPr>
        <p:spPr>
          <a:xfrm>
            <a:off x="7704725" y="225528"/>
            <a:ext cx="1052927" cy="40199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5"/>
          <p:cNvSpPr/>
          <p:nvPr>
            <p:ph idx="2" type="pic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 | Grau" showMasterSp="0">
  <p:cSld name="Nur Titel | Grau">
    <p:bg>
      <p:bgPr>
        <a:solidFill>
          <a:schemeClr val="dk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16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3" name="Google Shape;273;p16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4" name="Google Shape;274;p16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6"/>
          <p:cNvSpPr txBox="1"/>
          <p:nvPr>
            <p:ph idx="1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278" name="Google Shape;278;p16"/>
          <p:cNvSpPr/>
          <p:nvPr/>
        </p:nvSpPr>
        <p:spPr>
          <a:xfrm>
            <a:off x="7947047" y="224510"/>
            <a:ext cx="810000" cy="309246"/>
          </a:xfrm>
          <a:custGeom>
            <a:rect b="b" l="l" r="r" t="t"/>
            <a:pathLst>
              <a:path extrusionOk="0" h="1831428" w="479701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16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280" name="Google Shape;280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1" name="Google Shape;281;p16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282" name="Google Shape;282;p16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283" name="Google Shape;283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4" name="Google Shape;284;p1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285" name="Google Shape;285;p16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286" name="Google Shape;286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7" name="Google Shape;287;p1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288" name="Google Shape;288;p16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289" name="Google Shape;289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0" name="Google Shape;290;p1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291" name="Google Shape;291;p16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292" name="Google Shape;292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3" name="Google Shape;293;p16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294" name="Google Shape;294;p16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295" name="Google Shape;295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6" name="Google Shape;296;p16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297" name="Google Shape;297;p16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298" name="Google Shape;298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9" name="Google Shape;299;p16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300" name="Google Shape;300;p16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301" name="Google Shape;301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2" name="Google Shape;302;p16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303" name="Google Shape;303;p16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304" name="Google Shape;304;p16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5" name="Google Shape;305;p16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306" name="Google Shape;306;p16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07" name="Google Shape;307;p16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308" name="Google Shape;308;p1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9" name="Google Shape;309;p16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sp>
        <p:nvSpPr>
          <p:cNvPr id="310" name="Google Shape;310;p16"/>
          <p:cNvSpPr/>
          <p:nvPr>
            <p:ph idx="2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311" name="Google Shape;31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lussfolie" showMasterSp="0">
  <p:cSld name="Schlussfolie">
    <p:bg>
      <p:bgPr>
        <a:solidFill>
          <a:schemeClr val="dk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"/>
          <p:cNvSpPr txBox="1"/>
          <p:nvPr>
            <p:ph idx="1" type="body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405000" spcFirstLastPara="1" rIns="0" wrap="square" tIns="891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314" name="Google Shape;314;p17"/>
          <p:cNvSpPr/>
          <p:nvPr>
            <p:ph idx="2" type="pic"/>
          </p:nvPr>
        </p:nvSpPr>
        <p:spPr>
          <a:xfrm>
            <a:off x="0" y="1221581"/>
            <a:ext cx="9144000" cy="392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5" name="Google Shape;315;p17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 txBox="1"/>
          <p:nvPr>
            <p:ph idx="3" type="body"/>
          </p:nvPr>
        </p:nvSpPr>
        <p:spPr>
          <a:xfrm>
            <a:off x="388738" y="1985989"/>
            <a:ext cx="8368309" cy="1171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grpSp>
        <p:nvGrpSpPr>
          <p:cNvPr id="317" name="Google Shape;317;p17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318" name="Google Shape;318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9" name="Google Shape;319;p17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320" name="Google Shape;320;p17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321" name="Google Shape;321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2" name="Google Shape;322;p1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323" name="Google Shape;323;p17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324" name="Google Shape;324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5" name="Google Shape;325;p1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326" name="Google Shape;326;p17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327" name="Google Shape;327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8" name="Google Shape;328;p1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329" name="Google Shape;329;p17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330" name="Google Shape;330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1" name="Google Shape;331;p17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332" name="Google Shape;332;p17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333" name="Google Shape;333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4" name="Google Shape;334;p17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335" name="Google Shape;335;p17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336" name="Google Shape;336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7" name="Google Shape;337;p17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338" name="Google Shape;338;p17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339" name="Google Shape;339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0" name="Google Shape;340;p17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341" name="Google Shape;341;p17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342" name="Google Shape;342;p17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3" name="Google Shape;343;p17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344" name="Google Shape;344;p17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45" name="Google Shape;345;p17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346" name="Google Shape;346;p1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7" name="Google Shape;347;p17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348" name="Google Shape;348;p17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349" name="Google Shape;349;p17"/>
            <p:cNvSpPr/>
            <p:nvPr/>
          </p:nvSpPr>
          <p:spPr>
            <a:xfrm>
              <a:off x="519935" y="300420"/>
              <a:ext cx="78213" cy="124372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610329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67924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72508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25417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936967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005565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052044" y="332474"/>
              <a:ext cx="75649" cy="9424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1145644" y="293688"/>
              <a:ext cx="77252" cy="131103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246937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1302071" y="300420"/>
              <a:ext cx="115397" cy="124051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436060" y="293688"/>
              <a:ext cx="20835" cy="130783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479334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1572613" y="334718"/>
              <a:ext cx="85906" cy="89753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1669733" y="332795"/>
              <a:ext cx="75975" cy="9392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1772314" y="332795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871684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197810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2083566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2150561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2221081" y="300420"/>
              <a:ext cx="97126" cy="126295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2346415" y="332795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244706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2488418" y="335039"/>
              <a:ext cx="87189" cy="89753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7"/>
            <p:cNvSpPr/>
            <p:nvPr/>
          </p:nvSpPr>
          <p:spPr>
            <a:xfrm>
              <a:off x="2585223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2690683" y="332713"/>
              <a:ext cx="53852" cy="91758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2754472" y="332474"/>
              <a:ext cx="69238" cy="9424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2843264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2884935" y="306189"/>
              <a:ext cx="55775" cy="120525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2957058" y="296573"/>
              <a:ext cx="75970" cy="130142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3049376" y="306189"/>
              <a:ext cx="55775" cy="120525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510639" y="494671"/>
              <a:ext cx="92638" cy="124051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60391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703929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79785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901707" y="526726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1002359" y="488901"/>
              <a:ext cx="26605" cy="129501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1045312" y="526405"/>
              <a:ext cx="69238" cy="94241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1131540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122546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132418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1482539" y="494671"/>
              <a:ext cx="77893" cy="124051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1564279" y="526726"/>
              <a:ext cx="76290" cy="9392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1667175" y="487619"/>
              <a:ext cx="78854" cy="131103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1761416" y="528970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1865594" y="487299"/>
              <a:ext cx="20835" cy="131103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1905021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1977144" y="490504"/>
              <a:ext cx="75970" cy="130142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2069462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17"/>
          <p:cNvSpPr/>
          <p:nvPr/>
        </p:nvSpPr>
        <p:spPr>
          <a:xfrm>
            <a:off x="7704725" y="225528"/>
            <a:ext cx="1052927" cy="40199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7"/>
          <p:cNvSpPr/>
          <p:nvPr>
            <p:ph idx="4" type="pic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3" name="Google Shape;443;p19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4" name="Google Shape;444;p19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5" name="Google Shape;445;p19"/>
          <p:cNvSpPr txBox="1"/>
          <p:nvPr>
            <p:ph idx="1" type="body"/>
          </p:nvPr>
        </p:nvSpPr>
        <p:spPr>
          <a:xfrm>
            <a:off x="711045" y="1766033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46" name="Google Shape;446;p19"/>
          <p:cNvSpPr txBox="1"/>
          <p:nvPr>
            <p:ph idx="2" type="body"/>
          </p:nvPr>
        </p:nvSpPr>
        <p:spPr>
          <a:xfrm>
            <a:off x="388739" y="1766033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47" name="Google Shape;447;p19"/>
          <p:cNvSpPr txBox="1"/>
          <p:nvPr>
            <p:ph idx="3" type="body"/>
          </p:nvPr>
        </p:nvSpPr>
        <p:spPr>
          <a:xfrm>
            <a:off x="711045" y="3394032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48" name="Google Shape;448;p19"/>
          <p:cNvSpPr txBox="1"/>
          <p:nvPr>
            <p:ph idx="4" type="body"/>
          </p:nvPr>
        </p:nvSpPr>
        <p:spPr>
          <a:xfrm>
            <a:off x="388739" y="3394032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49" name="Google Shape;449;p19"/>
          <p:cNvSpPr txBox="1"/>
          <p:nvPr>
            <p:ph idx="5" type="body"/>
          </p:nvPr>
        </p:nvSpPr>
        <p:spPr>
          <a:xfrm>
            <a:off x="711045" y="2308700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0" name="Google Shape;450;p19"/>
          <p:cNvSpPr txBox="1"/>
          <p:nvPr>
            <p:ph idx="6" type="body"/>
          </p:nvPr>
        </p:nvSpPr>
        <p:spPr>
          <a:xfrm>
            <a:off x="388739" y="2308700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1" name="Google Shape;451;p19"/>
          <p:cNvSpPr txBox="1"/>
          <p:nvPr>
            <p:ph idx="7" type="body"/>
          </p:nvPr>
        </p:nvSpPr>
        <p:spPr>
          <a:xfrm>
            <a:off x="711045" y="2851366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2" name="Google Shape;452;p19"/>
          <p:cNvSpPr txBox="1"/>
          <p:nvPr>
            <p:ph idx="8" type="body"/>
          </p:nvPr>
        </p:nvSpPr>
        <p:spPr>
          <a:xfrm>
            <a:off x="388739" y="2851366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3" name="Google Shape;453;p19"/>
          <p:cNvSpPr txBox="1"/>
          <p:nvPr>
            <p:ph idx="9" type="body"/>
          </p:nvPr>
        </p:nvSpPr>
        <p:spPr>
          <a:xfrm>
            <a:off x="711045" y="3936698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4" name="Google Shape;454;p19"/>
          <p:cNvSpPr txBox="1"/>
          <p:nvPr>
            <p:ph idx="13" type="body"/>
          </p:nvPr>
        </p:nvSpPr>
        <p:spPr>
          <a:xfrm>
            <a:off x="388739" y="3936698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5" name="Google Shape;455;p19"/>
          <p:cNvSpPr txBox="1"/>
          <p:nvPr>
            <p:ph idx="14" type="body"/>
          </p:nvPr>
        </p:nvSpPr>
        <p:spPr>
          <a:xfrm>
            <a:off x="4977142" y="1224138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6" name="Google Shape;456;p19"/>
          <p:cNvSpPr txBox="1"/>
          <p:nvPr>
            <p:ph idx="15" type="body"/>
          </p:nvPr>
        </p:nvSpPr>
        <p:spPr>
          <a:xfrm>
            <a:off x="4654749" y="1224138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7" name="Google Shape;457;p19"/>
          <p:cNvSpPr txBox="1"/>
          <p:nvPr>
            <p:ph idx="16" type="body"/>
          </p:nvPr>
        </p:nvSpPr>
        <p:spPr>
          <a:xfrm>
            <a:off x="4977142" y="1766650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8" name="Google Shape;458;p19"/>
          <p:cNvSpPr txBox="1"/>
          <p:nvPr>
            <p:ph idx="17" type="body"/>
          </p:nvPr>
        </p:nvSpPr>
        <p:spPr>
          <a:xfrm>
            <a:off x="4654749" y="1766650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59" name="Google Shape;459;p19"/>
          <p:cNvSpPr txBox="1"/>
          <p:nvPr>
            <p:ph idx="18" type="body"/>
          </p:nvPr>
        </p:nvSpPr>
        <p:spPr>
          <a:xfrm>
            <a:off x="4977142" y="3394185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0" name="Google Shape;460;p19"/>
          <p:cNvSpPr txBox="1"/>
          <p:nvPr>
            <p:ph idx="19" type="body"/>
          </p:nvPr>
        </p:nvSpPr>
        <p:spPr>
          <a:xfrm>
            <a:off x="4654749" y="3394185"/>
            <a:ext cx="23088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1" name="Google Shape;461;p19"/>
          <p:cNvSpPr txBox="1"/>
          <p:nvPr>
            <p:ph idx="20" type="body"/>
          </p:nvPr>
        </p:nvSpPr>
        <p:spPr>
          <a:xfrm>
            <a:off x="4977142" y="2309162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2" name="Google Shape;462;p19"/>
          <p:cNvSpPr txBox="1"/>
          <p:nvPr>
            <p:ph idx="21" type="body"/>
          </p:nvPr>
        </p:nvSpPr>
        <p:spPr>
          <a:xfrm>
            <a:off x="4654749" y="2309162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2" type="body"/>
          </p:nvPr>
        </p:nvSpPr>
        <p:spPr>
          <a:xfrm>
            <a:off x="4977142" y="2851673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23" type="body"/>
          </p:nvPr>
        </p:nvSpPr>
        <p:spPr>
          <a:xfrm>
            <a:off x="4654749" y="2851673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24" type="body"/>
          </p:nvPr>
        </p:nvSpPr>
        <p:spPr>
          <a:xfrm>
            <a:off x="4977142" y="3936698"/>
            <a:ext cx="3779905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25" type="body"/>
          </p:nvPr>
        </p:nvSpPr>
        <p:spPr>
          <a:xfrm>
            <a:off x="4654749" y="3936698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26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69" name="Google Shape;469;p19"/>
          <p:cNvSpPr txBox="1"/>
          <p:nvPr>
            <p:ph idx="27" type="body"/>
          </p:nvPr>
        </p:nvSpPr>
        <p:spPr>
          <a:xfrm>
            <a:off x="711045" y="1223367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70" name="Google Shape;470;p19"/>
          <p:cNvSpPr txBox="1"/>
          <p:nvPr>
            <p:ph idx="28" type="body"/>
          </p:nvPr>
        </p:nvSpPr>
        <p:spPr>
          <a:xfrm>
            <a:off x="388739" y="1223367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71" name="Google Shape;471;p19"/>
          <p:cNvSpPr/>
          <p:nvPr>
            <p:ph idx="29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472" name="Google Shape;47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folie">
  <p:cSld name="Textfolie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0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5" name="Google Shape;475;p20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6" name="Google Shape;476;p20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20"/>
          <p:cNvSpPr txBox="1"/>
          <p:nvPr>
            <p:ph idx="1" type="body"/>
          </p:nvPr>
        </p:nvSpPr>
        <p:spPr>
          <a:xfrm>
            <a:off x="388738" y="1223367"/>
            <a:ext cx="8368309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78" name="Google Shape;478;p20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9" name="Google Shape;479;p20"/>
          <p:cNvSpPr txBox="1"/>
          <p:nvPr>
            <p:ph idx="2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80" name="Google Shape;480;p20"/>
          <p:cNvSpPr/>
          <p:nvPr>
            <p:ph idx="3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481" name="Google Shape;48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folie | zweispaltig">
  <p:cSld name="Textfolie | zweispaltig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1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4" name="Google Shape;484;p21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5" name="Google Shape;485;p21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21"/>
          <p:cNvSpPr txBox="1"/>
          <p:nvPr>
            <p:ph idx="1" type="body"/>
          </p:nvPr>
        </p:nvSpPr>
        <p:spPr>
          <a:xfrm>
            <a:off x="388739" y="1223367"/>
            <a:ext cx="4102299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87" name="Google Shape;487;p21"/>
          <p:cNvSpPr txBox="1"/>
          <p:nvPr>
            <p:ph idx="2" type="body"/>
          </p:nvPr>
        </p:nvSpPr>
        <p:spPr>
          <a:xfrm>
            <a:off x="4654747" y="1223367"/>
            <a:ext cx="4102299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88" name="Google Shape;488;p21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9" name="Google Shape;489;p21"/>
          <p:cNvSpPr txBox="1"/>
          <p:nvPr>
            <p:ph idx="3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90" name="Google Shape;490;p21"/>
          <p:cNvSpPr/>
          <p:nvPr>
            <p:ph idx="4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491" name="Google Shape;49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folie | dreispaltig">
  <p:cSld name="Textfolie | dreispaltig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2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4" name="Google Shape;494;p22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5" name="Google Shape;495;p22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22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7" name="Google Shape;497;p22"/>
          <p:cNvSpPr txBox="1"/>
          <p:nvPr>
            <p:ph idx="1" type="body"/>
          </p:nvPr>
        </p:nvSpPr>
        <p:spPr>
          <a:xfrm>
            <a:off x="388739" y="1223368"/>
            <a:ext cx="2676616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98" name="Google Shape;498;p22"/>
          <p:cNvSpPr txBox="1"/>
          <p:nvPr>
            <p:ph idx="2" type="body"/>
          </p:nvPr>
        </p:nvSpPr>
        <p:spPr>
          <a:xfrm>
            <a:off x="6080432" y="1223368"/>
            <a:ext cx="2676616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499" name="Google Shape;499;p22"/>
          <p:cNvSpPr txBox="1"/>
          <p:nvPr>
            <p:ph idx="3" type="body"/>
          </p:nvPr>
        </p:nvSpPr>
        <p:spPr>
          <a:xfrm>
            <a:off x="3234585" y="1223368"/>
            <a:ext cx="2676616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00" name="Google Shape;500;p22"/>
          <p:cNvSpPr txBox="1"/>
          <p:nvPr>
            <p:ph idx="4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01" name="Google Shape;501;p22"/>
          <p:cNvSpPr/>
          <p:nvPr>
            <p:ph idx="5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02" name="Google Shape;50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- Bildfolie">
  <p:cSld name="Text- Bildfolie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3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5" name="Google Shape;505;p23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6" name="Google Shape;506;p23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7" name="Google Shape;507;p23"/>
          <p:cNvSpPr txBox="1"/>
          <p:nvPr>
            <p:ph idx="1" type="body"/>
          </p:nvPr>
        </p:nvSpPr>
        <p:spPr>
          <a:xfrm>
            <a:off x="388739" y="1223367"/>
            <a:ext cx="4102299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08" name="Google Shape;508;p23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9" name="Google Shape;509;p23"/>
          <p:cNvSpPr/>
          <p:nvPr>
            <p:ph idx="2" type="pic"/>
          </p:nvPr>
        </p:nvSpPr>
        <p:spPr>
          <a:xfrm>
            <a:off x="4654747" y="1223366"/>
            <a:ext cx="4102299" cy="34272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0" name="Google Shape;510;p23"/>
          <p:cNvSpPr txBox="1"/>
          <p:nvPr>
            <p:ph idx="3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11" name="Google Shape;511;p23"/>
          <p:cNvSpPr/>
          <p:nvPr>
            <p:ph idx="4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12" name="Google Shape;51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- Textfolie">
  <p:cSld name="Bild- Textfoli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4"/>
          <p:cNvSpPr/>
          <p:nvPr>
            <p:ph idx="2" type="pic"/>
          </p:nvPr>
        </p:nvSpPr>
        <p:spPr>
          <a:xfrm>
            <a:off x="388739" y="1223366"/>
            <a:ext cx="4102299" cy="34272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5" name="Google Shape;515;p24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6" name="Google Shape;516;p24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7" name="Google Shape;517;p24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24"/>
          <p:cNvSpPr txBox="1"/>
          <p:nvPr>
            <p:ph idx="1" type="body"/>
          </p:nvPr>
        </p:nvSpPr>
        <p:spPr>
          <a:xfrm>
            <a:off x="4654748" y="1223367"/>
            <a:ext cx="4102299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19" name="Google Shape;519;p24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0" name="Google Shape;520;p24"/>
          <p:cNvSpPr txBox="1"/>
          <p:nvPr>
            <p:ph idx="3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21" name="Google Shape;521;p24"/>
          <p:cNvSpPr/>
          <p:nvPr>
            <p:ph idx="4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22" name="Google Shape;52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folie | mit Störer" showMasterSp="0">
  <p:cSld name="Bildfolie | mit Störer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5" name="Google Shape;525;p25"/>
          <p:cNvSpPr txBox="1"/>
          <p:nvPr>
            <p:ph idx="1" type="body"/>
          </p:nvPr>
        </p:nvSpPr>
        <p:spPr>
          <a:xfrm>
            <a:off x="388739" y="2573536"/>
            <a:ext cx="2678400" cy="20770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35000" lIns="135000" spcFirstLastPara="1" rIns="270000" wrap="square" tIns="135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grpSp>
        <p:nvGrpSpPr>
          <p:cNvPr id="526" name="Google Shape;526;p25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527" name="Google Shape;527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8" name="Google Shape;528;p25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529" name="Google Shape;529;p25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530" name="Google Shape;530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1" name="Google Shape;531;p2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532" name="Google Shape;532;p25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533" name="Google Shape;533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4" name="Google Shape;534;p2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535" name="Google Shape;535;p25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536" name="Google Shape;536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7" name="Google Shape;537;p25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538" name="Google Shape;538;p25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539" name="Google Shape;539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0" name="Google Shape;540;p25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541" name="Google Shape;541;p25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542" name="Google Shape;542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3" name="Google Shape;543;p25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544" name="Google Shape;544;p25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545" name="Google Shape;545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6" name="Google Shape;546;p25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547" name="Google Shape;547;p25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548" name="Google Shape;548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9" name="Google Shape;549;p25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550" name="Google Shape;550;p25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551" name="Google Shape;551;p25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2" name="Google Shape;552;p25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553" name="Google Shape;553;p25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54" name="Google Shape;554;p25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555" name="Google Shape;555;p25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6" name="Google Shape;556;p25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folie | 1x">
  <p:cSld name="Bildfolie | 1x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6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9" name="Google Shape;559;p26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0" name="Google Shape;560;p26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1" name="Google Shape;561;p26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2" name="Google Shape;562;p26"/>
          <p:cNvSpPr/>
          <p:nvPr>
            <p:ph idx="2" type="pic"/>
          </p:nvPr>
        </p:nvSpPr>
        <p:spPr>
          <a:xfrm>
            <a:off x="388738" y="1223367"/>
            <a:ext cx="8368310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3" name="Google Shape;563;p26"/>
          <p:cNvSpPr txBox="1"/>
          <p:nvPr>
            <p:ph idx="1" type="body"/>
          </p:nvPr>
        </p:nvSpPr>
        <p:spPr>
          <a:xfrm>
            <a:off x="388738" y="4267703"/>
            <a:ext cx="8368310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64" name="Google Shape;564;p26"/>
          <p:cNvSpPr txBox="1"/>
          <p:nvPr>
            <p:ph idx="3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65" name="Google Shape;565;p26"/>
          <p:cNvSpPr/>
          <p:nvPr>
            <p:ph idx="4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66" name="Google Shape;56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folie | 2x">
  <p:cSld name="Bildfolie | 2x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7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9" name="Google Shape;569;p27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0" name="Google Shape;570;p27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1" name="Google Shape;571;p27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2" name="Google Shape;572;p27"/>
          <p:cNvSpPr/>
          <p:nvPr>
            <p:ph idx="2" type="pic"/>
          </p:nvPr>
        </p:nvSpPr>
        <p:spPr>
          <a:xfrm>
            <a:off x="388738" y="1223367"/>
            <a:ext cx="410229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73" name="Google Shape;573;p27"/>
          <p:cNvSpPr txBox="1"/>
          <p:nvPr>
            <p:ph idx="1" type="body"/>
          </p:nvPr>
        </p:nvSpPr>
        <p:spPr>
          <a:xfrm>
            <a:off x="388738" y="4267703"/>
            <a:ext cx="4102299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74" name="Google Shape;574;p27"/>
          <p:cNvSpPr/>
          <p:nvPr>
            <p:ph idx="3" type="pic"/>
          </p:nvPr>
        </p:nvSpPr>
        <p:spPr>
          <a:xfrm>
            <a:off x="4654748" y="1223367"/>
            <a:ext cx="410229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75" name="Google Shape;575;p27"/>
          <p:cNvSpPr txBox="1"/>
          <p:nvPr>
            <p:ph idx="4" type="body"/>
          </p:nvPr>
        </p:nvSpPr>
        <p:spPr>
          <a:xfrm>
            <a:off x="4654748" y="4267703"/>
            <a:ext cx="4102299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76" name="Google Shape;576;p27"/>
          <p:cNvSpPr txBox="1"/>
          <p:nvPr>
            <p:ph idx="5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77" name="Google Shape;577;p27"/>
          <p:cNvSpPr/>
          <p:nvPr>
            <p:ph idx="6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78" name="Google Shape;57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folie | 3x">
  <p:cSld name="Bildfolie | 3x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8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1" name="Google Shape;581;p28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2" name="Google Shape;582;p28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28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4" name="Google Shape;584;p28"/>
          <p:cNvSpPr/>
          <p:nvPr>
            <p:ph idx="2" type="pic"/>
          </p:nvPr>
        </p:nvSpPr>
        <p:spPr>
          <a:xfrm>
            <a:off x="388738" y="1223367"/>
            <a:ext cx="267731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5" name="Google Shape;585;p28"/>
          <p:cNvSpPr txBox="1"/>
          <p:nvPr>
            <p:ph idx="1" type="body"/>
          </p:nvPr>
        </p:nvSpPr>
        <p:spPr>
          <a:xfrm>
            <a:off x="388738" y="4267703"/>
            <a:ext cx="2677319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86" name="Google Shape;586;p28"/>
          <p:cNvSpPr/>
          <p:nvPr>
            <p:ph idx="3" type="pic"/>
          </p:nvPr>
        </p:nvSpPr>
        <p:spPr>
          <a:xfrm>
            <a:off x="6079729" y="1223367"/>
            <a:ext cx="2677318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7" name="Google Shape;587;p28"/>
          <p:cNvSpPr txBox="1"/>
          <p:nvPr>
            <p:ph idx="4" type="body"/>
          </p:nvPr>
        </p:nvSpPr>
        <p:spPr>
          <a:xfrm>
            <a:off x="6079729" y="4267703"/>
            <a:ext cx="2677318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88" name="Google Shape;588;p28"/>
          <p:cNvSpPr/>
          <p:nvPr>
            <p:ph idx="5" type="pic"/>
          </p:nvPr>
        </p:nvSpPr>
        <p:spPr>
          <a:xfrm>
            <a:off x="3234233" y="1223367"/>
            <a:ext cx="267731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9" name="Google Shape;589;p28"/>
          <p:cNvSpPr txBox="1"/>
          <p:nvPr>
            <p:ph idx="6" type="body"/>
          </p:nvPr>
        </p:nvSpPr>
        <p:spPr>
          <a:xfrm>
            <a:off x="3234233" y="4267703"/>
            <a:ext cx="2677319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90" name="Google Shape;590;p28"/>
          <p:cNvSpPr txBox="1"/>
          <p:nvPr>
            <p:ph idx="7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91" name="Google Shape;591;p28"/>
          <p:cNvSpPr/>
          <p:nvPr>
            <p:ph idx="8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592" name="Google Shape;59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folie">
  <p:cSld name="Inhaltsfolie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5" name="Google Shape;595;p29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6" name="Google Shape;596;p29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7" name="Google Shape;597;p29"/>
          <p:cNvSpPr txBox="1"/>
          <p:nvPr>
            <p:ph idx="1" type="body"/>
          </p:nvPr>
        </p:nvSpPr>
        <p:spPr>
          <a:xfrm>
            <a:off x="388738" y="1223367"/>
            <a:ext cx="8366525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598" name="Google Shape;598;p29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9" name="Google Shape;599;p29"/>
          <p:cNvSpPr txBox="1"/>
          <p:nvPr>
            <p:ph idx="2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00" name="Google Shape;600;p29"/>
          <p:cNvSpPr/>
          <p:nvPr>
            <p:ph idx="3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01" name="Google Shape;60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folie | mit Text">
  <p:cSld name="Inhaltsfolie | mit Text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0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4" name="Google Shape;604;p30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5" name="Google Shape;605;p30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6" name="Google Shape;606;p30"/>
          <p:cNvSpPr txBox="1"/>
          <p:nvPr>
            <p:ph idx="1" type="body"/>
          </p:nvPr>
        </p:nvSpPr>
        <p:spPr>
          <a:xfrm>
            <a:off x="6078646" y="1223367"/>
            <a:ext cx="2678400" cy="342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07" name="Google Shape;607;p30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8" name="Google Shape;608;p30"/>
          <p:cNvSpPr txBox="1"/>
          <p:nvPr>
            <p:ph idx="2" type="body"/>
          </p:nvPr>
        </p:nvSpPr>
        <p:spPr>
          <a:xfrm>
            <a:off x="388738" y="1223368"/>
            <a:ext cx="5522814" cy="342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09" name="Google Shape;609;p30"/>
          <p:cNvSpPr txBox="1"/>
          <p:nvPr>
            <p:ph idx="3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10" name="Google Shape;610;p30"/>
          <p:cNvSpPr/>
          <p:nvPr>
            <p:ph idx="4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11" name="Google Shape;61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folie | zweispaltig">
  <p:cSld name="Inhaltsfolie | zweispaltig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1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4" name="Google Shape;614;p31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5" name="Google Shape;615;p31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6" name="Google Shape;616;p31"/>
          <p:cNvSpPr txBox="1"/>
          <p:nvPr>
            <p:ph idx="1" type="body"/>
          </p:nvPr>
        </p:nvSpPr>
        <p:spPr>
          <a:xfrm>
            <a:off x="388738" y="1223367"/>
            <a:ext cx="4102300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17" name="Google Shape;617;p31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8" name="Google Shape;618;p31"/>
          <p:cNvSpPr txBox="1"/>
          <p:nvPr>
            <p:ph idx="2" type="body"/>
          </p:nvPr>
        </p:nvSpPr>
        <p:spPr>
          <a:xfrm>
            <a:off x="4654748" y="1223367"/>
            <a:ext cx="4102300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19" name="Google Shape;619;p31"/>
          <p:cNvSpPr txBox="1"/>
          <p:nvPr>
            <p:ph idx="3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20" name="Google Shape;620;p31"/>
          <p:cNvSpPr/>
          <p:nvPr>
            <p:ph idx="4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21" name="Google Shape;62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 | weiß">
  <p:cSld name="Nur Titel | weiß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2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4" name="Google Shape;624;p32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5" name="Google Shape;625;p32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6" name="Google Shape;626;p32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32"/>
          <p:cNvSpPr txBox="1"/>
          <p:nvPr>
            <p:ph idx="1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28" name="Google Shape;628;p32"/>
          <p:cNvSpPr/>
          <p:nvPr>
            <p:ph idx="2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29" name="Google Shape;62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itatfolie">
  <p:cSld name="Zitatfolie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3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2" name="Google Shape;632;p33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3" name="Google Shape;633;p33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4" name="Google Shape;634;p33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5" name="Google Shape;635;p33"/>
          <p:cNvSpPr/>
          <p:nvPr/>
        </p:nvSpPr>
        <p:spPr>
          <a:xfrm>
            <a:off x="388738" y="1223366"/>
            <a:ext cx="8368310" cy="3427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3"/>
          <p:cNvSpPr txBox="1"/>
          <p:nvPr>
            <p:ph idx="1" type="body"/>
          </p:nvPr>
        </p:nvSpPr>
        <p:spPr>
          <a:xfrm>
            <a:off x="1872893" y="2126973"/>
            <a:ext cx="5400000" cy="1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500"/>
              <a:buNone/>
              <a:defRPr i="1" sz="1500">
                <a:solidFill>
                  <a:srgbClr val="041E4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37" name="Google Shape;637;p33"/>
          <p:cNvSpPr txBox="1"/>
          <p:nvPr>
            <p:ph idx="2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38" name="Google Shape;638;p33"/>
          <p:cNvSpPr/>
          <p:nvPr>
            <p:ph idx="3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639" name="Google Shape;63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bild" showMasterSp="0">
  <p:cSld name="Titelbild">
    <p:bg>
      <p:bgPr>
        <a:solidFill>
          <a:schemeClr val="dk2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4"/>
          <p:cNvSpPr txBox="1"/>
          <p:nvPr>
            <p:ph idx="1" type="body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405000" spcFirstLastPara="1" rIns="0" wrap="square" tIns="891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642" name="Google Shape;642;p34"/>
          <p:cNvSpPr/>
          <p:nvPr>
            <p:ph idx="2" type="pic"/>
          </p:nvPr>
        </p:nvSpPr>
        <p:spPr>
          <a:xfrm>
            <a:off x="0" y="1221581"/>
            <a:ext cx="9144000" cy="392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43" name="Google Shape;643;p34"/>
          <p:cNvSpPr txBox="1"/>
          <p:nvPr>
            <p:ph type="title"/>
          </p:nvPr>
        </p:nvSpPr>
        <p:spPr>
          <a:xfrm>
            <a:off x="390122" y="2185298"/>
            <a:ext cx="3734629" cy="77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4" name="Google Shape;644;p34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5" name="Google Shape;645;p34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646" name="Google Shape;646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47" name="Google Shape;647;p34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648" name="Google Shape;648;p34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649" name="Google Shape;649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0" name="Google Shape;650;p3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651" name="Google Shape;651;p34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652" name="Google Shape;652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3" name="Google Shape;653;p3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654" name="Google Shape;654;p34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655" name="Google Shape;655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6" name="Google Shape;656;p34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657" name="Google Shape;657;p34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658" name="Google Shape;658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9" name="Google Shape;659;p34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660" name="Google Shape;660;p34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661" name="Google Shape;661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2" name="Google Shape;662;p34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663" name="Google Shape;663;p34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664" name="Google Shape;664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5" name="Google Shape;665;p34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666" name="Google Shape;666;p34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667" name="Google Shape;667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8" name="Google Shape;668;p34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669" name="Google Shape;669;p34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670" name="Google Shape;670;p34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71" name="Google Shape;671;p34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672" name="Google Shape;672;p34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73" name="Google Shape;673;p34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674" name="Google Shape;674;p34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75" name="Google Shape;675;p34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676" name="Google Shape;676;p34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677" name="Google Shape;677;p34"/>
            <p:cNvSpPr/>
            <p:nvPr/>
          </p:nvSpPr>
          <p:spPr>
            <a:xfrm>
              <a:off x="519935" y="300420"/>
              <a:ext cx="78213" cy="124372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610329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67924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72508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825417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936967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1005565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4"/>
            <p:cNvSpPr/>
            <p:nvPr/>
          </p:nvSpPr>
          <p:spPr>
            <a:xfrm>
              <a:off x="1052044" y="332474"/>
              <a:ext cx="75649" cy="9424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4"/>
            <p:cNvSpPr/>
            <p:nvPr/>
          </p:nvSpPr>
          <p:spPr>
            <a:xfrm>
              <a:off x="1145644" y="293688"/>
              <a:ext cx="77252" cy="131103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1246937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1302071" y="300420"/>
              <a:ext cx="115397" cy="124051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4"/>
            <p:cNvSpPr/>
            <p:nvPr/>
          </p:nvSpPr>
          <p:spPr>
            <a:xfrm>
              <a:off x="1436060" y="293688"/>
              <a:ext cx="20835" cy="130783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1479334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1572613" y="334718"/>
              <a:ext cx="85906" cy="89753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1669733" y="332795"/>
              <a:ext cx="75975" cy="9392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1772314" y="332795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1871684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4"/>
            <p:cNvSpPr/>
            <p:nvPr/>
          </p:nvSpPr>
          <p:spPr>
            <a:xfrm>
              <a:off x="197810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4"/>
            <p:cNvSpPr/>
            <p:nvPr/>
          </p:nvSpPr>
          <p:spPr>
            <a:xfrm>
              <a:off x="2083566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4"/>
            <p:cNvSpPr/>
            <p:nvPr/>
          </p:nvSpPr>
          <p:spPr>
            <a:xfrm>
              <a:off x="2150561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2221081" y="300420"/>
              <a:ext cx="97126" cy="126295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2346415" y="332795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4"/>
            <p:cNvSpPr/>
            <p:nvPr/>
          </p:nvSpPr>
          <p:spPr>
            <a:xfrm>
              <a:off x="244706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4"/>
            <p:cNvSpPr/>
            <p:nvPr/>
          </p:nvSpPr>
          <p:spPr>
            <a:xfrm>
              <a:off x="2488418" y="335039"/>
              <a:ext cx="87189" cy="89753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4"/>
            <p:cNvSpPr/>
            <p:nvPr/>
          </p:nvSpPr>
          <p:spPr>
            <a:xfrm>
              <a:off x="2585223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34"/>
            <p:cNvSpPr/>
            <p:nvPr/>
          </p:nvSpPr>
          <p:spPr>
            <a:xfrm>
              <a:off x="2690683" y="332713"/>
              <a:ext cx="53852" cy="91758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4"/>
            <p:cNvSpPr/>
            <p:nvPr/>
          </p:nvSpPr>
          <p:spPr>
            <a:xfrm>
              <a:off x="2754472" y="332474"/>
              <a:ext cx="69238" cy="9424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34"/>
            <p:cNvSpPr/>
            <p:nvPr/>
          </p:nvSpPr>
          <p:spPr>
            <a:xfrm>
              <a:off x="2843264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4"/>
            <p:cNvSpPr/>
            <p:nvPr/>
          </p:nvSpPr>
          <p:spPr>
            <a:xfrm>
              <a:off x="2884935" y="306189"/>
              <a:ext cx="55775" cy="120525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34"/>
            <p:cNvSpPr/>
            <p:nvPr/>
          </p:nvSpPr>
          <p:spPr>
            <a:xfrm>
              <a:off x="2957058" y="296573"/>
              <a:ext cx="75970" cy="130142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3049376" y="306189"/>
              <a:ext cx="55775" cy="120525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510639" y="494671"/>
              <a:ext cx="92638" cy="124051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4"/>
            <p:cNvSpPr/>
            <p:nvPr/>
          </p:nvSpPr>
          <p:spPr>
            <a:xfrm>
              <a:off x="60391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4"/>
            <p:cNvSpPr/>
            <p:nvPr/>
          </p:nvSpPr>
          <p:spPr>
            <a:xfrm>
              <a:off x="703929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4"/>
            <p:cNvSpPr/>
            <p:nvPr/>
          </p:nvSpPr>
          <p:spPr>
            <a:xfrm>
              <a:off x="79785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34"/>
            <p:cNvSpPr/>
            <p:nvPr/>
          </p:nvSpPr>
          <p:spPr>
            <a:xfrm>
              <a:off x="901707" y="526726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34"/>
            <p:cNvSpPr/>
            <p:nvPr/>
          </p:nvSpPr>
          <p:spPr>
            <a:xfrm>
              <a:off x="1002359" y="488901"/>
              <a:ext cx="26605" cy="129501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34"/>
            <p:cNvSpPr/>
            <p:nvPr/>
          </p:nvSpPr>
          <p:spPr>
            <a:xfrm>
              <a:off x="1045312" y="526405"/>
              <a:ext cx="69238" cy="94241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4"/>
            <p:cNvSpPr/>
            <p:nvPr/>
          </p:nvSpPr>
          <p:spPr>
            <a:xfrm>
              <a:off x="1131540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34"/>
            <p:cNvSpPr/>
            <p:nvPr/>
          </p:nvSpPr>
          <p:spPr>
            <a:xfrm>
              <a:off x="122546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4"/>
            <p:cNvSpPr/>
            <p:nvPr/>
          </p:nvSpPr>
          <p:spPr>
            <a:xfrm>
              <a:off x="132418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4"/>
            <p:cNvSpPr/>
            <p:nvPr/>
          </p:nvSpPr>
          <p:spPr>
            <a:xfrm>
              <a:off x="1482539" y="494671"/>
              <a:ext cx="77893" cy="124051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4"/>
            <p:cNvSpPr/>
            <p:nvPr/>
          </p:nvSpPr>
          <p:spPr>
            <a:xfrm>
              <a:off x="1564279" y="526726"/>
              <a:ext cx="76290" cy="9392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4"/>
            <p:cNvSpPr/>
            <p:nvPr/>
          </p:nvSpPr>
          <p:spPr>
            <a:xfrm>
              <a:off x="1667175" y="487619"/>
              <a:ext cx="78854" cy="131103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1761416" y="528970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1865594" y="487299"/>
              <a:ext cx="20835" cy="131103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34"/>
            <p:cNvSpPr/>
            <p:nvPr/>
          </p:nvSpPr>
          <p:spPr>
            <a:xfrm>
              <a:off x="1905021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4"/>
            <p:cNvSpPr/>
            <p:nvPr/>
          </p:nvSpPr>
          <p:spPr>
            <a:xfrm>
              <a:off x="1977144" y="490504"/>
              <a:ext cx="75970" cy="130142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4"/>
            <p:cNvSpPr/>
            <p:nvPr/>
          </p:nvSpPr>
          <p:spPr>
            <a:xfrm>
              <a:off x="2069462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6" name="Google Shape;726;p34"/>
          <p:cNvSpPr/>
          <p:nvPr/>
        </p:nvSpPr>
        <p:spPr>
          <a:xfrm>
            <a:off x="7753302" y="225528"/>
            <a:ext cx="1052927" cy="40199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7" name="Google Shape;72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34"/>
          <p:cNvSpPr/>
          <p:nvPr>
            <p:ph idx="3" type="pic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| mit Bild">
  <p:cSld name="Agenda | mit Bild"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5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1" name="Google Shape;731;p35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2" name="Google Shape;732;p35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3" name="Google Shape;733;p35"/>
          <p:cNvSpPr/>
          <p:nvPr>
            <p:ph idx="2" type="pic"/>
          </p:nvPr>
        </p:nvSpPr>
        <p:spPr>
          <a:xfrm>
            <a:off x="4654747" y="1223367"/>
            <a:ext cx="4102299" cy="29633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4" name="Google Shape;734;p35"/>
          <p:cNvSpPr txBox="1"/>
          <p:nvPr>
            <p:ph idx="1" type="body"/>
          </p:nvPr>
        </p:nvSpPr>
        <p:spPr>
          <a:xfrm>
            <a:off x="4654747" y="4267703"/>
            <a:ext cx="4102299" cy="38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35" name="Google Shape;735;p35"/>
          <p:cNvSpPr txBox="1"/>
          <p:nvPr>
            <p:ph idx="3" type="body"/>
          </p:nvPr>
        </p:nvSpPr>
        <p:spPr>
          <a:xfrm>
            <a:off x="711045" y="1766033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36" name="Google Shape;736;p35"/>
          <p:cNvSpPr txBox="1"/>
          <p:nvPr>
            <p:ph idx="4" type="body"/>
          </p:nvPr>
        </p:nvSpPr>
        <p:spPr>
          <a:xfrm>
            <a:off x="388739" y="1766033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37" name="Google Shape;737;p35"/>
          <p:cNvSpPr txBox="1"/>
          <p:nvPr>
            <p:ph idx="5" type="body"/>
          </p:nvPr>
        </p:nvSpPr>
        <p:spPr>
          <a:xfrm>
            <a:off x="711045" y="3394032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38" name="Google Shape;738;p35"/>
          <p:cNvSpPr txBox="1"/>
          <p:nvPr>
            <p:ph idx="6" type="body"/>
          </p:nvPr>
        </p:nvSpPr>
        <p:spPr>
          <a:xfrm>
            <a:off x="388739" y="3394032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39" name="Google Shape;739;p35"/>
          <p:cNvSpPr txBox="1"/>
          <p:nvPr>
            <p:ph idx="7" type="body"/>
          </p:nvPr>
        </p:nvSpPr>
        <p:spPr>
          <a:xfrm>
            <a:off x="711045" y="2308700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0" name="Google Shape;740;p35"/>
          <p:cNvSpPr txBox="1"/>
          <p:nvPr>
            <p:ph idx="8" type="body"/>
          </p:nvPr>
        </p:nvSpPr>
        <p:spPr>
          <a:xfrm>
            <a:off x="388739" y="2308700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1" name="Google Shape;741;p35"/>
          <p:cNvSpPr txBox="1"/>
          <p:nvPr>
            <p:ph idx="9" type="body"/>
          </p:nvPr>
        </p:nvSpPr>
        <p:spPr>
          <a:xfrm>
            <a:off x="711045" y="2851366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2" name="Google Shape;742;p35"/>
          <p:cNvSpPr txBox="1"/>
          <p:nvPr>
            <p:ph idx="13" type="body"/>
          </p:nvPr>
        </p:nvSpPr>
        <p:spPr>
          <a:xfrm>
            <a:off x="388739" y="2851366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3" name="Google Shape;743;p35"/>
          <p:cNvSpPr txBox="1"/>
          <p:nvPr>
            <p:ph idx="14" type="body"/>
          </p:nvPr>
        </p:nvSpPr>
        <p:spPr>
          <a:xfrm>
            <a:off x="711045" y="3936698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4" name="Google Shape;744;p35"/>
          <p:cNvSpPr txBox="1"/>
          <p:nvPr>
            <p:ph idx="15" type="body"/>
          </p:nvPr>
        </p:nvSpPr>
        <p:spPr>
          <a:xfrm>
            <a:off x="388739" y="3936698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5" name="Google Shape;745;p35"/>
          <p:cNvSpPr txBox="1"/>
          <p:nvPr>
            <p:ph idx="16" type="body"/>
          </p:nvPr>
        </p:nvSpPr>
        <p:spPr>
          <a:xfrm>
            <a:off x="711045" y="1223367"/>
            <a:ext cx="3779992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6" name="Google Shape;746;p35"/>
          <p:cNvSpPr txBox="1"/>
          <p:nvPr>
            <p:ph idx="17" type="body"/>
          </p:nvPr>
        </p:nvSpPr>
        <p:spPr>
          <a:xfrm>
            <a:off x="388739" y="1223367"/>
            <a:ext cx="240451" cy="21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9FB1"/>
              </a:buClr>
              <a:buSzPts val="1400"/>
              <a:buNone/>
              <a:defRPr b="1" sz="1400">
                <a:solidFill>
                  <a:srgbClr val="8C9FB1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7" name="Google Shape;747;p35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>
                <a:solidFill>
                  <a:srgbClr val="041E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8" name="Google Shape;748;p35"/>
          <p:cNvSpPr txBox="1"/>
          <p:nvPr>
            <p:ph idx="18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  <a:defRPr sz="1200">
                <a:solidFill>
                  <a:srgbClr val="041E4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749" name="Google Shape;749;p35"/>
          <p:cNvSpPr/>
          <p:nvPr>
            <p:ph idx="19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750" name="Google Shape;75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trenner" showMasterSp="0">
  <p:cSld name="Kapiteltrenner">
    <p:bg>
      <p:bgPr>
        <a:solidFill>
          <a:schemeClr val="dk2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6"/>
          <p:cNvSpPr txBox="1"/>
          <p:nvPr>
            <p:ph type="title"/>
          </p:nvPr>
        </p:nvSpPr>
        <p:spPr>
          <a:xfrm>
            <a:off x="388739" y="2156252"/>
            <a:ext cx="8368307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3" name="Google Shape;753;p36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4" name="Google Shape;754;p36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5" name="Google Shape;755;p36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6" name="Google Shape;756;p36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6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8" name="Google Shape;758;p36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759" name="Google Shape;759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0" name="Google Shape;760;p36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761" name="Google Shape;761;p36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762" name="Google Shape;762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3" name="Google Shape;763;p3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764" name="Google Shape;764;p36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765" name="Google Shape;765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6" name="Google Shape;766;p3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767" name="Google Shape;767;p36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768" name="Google Shape;768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9" name="Google Shape;769;p36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770" name="Google Shape;770;p36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771" name="Google Shape;771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72" name="Google Shape;772;p36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773" name="Google Shape;773;p36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774" name="Google Shape;774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75" name="Google Shape;775;p36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776" name="Google Shape;776;p36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777" name="Google Shape;777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78" name="Google Shape;778;p36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779" name="Google Shape;779;p36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780" name="Google Shape;780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81" name="Google Shape;781;p36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782" name="Google Shape;782;p36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783" name="Google Shape;783;p36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84" name="Google Shape;784;p36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785" name="Google Shape;785;p36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86" name="Google Shape;786;p36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787" name="Google Shape;787;p36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88" name="Google Shape;788;p36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789" name="Google Shape;789;p36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790" name="Google Shape;790;p36"/>
            <p:cNvSpPr/>
            <p:nvPr/>
          </p:nvSpPr>
          <p:spPr>
            <a:xfrm>
              <a:off x="519935" y="300420"/>
              <a:ext cx="78213" cy="124372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36"/>
            <p:cNvSpPr/>
            <p:nvPr/>
          </p:nvSpPr>
          <p:spPr>
            <a:xfrm>
              <a:off x="610329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36"/>
            <p:cNvSpPr/>
            <p:nvPr/>
          </p:nvSpPr>
          <p:spPr>
            <a:xfrm>
              <a:off x="67924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6"/>
            <p:cNvSpPr/>
            <p:nvPr/>
          </p:nvSpPr>
          <p:spPr>
            <a:xfrm>
              <a:off x="72508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36"/>
            <p:cNvSpPr/>
            <p:nvPr/>
          </p:nvSpPr>
          <p:spPr>
            <a:xfrm>
              <a:off x="825417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36"/>
            <p:cNvSpPr/>
            <p:nvPr/>
          </p:nvSpPr>
          <p:spPr>
            <a:xfrm>
              <a:off x="936967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6"/>
            <p:cNvSpPr/>
            <p:nvPr/>
          </p:nvSpPr>
          <p:spPr>
            <a:xfrm>
              <a:off x="1005565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6"/>
            <p:cNvSpPr/>
            <p:nvPr/>
          </p:nvSpPr>
          <p:spPr>
            <a:xfrm>
              <a:off x="1052044" y="332474"/>
              <a:ext cx="75649" cy="9424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6"/>
            <p:cNvSpPr/>
            <p:nvPr/>
          </p:nvSpPr>
          <p:spPr>
            <a:xfrm>
              <a:off x="1145644" y="293688"/>
              <a:ext cx="77252" cy="131103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6"/>
            <p:cNvSpPr/>
            <p:nvPr/>
          </p:nvSpPr>
          <p:spPr>
            <a:xfrm>
              <a:off x="1246937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36"/>
            <p:cNvSpPr/>
            <p:nvPr/>
          </p:nvSpPr>
          <p:spPr>
            <a:xfrm>
              <a:off x="1302071" y="300420"/>
              <a:ext cx="115397" cy="124051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6"/>
            <p:cNvSpPr/>
            <p:nvPr/>
          </p:nvSpPr>
          <p:spPr>
            <a:xfrm>
              <a:off x="1436060" y="293688"/>
              <a:ext cx="20835" cy="130783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36"/>
            <p:cNvSpPr/>
            <p:nvPr/>
          </p:nvSpPr>
          <p:spPr>
            <a:xfrm>
              <a:off x="1479334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36"/>
            <p:cNvSpPr/>
            <p:nvPr/>
          </p:nvSpPr>
          <p:spPr>
            <a:xfrm>
              <a:off x="1572613" y="334718"/>
              <a:ext cx="85906" cy="89753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36"/>
            <p:cNvSpPr/>
            <p:nvPr/>
          </p:nvSpPr>
          <p:spPr>
            <a:xfrm>
              <a:off x="1669733" y="332795"/>
              <a:ext cx="75975" cy="9392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36"/>
            <p:cNvSpPr/>
            <p:nvPr/>
          </p:nvSpPr>
          <p:spPr>
            <a:xfrm>
              <a:off x="1772314" y="332795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36"/>
            <p:cNvSpPr/>
            <p:nvPr/>
          </p:nvSpPr>
          <p:spPr>
            <a:xfrm>
              <a:off x="1871684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36"/>
            <p:cNvSpPr/>
            <p:nvPr/>
          </p:nvSpPr>
          <p:spPr>
            <a:xfrm>
              <a:off x="197810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36"/>
            <p:cNvSpPr/>
            <p:nvPr/>
          </p:nvSpPr>
          <p:spPr>
            <a:xfrm>
              <a:off x="2083566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36"/>
            <p:cNvSpPr/>
            <p:nvPr/>
          </p:nvSpPr>
          <p:spPr>
            <a:xfrm>
              <a:off x="2150561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36"/>
            <p:cNvSpPr/>
            <p:nvPr/>
          </p:nvSpPr>
          <p:spPr>
            <a:xfrm>
              <a:off x="2221081" y="300420"/>
              <a:ext cx="97126" cy="126295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36"/>
            <p:cNvSpPr/>
            <p:nvPr/>
          </p:nvSpPr>
          <p:spPr>
            <a:xfrm>
              <a:off x="2346415" y="332795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36"/>
            <p:cNvSpPr/>
            <p:nvPr/>
          </p:nvSpPr>
          <p:spPr>
            <a:xfrm>
              <a:off x="244706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36"/>
            <p:cNvSpPr/>
            <p:nvPr/>
          </p:nvSpPr>
          <p:spPr>
            <a:xfrm>
              <a:off x="2488418" y="335039"/>
              <a:ext cx="87189" cy="89753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36"/>
            <p:cNvSpPr/>
            <p:nvPr/>
          </p:nvSpPr>
          <p:spPr>
            <a:xfrm>
              <a:off x="2585223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6"/>
            <p:cNvSpPr/>
            <p:nvPr/>
          </p:nvSpPr>
          <p:spPr>
            <a:xfrm>
              <a:off x="2690683" y="332713"/>
              <a:ext cx="53852" cy="91758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36"/>
            <p:cNvSpPr/>
            <p:nvPr/>
          </p:nvSpPr>
          <p:spPr>
            <a:xfrm>
              <a:off x="2754472" y="332474"/>
              <a:ext cx="69238" cy="9424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6"/>
            <p:cNvSpPr/>
            <p:nvPr/>
          </p:nvSpPr>
          <p:spPr>
            <a:xfrm>
              <a:off x="2843264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36"/>
            <p:cNvSpPr/>
            <p:nvPr/>
          </p:nvSpPr>
          <p:spPr>
            <a:xfrm>
              <a:off x="2884935" y="306189"/>
              <a:ext cx="55775" cy="120525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6"/>
            <p:cNvSpPr/>
            <p:nvPr/>
          </p:nvSpPr>
          <p:spPr>
            <a:xfrm>
              <a:off x="2957058" y="296573"/>
              <a:ext cx="75970" cy="130142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36"/>
            <p:cNvSpPr/>
            <p:nvPr/>
          </p:nvSpPr>
          <p:spPr>
            <a:xfrm>
              <a:off x="3049376" y="306189"/>
              <a:ext cx="55775" cy="120525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36"/>
            <p:cNvSpPr/>
            <p:nvPr/>
          </p:nvSpPr>
          <p:spPr>
            <a:xfrm>
              <a:off x="510639" y="494671"/>
              <a:ext cx="92638" cy="124051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36"/>
            <p:cNvSpPr/>
            <p:nvPr/>
          </p:nvSpPr>
          <p:spPr>
            <a:xfrm>
              <a:off x="60391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36"/>
            <p:cNvSpPr/>
            <p:nvPr/>
          </p:nvSpPr>
          <p:spPr>
            <a:xfrm>
              <a:off x="703929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36"/>
            <p:cNvSpPr/>
            <p:nvPr/>
          </p:nvSpPr>
          <p:spPr>
            <a:xfrm>
              <a:off x="79785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901707" y="526726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1002359" y="488901"/>
              <a:ext cx="26605" cy="129501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36"/>
            <p:cNvSpPr/>
            <p:nvPr/>
          </p:nvSpPr>
          <p:spPr>
            <a:xfrm>
              <a:off x="1045312" y="526405"/>
              <a:ext cx="69238" cy="94241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36"/>
            <p:cNvSpPr/>
            <p:nvPr/>
          </p:nvSpPr>
          <p:spPr>
            <a:xfrm>
              <a:off x="1131540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36"/>
            <p:cNvSpPr/>
            <p:nvPr/>
          </p:nvSpPr>
          <p:spPr>
            <a:xfrm>
              <a:off x="122546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36"/>
            <p:cNvSpPr/>
            <p:nvPr/>
          </p:nvSpPr>
          <p:spPr>
            <a:xfrm>
              <a:off x="132418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36"/>
            <p:cNvSpPr/>
            <p:nvPr/>
          </p:nvSpPr>
          <p:spPr>
            <a:xfrm>
              <a:off x="1482539" y="494671"/>
              <a:ext cx="77893" cy="124051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36"/>
            <p:cNvSpPr/>
            <p:nvPr/>
          </p:nvSpPr>
          <p:spPr>
            <a:xfrm>
              <a:off x="1564279" y="526726"/>
              <a:ext cx="76290" cy="9392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36"/>
            <p:cNvSpPr/>
            <p:nvPr/>
          </p:nvSpPr>
          <p:spPr>
            <a:xfrm>
              <a:off x="1667175" y="487619"/>
              <a:ext cx="78854" cy="131103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1761416" y="528970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36"/>
            <p:cNvSpPr/>
            <p:nvPr/>
          </p:nvSpPr>
          <p:spPr>
            <a:xfrm>
              <a:off x="1865594" y="487299"/>
              <a:ext cx="20835" cy="131103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36"/>
            <p:cNvSpPr/>
            <p:nvPr/>
          </p:nvSpPr>
          <p:spPr>
            <a:xfrm>
              <a:off x="1905021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36"/>
            <p:cNvSpPr/>
            <p:nvPr/>
          </p:nvSpPr>
          <p:spPr>
            <a:xfrm>
              <a:off x="1977144" y="490504"/>
              <a:ext cx="75970" cy="130142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36"/>
            <p:cNvSpPr/>
            <p:nvPr/>
          </p:nvSpPr>
          <p:spPr>
            <a:xfrm>
              <a:off x="2069462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9" name="Google Shape;839;p36"/>
          <p:cNvSpPr/>
          <p:nvPr/>
        </p:nvSpPr>
        <p:spPr>
          <a:xfrm>
            <a:off x="7704725" y="225528"/>
            <a:ext cx="1052927" cy="40199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0" name="Google Shape;84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6"/>
          <p:cNvSpPr/>
          <p:nvPr>
            <p:ph idx="2" type="pic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 | Grau" showMasterSp="0">
  <p:cSld name="Nur Titel | Grau">
    <p:bg>
      <p:bgPr>
        <a:solidFill>
          <a:schemeClr val="dk2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7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4" name="Google Shape;844;p37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5" name="Google Shape;845;p37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6" name="Google Shape;846;p37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7" name="Google Shape;847;p37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37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7"/>
          <p:cNvSpPr txBox="1"/>
          <p:nvPr>
            <p:ph idx="1" type="body"/>
          </p:nvPr>
        </p:nvSpPr>
        <p:spPr>
          <a:xfrm>
            <a:off x="388738" y="515699"/>
            <a:ext cx="5133289" cy="18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850" name="Google Shape;850;p37"/>
          <p:cNvSpPr/>
          <p:nvPr/>
        </p:nvSpPr>
        <p:spPr>
          <a:xfrm>
            <a:off x="7947047" y="224510"/>
            <a:ext cx="810000" cy="309246"/>
          </a:xfrm>
          <a:custGeom>
            <a:rect b="b" l="l" r="r" t="t"/>
            <a:pathLst>
              <a:path extrusionOk="0" h="1831428" w="479701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1" name="Google Shape;851;p37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852" name="Google Shape;852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3" name="Google Shape;853;p37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854" name="Google Shape;854;p37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855" name="Google Shape;855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6" name="Google Shape;856;p3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857" name="Google Shape;857;p37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858" name="Google Shape;858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9" name="Google Shape;859;p3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860" name="Google Shape;860;p37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861" name="Google Shape;861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62" name="Google Shape;862;p37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863" name="Google Shape;863;p37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864" name="Google Shape;864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65" name="Google Shape;865;p37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866" name="Google Shape;866;p37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867" name="Google Shape;867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68" name="Google Shape;868;p37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869" name="Google Shape;869;p37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870" name="Google Shape;870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71" name="Google Shape;871;p37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872" name="Google Shape;872;p37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873" name="Google Shape;873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74" name="Google Shape;874;p37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875" name="Google Shape;875;p37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876" name="Google Shape;876;p37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77" name="Google Shape;877;p37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878" name="Google Shape;878;p37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79" name="Google Shape;879;p37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880" name="Google Shape;880;p37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81" name="Google Shape;881;p37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sp>
        <p:nvSpPr>
          <p:cNvPr id="882" name="Google Shape;882;p37"/>
          <p:cNvSpPr/>
          <p:nvPr>
            <p:ph idx="2" type="pic"/>
          </p:nvPr>
        </p:nvSpPr>
        <p:spPr>
          <a:xfrm>
            <a:off x="5925110" y="225889"/>
            <a:ext cx="810000" cy="289810"/>
          </a:xfrm>
          <a:prstGeom prst="rect">
            <a:avLst/>
          </a:prstGeom>
          <a:noFill/>
          <a:ln>
            <a:noFill/>
          </a:ln>
        </p:spPr>
      </p:sp>
      <p:pic>
        <p:nvPicPr>
          <p:cNvPr id="883" name="Google Shape;88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6372" y="225888"/>
            <a:ext cx="826644" cy="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lussfolie" showMasterSp="0">
  <p:cSld name="Schlussfolie">
    <p:bg>
      <p:bgPr>
        <a:solidFill>
          <a:schemeClr val="dk2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8"/>
          <p:cNvSpPr txBox="1"/>
          <p:nvPr>
            <p:ph idx="1" type="body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405000" spcFirstLastPara="1" rIns="0" wrap="square" tIns="891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886" name="Google Shape;886;p38"/>
          <p:cNvSpPr/>
          <p:nvPr>
            <p:ph idx="2" type="pic"/>
          </p:nvPr>
        </p:nvSpPr>
        <p:spPr>
          <a:xfrm>
            <a:off x="0" y="1221581"/>
            <a:ext cx="9144000" cy="392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87" name="Google Shape;887;p38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8"/>
          <p:cNvSpPr txBox="1"/>
          <p:nvPr>
            <p:ph idx="3" type="body"/>
          </p:nvPr>
        </p:nvSpPr>
        <p:spPr>
          <a:xfrm>
            <a:off x="388738" y="1985989"/>
            <a:ext cx="8368309" cy="1171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7000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SzPts val="1400"/>
              <a:buChar char="−"/>
              <a:defRPr/>
            </a:lvl9pPr>
          </a:lstStyle>
          <a:p/>
        </p:txBody>
      </p:sp>
      <p:grpSp>
        <p:nvGrpSpPr>
          <p:cNvPr id="889" name="Google Shape;889;p38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890" name="Google Shape;890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91" name="Google Shape;891;p38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892" name="Google Shape;892;p38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893" name="Google Shape;893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94" name="Google Shape;894;p3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895" name="Google Shape;895;p38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896" name="Google Shape;896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97" name="Google Shape;897;p3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898" name="Google Shape;898;p38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899" name="Google Shape;899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00" name="Google Shape;900;p3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901" name="Google Shape;901;p38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902" name="Google Shape;902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03" name="Google Shape;903;p38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904" name="Google Shape;904;p38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905" name="Google Shape;905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06" name="Google Shape;906;p38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907" name="Google Shape;907;p38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908" name="Google Shape;908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09" name="Google Shape;909;p38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910" name="Google Shape;910;p38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911" name="Google Shape;911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12" name="Google Shape;912;p38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913" name="Google Shape;913;p38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914" name="Google Shape;914;p38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15" name="Google Shape;915;p38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916" name="Google Shape;916;p38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17" name="Google Shape;917;p38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918" name="Google Shape;918;p3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19" name="Google Shape;919;p38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920" name="Google Shape;920;p38"/>
          <p:cNvGrpSpPr/>
          <p:nvPr/>
        </p:nvGrpSpPr>
        <p:grpSpPr>
          <a:xfrm>
            <a:off x="382979" y="219822"/>
            <a:ext cx="1791050" cy="225928"/>
            <a:chOff x="510639" y="293688"/>
            <a:chExt cx="2594512" cy="327279"/>
          </a:xfrm>
        </p:grpSpPr>
        <p:sp>
          <p:nvSpPr>
            <p:cNvPr id="921" name="Google Shape;921;p38"/>
            <p:cNvSpPr/>
            <p:nvPr/>
          </p:nvSpPr>
          <p:spPr>
            <a:xfrm>
              <a:off x="519935" y="300420"/>
              <a:ext cx="78213" cy="124372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8"/>
            <p:cNvSpPr/>
            <p:nvPr/>
          </p:nvSpPr>
          <p:spPr>
            <a:xfrm>
              <a:off x="610329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8"/>
            <p:cNvSpPr/>
            <p:nvPr/>
          </p:nvSpPr>
          <p:spPr>
            <a:xfrm>
              <a:off x="67924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8"/>
            <p:cNvSpPr/>
            <p:nvPr/>
          </p:nvSpPr>
          <p:spPr>
            <a:xfrm>
              <a:off x="72508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38"/>
            <p:cNvSpPr/>
            <p:nvPr/>
          </p:nvSpPr>
          <p:spPr>
            <a:xfrm>
              <a:off x="825417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38"/>
            <p:cNvSpPr/>
            <p:nvPr/>
          </p:nvSpPr>
          <p:spPr>
            <a:xfrm>
              <a:off x="936967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38"/>
            <p:cNvSpPr/>
            <p:nvPr/>
          </p:nvSpPr>
          <p:spPr>
            <a:xfrm>
              <a:off x="1005565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38"/>
            <p:cNvSpPr/>
            <p:nvPr/>
          </p:nvSpPr>
          <p:spPr>
            <a:xfrm>
              <a:off x="1052044" y="332474"/>
              <a:ext cx="75649" cy="9424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38"/>
            <p:cNvSpPr/>
            <p:nvPr/>
          </p:nvSpPr>
          <p:spPr>
            <a:xfrm>
              <a:off x="1145644" y="293688"/>
              <a:ext cx="77252" cy="131103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38"/>
            <p:cNvSpPr/>
            <p:nvPr/>
          </p:nvSpPr>
          <p:spPr>
            <a:xfrm>
              <a:off x="1246937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38"/>
            <p:cNvSpPr/>
            <p:nvPr/>
          </p:nvSpPr>
          <p:spPr>
            <a:xfrm>
              <a:off x="1302071" y="300420"/>
              <a:ext cx="115397" cy="124051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8"/>
            <p:cNvSpPr/>
            <p:nvPr/>
          </p:nvSpPr>
          <p:spPr>
            <a:xfrm>
              <a:off x="1436060" y="293688"/>
              <a:ext cx="20835" cy="130783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8"/>
            <p:cNvSpPr/>
            <p:nvPr/>
          </p:nvSpPr>
          <p:spPr>
            <a:xfrm>
              <a:off x="1479334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38"/>
            <p:cNvSpPr/>
            <p:nvPr/>
          </p:nvSpPr>
          <p:spPr>
            <a:xfrm>
              <a:off x="1572613" y="334718"/>
              <a:ext cx="85906" cy="89753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38"/>
            <p:cNvSpPr/>
            <p:nvPr/>
          </p:nvSpPr>
          <p:spPr>
            <a:xfrm>
              <a:off x="1669733" y="332795"/>
              <a:ext cx="75975" cy="9392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38"/>
            <p:cNvSpPr/>
            <p:nvPr/>
          </p:nvSpPr>
          <p:spPr>
            <a:xfrm>
              <a:off x="1772314" y="332795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38"/>
            <p:cNvSpPr/>
            <p:nvPr/>
          </p:nvSpPr>
          <p:spPr>
            <a:xfrm>
              <a:off x="1871684" y="293688"/>
              <a:ext cx="83663" cy="133347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38"/>
            <p:cNvSpPr/>
            <p:nvPr/>
          </p:nvSpPr>
          <p:spPr>
            <a:xfrm>
              <a:off x="1978106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38"/>
            <p:cNvSpPr/>
            <p:nvPr/>
          </p:nvSpPr>
          <p:spPr>
            <a:xfrm>
              <a:off x="2083566" y="332713"/>
              <a:ext cx="53852" cy="91758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38"/>
            <p:cNvSpPr/>
            <p:nvPr/>
          </p:nvSpPr>
          <p:spPr>
            <a:xfrm>
              <a:off x="2150561" y="359721"/>
              <a:ext cx="43915" cy="19874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38"/>
            <p:cNvSpPr/>
            <p:nvPr/>
          </p:nvSpPr>
          <p:spPr>
            <a:xfrm>
              <a:off x="2221081" y="300420"/>
              <a:ext cx="97126" cy="126295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38"/>
            <p:cNvSpPr/>
            <p:nvPr/>
          </p:nvSpPr>
          <p:spPr>
            <a:xfrm>
              <a:off x="2346415" y="332795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38"/>
            <p:cNvSpPr/>
            <p:nvPr/>
          </p:nvSpPr>
          <p:spPr>
            <a:xfrm>
              <a:off x="2447067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38"/>
            <p:cNvSpPr/>
            <p:nvPr/>
          </p:nvSpPr>
          <p:spPr>
            <a:xfrm>
              <a:off x="2488418" y="335039"/>
              <a:ext cx="87189" cy="89753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38"/>
            <p:cNvSpPr/>
            <p:nvPr/>
          </p:nvSpPr>
          <p:spPr>
            <a:xfrm>
              <a:off x="2585223" y="332795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38"/>
            <p:cNvSpPr/>
            <p:nvPr/>
          </p:nvSpPr>
          <p:spPr>
            <a:xfrm>
              <a:off x="2690683" y="332713"/>
              <a:ext cx="53852" cy="91758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38"/>
            <p:cNvSpPr/>
            <p:nvPr/>
          </p:nvSpPr>
          <p:spPr>
            <a:xfrm>
              <a:off x="2754472" y="332474"/>
              <a:ext cx="69238" cy="9424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38"/>
            <p:cNvSpPr/>
            <p:nvPr/>
          </p:nvSpPr>
          <p:spPr>
            <a:xfrm>
              <a:off x="2843264" y="294971"/>
              <a:ext cx="26605" cy="129501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38"/>
            <p:cNvSpPr/>
            <p:nvPr/>
          </p:nvSpPr>
          <p:spPr>
            <a:xfrm>
              <a:off x="2884935" y="306189"/>
              <a:ext cx="55775" cy="120525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38"/>
            <p:cNvSpPr/>
            <p:nvPr/>
          </p:nvSpPr>
          <p:spPr>
            <a:xfrm>
              <a:off x="2957058" y="296573"/>
              <a:ext cx="75970" cy="130142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38"/>
            <p:cNvSpPr/>
            <p:nvPr/>
          </p:nvSpPr>
          <p:spPr>
            <a:xfrm>
              <a:off x="3049376" y="306189"/>
              <a:ext cx="55775" cy="120525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38"/>
            <p:cNvSpPr/>
            <p:nvPr/>
          </p:nvSpPr>
          <p:spPr>
            <a:xfrm>
              <a:off x="510639" y="494671"/>
              <a:ext cx="92638" cy="124051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60391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703929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79785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901707" y="526726"/>
              <a:ext cx="76931" cy="91997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1002359" y="488901"/>
              <a:ext cx="26605" cy="129501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1045312" y="526405"/>
              <a:ext cx="69238" cy="94241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1131540" y="526405"/>
              <a:ext cx="75649" cy="94241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1225460" y="487619"/>
              <a:ext cx="76931" cy="131103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1324189" y="526726"/>
              <a:ext cx="81739" cy="9392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1482539" y="494671"/>
              <a:ext cx="77893" cy="124051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1564279" y="526726"/>
              <a:ext cx="76290" cy="9392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1667175" y="487619"/>
              <a:ext cx="78854" cy="131103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1761416" y="528970"/>
              <a:ext cx="77252" cy="91997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1865594" y="487299"/>
              <a:ext cx="20835" cy="131103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1905021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1977144" y="490504"/>
              <a:ext cx="75970" cy="130142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2069462" y="500120"/>
              <a:ext cx="55775" cy="120526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0" name="Google Shape;970;p38"/>
          <p:cNvSpPr/>
          <p:nvPr/>
        </p:nvSpPr>
        <p:spPr>
          <a:xfrm>
            <a:off x="7704725" y="225528"/>
            <a:ext cx="1052927" cy="40199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1" name="Google Shape;971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6120" y="225528"/>
            <a:ext cx="1157744" cy="4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38"/>
          <p:cNvSpPr/>
          <p:nvPr>
            <p:ph idx="4" type="pic"/>
          </p:nvPr>
        </p:nvSpPr>
        <p:spPr>
          <a:xfrm>
            <a:off x="4893347" y="225528"/>
            <a:ext cx="1298922" cy="4019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5" name="Google Shape;97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900"/>
              </a:spcBef>
              <a:spcAft>
                <a:spcPts val="0"/>
              </a:spcAft>
              <a:buSzPts val="1200"/>
              <a:buChar char="−"/>
              <a:defRPr/>
            </a:lvl2pPr>
            <a:lvl3pPr indent="-298450" lvl="2" marL="1371600">
              <a:spcBef>
                <a:spcPts val="900"/>
              </a:spcBef>
              <a:spcAft>
                <a:spcPts val="0"/>
              </a:spcAft>
              <a:buSzPts val="1100"/>
              <a:buChar char="−"/>
              <a:defRPr/>
            </a:lvl3pPr>
            <a:lvl4pPr indent="-298450" lvl="3" marL="1828800">
              <a:spcBef>
                <a:spcPts val="900"/>
              </a:spcBef>
              <a:spcAft>
                <a:spcPts val="0"/>
              </a:spcAft>
              <a:buSzPts val="1100"/>
              <a:buChar char="−"/>
              <a:defRPr/>
            </a:lvl4pPr>
            <a:lvl5pPr indent="-285750" lvl="4" marL="2286000">
              <a:spcBef>
                <a:spcPts val="900"/>
              </a:spcBef>
              <a:spcAft>
                <a:spcPts val="0"/>
              </a:spcAft>
              <a:buSzPts val="900"/>
              <a:buChar char="−"/>
              <a:defRPr/>
            </a:lvl5pPr>
            <a:lvl6pPr indent="-285750" lvl="5" marL="2743200">
              <a:spcBef>
                <a:spcPts val="900"/>
              </a:spcBef>
              <a:spcAft>
                <a:spcPts val="0"/>
              </a:spcAft>
              <a:buSzPts val="900"/>
              <a:buChar char="−"/>
              <a:defRPr/>
            </a:lvl6pPr>
            <a:lvl7pPr indent="-285750" lvl="6" marL="3200400">
              <a:spcBef>
                <a:spcPts val="900"/>
              </a:spcBef>
              <a:spcAft>
                <a:spcPts val="0"/>
              </a:spcAft>
              <a:buSzPts val="900"/>
              <a:buChar char="−"/>
              <a:defRPr/>
            </a:lvl7pPr>
            <a:lvl8pPr indent="-285750" lvl="7" marL="3657600">
              <a:spcBef>
                <a:spcPts val="900"/>
              </a:spcBef>
              <a:spcAft>
                <a:spcPts val="0"/>
              </a:spcAft>
              <a:buSzPts val="900"/>
              <a:buChar char="−"/>
              <a:defRPr/>
            </a:lvl8pPr>
            <a:lvl9pPr indent="-285750" lvl="8" marL="4114800">
              <a:spcBef>
                <a:spcPts val="900"/>
              </a:spcBef>
              <a:spcAft>
                <a:spcPts val="900"/>
              </a:spcAft>
              <a:buSzPts val="900"/>
              <a:buChar char="−"/>
              <a:defRPr/>
            </a:lvl9pPr>
          </a:lstStyle>
          <a:p/>
        </p:txBody>
      </p:sp>
      <p:sp>
        <p:nvSpPr>
          <p:cNvPr id="976" name="Google Shape;976;p39"/>
          <p:cNvSpPr txBox="1"/>
          <p:nvPr>
            <p:ph idx="12" type="sldNum"/>
          </p:nvPr>
        </p:nvSpPr>
        <p:spPr>
          <a:xfrm>
            <a:off x="8472458" y="4663217"/>
            <a:ext cx="5487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26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34.xml"/><Relationship Id="rId6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88739" y="1223367"/>
            <a:ext cx="8368308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−"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−"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8575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8575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59" name="Google Shape;59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0" name="Google Shape;60;p13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62" name="Google Shape;62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3" name="Google Shape;63;p13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64" name="Google Shape;64;p13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65" name="Google Shape;65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" name="Google Shape;66;p13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67" name="Google Shape;67;p13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68" name="Google Shape;68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9" name="Google Shape;69;p13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70" name="Google Shape;70;p13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71" name="Google Shape;71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2" name="Google Shape;72;p13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73" name="Google Shape;73;p13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74" name="Google Shape;74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5" name="Google Shape;75;p13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76" name="Google Shape;76;p13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77" name="Google Shape;77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8" name="Google Shape;78;p13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79" name="Google Shape;79;p13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80" name="Google Shape;80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1" name="Google Shape;81;p13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82" name="Google Shape;82;p13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83" name="Google Shape;83;p13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4" name="Google Shape;84;p13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85" name="Google Shape;85;p13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6" name="Google Shape;86;p13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87" name="Google Shape;87;p13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8" name="Google Shape;88;p13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sp>
        <p:nvSpPr>
          <p:cNvPr id="89" name="Google Shape;89;p13"/>
          <p:cNvSpPr/>
          <p:nvPr/>
        </p:nvSpPr>
        <p:spPr>
          <a:xfrm>
            <a:off x="7947047" y="224510"/>
            <a:ext cx="810000" cy="309246"/>
          </a:xfrm>
          <a:custGeom>
            <a:rect b="b" l="l" r="r" t="t"/>
            <a:pathLst>
              <a:path extrusionOk="0" h="1831428" w="479701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44">
          <p15:clr>
            <a:srgbClr val="F26B43"/>
          </p15:clr>
        </p15:guide>
        <p15:guide id="4" pos="5516">
          <p15:clr>
            <a:srgbClr val="F26B43"/>
          </p15:clr>
        </p15:guide>
        <p15:guide id="5" orient="horz" pos="140">
          <p15:clr>
            <a:srgbClr val="F26B43"/>
          </p15:clr>
        </p15:guide>
        <p15:guide id="6" orient="horz" pos="599">
          <p15:clr>
            <a:srgbClr val="F26B43"/>
          </p15:clr>
        </p15:guide>
        <p15:guide id="7" orient="horz" pos="769">
          <p15:clr>
            <a:srgbClr val="F26B43"/>
          </p15:clr>
        </p15:guide>
        <p15:guide id="8" orient="horz" pos="2929">
          <p15:clr>
            <a:srgbClr val="F26B43"/>
          </p15:clr>
        </p15:guide>
        <p15:guide id="9" orient="horz" pos="3133">
          <p15:clr>
            <a:srgbClr val="F26B43"/>
          </p15:clr>
        </p15:guide>
        <p15:guide id="10" pos="2931">
          <p15:clr>
            <a:srgbClr val="F26B43"/>
          </p15:clr>
        </p15:guide>
        <p15:guide id="11" pos="282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03" name="Google Shape;403;p18"/>
          <p:cNvSpPr txBox="1"/>
          <p:nvPr>
            <p:ph idx="1" type="body"/>
          </p:nvPr>
        </p:nvSpPr>
        <p:spPr>
          <a:xfrm>
            <a:off x="388739" y="1223367"/>
            <a:ext cx="8368308" cy="342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−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−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8575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8575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accent4"/>
              </a:buClr>
              <a:buSzPts val="900"/>
              <a:buFont typeface="Noto Sans Symbols"/>
              <a:buChar char="−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4" name="Google Shape;404;p18"/>
          <p:cNvSpPr txBox="1"/>
          <p:nvPr>
            <p:ph idx="10" type="dt"/>
          </p:nvPr>
        </p:nvSpPr>
        <p:spPr>
          <a:xfrm>
            <a:off x="7813013" y="4976000"/>
            <a:ext cx="637195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5" name="Google Shape;405;p18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6" name="Google Shape;406;p18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388800" y="897550"/>
            <a:ext cx="8757046" cy="540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387900" y="4903895"/>
            <a:ext cx="8756100" cy="81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9" name="Google Shape;409;p18"/>
          <p:cNvGrpSpPr/>
          <p:nvPr/>
        </p:nvGrpSpPr>
        <p:grpSpPr>
          <a:xfrm>
            <a:off x="-292894" y="120115"/>
            <a:ext cx="250031" cy="102609"/>
            <a:chOff x="-133350" y="2711163"/>
            <a:chExt cx="333375" cy="136812"/>
          </a:xfrm>
        </p:grpSpPr>
        <p:cxnSp>
          <p:nvCxnSpPr>
            <p:cNvPr id="410" name="Google Shape;410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11" name="Google Shape;411;p18"/>
            <p:cNvSpPr txBox="1"/>
            <p:nvPr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sz="1100"/>
            </a:p>
          </p:txBody>
        </p:sp>
      </p:grpSp>
      <p:grpSp>
        <p:nvGrpSpPr>
          <p:cNvPr id="412" name="Google Shape;412;p18"/>
          <p:cNvGrpSpPr/>
          <p:nvPr/>
        </p:nvGrpSpPr>
        <p:grpSpPr>
          <a:xfrm>
            <a:off x="-292894" y="848777"/>
            <a:ext cx="250031" cy="102609"/>
            <a:chOff x="-133350" y="2711163"/>
            <a:chExt cx="333375" cy="136812"/>
          </a:xfrm>
        </p:grpSpPr>
        <p:cxnSp>
          <p:nvCxnSpPr>
            <p:cNvPr id="413" name="Google Shape;413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14" name="Google Shape;414;p1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sz="1100"/>
            </a:p>
          </p:txBody>
        </p:sp>
      </p:grpSp>
      <p:grpSp>
        <p:nvGrpSpPr>
          <p:cNvPr id="415" name="Google Shape;415;p18"/>
          <p:cNvGrpSpPr/>
          <p:nvPr/>
        </p:nvGrpSpPr>
        <p:grpSpPr>
          <a:xfrm>
            <a:off x="-292894" y="1118972"/>
            <a:ext cx="250031" cy="102609"/>
            <a:chOff x="-133350" y="2711163"/>
            <a:chExt cx="333375" cy="136812"/>
          </a:xfrm>
        </p:grpSpPr>
        <p:cxnSp>
          <p:nvCxnSpPr>
            <p:cNvPr id="416" name="Google Shape;416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17" name="Google Shape;417;p1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sz="1100"/>
            </a:p>
          </p:txBody>
        </p:sp>
      </p:grpSp>
      <p:grpSp>
        <p:nvGrpSpPr>
          <p:cNvPr id="418" name="Google Shape;418;p18"/>
          <p:cNvGrpSpPr/>
          <p:nvPr/>
        </p:nvGrpSpPr>
        <p:grpSpPr>
          <a:xfrm>
            <a:off x="-292894" y="2469141"/>
            <a:ext cx="250031" cy="102609"/>
            <a:chOff x="-133350" y="2711163"/>
            <a:chExt cx="333375" cy="136812"/>
          </a:xfrm>
        </p:grpSpPr>
        <p:cxnSp>
          <p:nvCxnSpPr>
            <p:cNvPr id="419" name="Google Shape;419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0" name="Google Shape;420;p18"/>
            <p:cNvSpPr txBox="1"/>
            <p:nvPr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sz="1100"/>
            </a:p>
          </p:txBody>
        </p:sp>
      </p:grpSp>
      <p:grpSp>
        <p:nvGrpSpPr>
          <p:cNvPr id="421" name="Google Shape;421;p18"/>
          <p:cNvGrpSpPr/>
          <p:nvPr/>
        </p:nvGrpSpPr>
        <p:grpSpPr>
          <a:xfrm>
            <a:off x="-292894" y="4547972"/>
            <a:ext cx="250031" cy="102609"/>
            <a:chOff x="-133350" y="2711163"/>
            <a:chExt cx="333375" cy="136812"/>
          </a:xfrm>
        </p:grpSpPr>
        <p:cxnSp>
          <p:nvCxnSpPr>
            <p:cNvPr id="422" name="Google Shape;422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3" name="Google Shape;423;p18"/>
            <p:cNvSpPr txBox="1"/>
            <p:nvPr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sz="1100"/>
            </a:p>
          </p:txBody>
        </p:sp>
      </p:grpSp>
      <p:grpSp>
        <p:nvGrpSpPr>
          <p:cNvPr id="424" name="Google Shape;424;p18"/>
          <p:cNvGrpSpPr/>
          <p:nvPr/>
        </p:nvGrpSpPr>
        <p:grpSpPr>
          <a:xfrm>
            <a:off x="-292894" y="4871822"/>
            <a:ext cx="250031" cy="102609"/>
            <a:chOff x="-133350" y="2711163"/>
            <a:chExt cx="333375" cy="136812"/>
          </a:xfrm>
        </p:grpSpPr>
        <p:cxnSp>
          <p:nvCxnSpPr>
            <p:cNvPr id="425" name="Google Shape;425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6" name="Google Shape;426;p18"/>
            <p:cNvSpPr txBox="1"/>
            <p:nvPr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sz="1100"/>
            </a:p>
          </p:txBody>
        </p:sp>
      </p:grpSp>
      <p:grpSp>
        <p:nvGrpSpPr>
          <p:cNvPr id="427" name="Google Shape;427;p18"/>
          <p:cNvGrpSpPr/>
          <p:nvPr/>
        </p:nvGrpSpPr>
        <p:grpSpPr>
          <a:xfrm rot="-5400000">
            <a:off x="211232" y="-224352"/>
            <a:ext cx="250031" cy="102606"/>
            <a:chOff x="-133350" y="2711167"/>
            <a:chExt cx="333375" cy="136808"/>
          </a:xfrm>
        </p:grpSpPr>
        <p:cxnSp>
          <p:nvCxnSpPr>
            <p:cNvPr id="428" name="Google Shape;428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9" name="Google Shape;429;p18"/>
            <p:cNvSpPr txBox="1"/>
            <p:nvPr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grpSp>
        <p:nvGrpSpPr>
          <p:cNvPr id="430" name="Google Shape;430;p18"/>
          <p:cNvGrpSpPr/>
          <p:nvPr/>
        </p:nvGrpSpPr>
        <p:grpSpPr>
          <a:xfrm rot="-5400000">
            <a:off x="4314722" y="-224352"/>
            <a:ext cx="250031" cy="102603"/>
            <a:chOff x="-133350" y="2711171"/>
            <a:chExt cx="333375" cy="136804"/>
          </a:xfrm>
        </p:grpSpPr>
        <p:cxnSp>
          <p:nvCxnSpPr>
            <p:cNvPr id="431" name="Google Shape;431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2" name="Google Shape;432;p18"/>
            <p:cNvSpPr txBox="1"/>
            <p:nvPr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grpSp>
        <p:nvGrpSpPr>
          <p:cNvPr id="433" name="Google Shape;433;p18"/>
          <p:cNvGrpSpPr/>
          <p:nvPr/>
        </p:nvGrpSpPr>
        <p:grpSpPr>
          <a:xfrm>
            <a:off x="4652962" y="-298068"/>
            <a:ext cx="93679" cy="250031"/>
            <a:chOff x="6416680" y="-397423"/>
            <a:chExt cx="124906" cy="333375"/>
          </a:xfrm>
        </p:grpSpPr>
        <p:cxnSp>
          <p:nvCxnSpPr>
            <p:cNvPr id="434" name="Google Shape;434;p18"/>
            <p:cNvCxnSpPr/>
            <p:nvPr/>
          </p:nvCxnSpPr>
          <p:spPr>
            <a:xfrm rot="-5400000">
              <a:off x="6249993" y="-230736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5" name="Google Shape;435;p18"/>
            <p:cNvSpPr txBox="1"/>
            <p:nvPr/>
          </p:nvSpPr>
          <p:spPr>
            <a:xfrm rot="-5400000">
              <a:off x="6349289" y="-293191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sz="1100"/>
            </a:p>
          </p:txBody>
        </p:sp>
      </p:grpSp>
      <p:cxnSp>
        <p:nvCxnSpPr>
          <p:cNvPr id="436" name="Google Shape;436;p18"/>
          <p:cNvCxnSpPr/>
          <p:nvPr/>
        </p:nvCxnSpPr>
        <p:spPr>
          <a:xfrm rot="-5400000">
            <a:off x="4446985" y="-173052"/>
            <a:ext cx="250031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37" name="Google Shape;437;p18"/>
          <p:cNvGrpSpPr/>
          <p:nvPr/>
        </p:nvGrpSpPr>
        <p:grpSpPr>
          <a:xfrm rot="-5400000">
            <a:off x="8585494" y="-224354"/>
            <a:ext cx="250031" cy="102600"/>
            <a:chOff x="-133350" y="2711175"/>
            <a:chExt cx="333375" cy="136800"/>
          </a:xfrm>
        </p:grpSpPr>
        <p:cxnSp>
          <p:nvCxnSpPr>
            <p:cNvPr id="438" name="Google Shape;438;p18"/>
            <p:cNvCxnSpPr/>
            <p:nvPr/>
          </p:nvCxnSpPr>
          <p:spPr>
            <a:xfrm>
              <a:off x="-133350" y="2847975"/>
              <a:ext cx="333375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9" name="Google Shape;439;p18"/>
            <p:cNvSpPr txBox="1"/>
            <p:nvPr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sz="1100"/>
            </a:p>
          </p:txBody>
        </p:sp>
      </p:grpSp>
      <p:sp>
        <p:nvSpPr>
          <p:cNvPr id="440" name="Google Shape;440;p18"/>
          <p:cNvSpPr/>
          <p:nvPr/>
        </p:nvSpPr>
        <p:spPr>
          <a:xfrm>
            <a:off x="7947047" y="224510"/>
            <a:ext cx="810000" cy="309246"/>
          </a:xfrm>
          <a:custGeom>
            <a:rect b="b" l="l" r="r" t="t"/>
            <a:pathLst>
              <a:path extrusionOk="0" h="1831428" w="479701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44">
          <p15:clr>
            <a:srgbClr val="F26B43"/>
          </p15:clr>
        </p15:guide>
        <p15:guide id="4" pos="5516">
          <p15:clr>
            <a:srgbClr val="F26B43"/>
          </p15:clr>
        </p15:guide>
        <p15:guide id="5" orient="horz" pos="140">
          <p15:clr>
            <a:srgbClr val="F26B43"/>
          </p15:clr>
        </p15:guide>
        <p15:guide id="6" orient="horz" pos="599">
          <p15:clr>
            <a:srgbClr val="F26B43"/>
          </p15:clr>
        </p15:guide>
        <p15:guide id="7" orient="horz" pos="769">
          <p15:clr>
            <a:srgbClr val="F26B43"/>
          </p15:clr>
        </p15:guide>
        <p15:guide id="8" orient="horz" pos="2929">
          <p15:clr>
            <a:srgbClr val="F26B43"/>
          </p15:clr>
        </p15:guide>
        <p15:guide id="9" orient="horz" pos="3133">
          <p15:clr>
            <a:srgbClr val="F26B43"/>
          </p15:clr>
        </p15:guide>
        <p15:guide id="10" pos="2931">
          <p15:clr>
            <a:srgbClr val="F26B43"/>
          </p15:clr>
        </p15:guide>
        <p15:guide id="11" pos="282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40"/>
          <p:cNvSpPr txBox="1"/>
          <p:nvPr>
            <p:ph idx="1" type="body"/>
          </p:nvPr>
        </p:nvSpPr>
        <p:spPr>
          <a:xfrm>
            <a:off x="0" y="1221581"/>
            <a:ext cx="9144000" cy="3921919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405000" spcFirstLastPara="1" rIns="0" wrap="square" tIns="8910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descr="Ein Bild, das Text, Geschirr enthält.&#10;&#10;Automatisch generierte Beschreibung" id="982" name="Google Shape;982;p4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1875" l="0" r="0" t="11875"/>
          <a:stretch/>
        </p:blipFill>
        <p:spPr>
          <a:xfrm>
            <a:off x="0" y="940699"/>
            <a:ext cx="9144000" cy="420280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983" name="Google Shape;983;p40"/>
          <p:cNvSpPr txBox="1"/>
          <p:nvPr>
            <p:ph type="title"/>
          </p:nvPr>
        </p:nvSpPr>
        <p:spPr>
          <a:xfrm>
            <a:off x="351043" y="1938119"/>
            <a:ext cx="8406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" sz="2700"/>
              <a:t>Automatic Detection of Parkinson’s Disease </a:t>
            </a:r>
            <a:br>
              <a:rPr lang="en" sz="2700"/>
            </a:br>
            <a:r>
              <a:rPr lang="en" sz="2700"/>
              <a:t>Using Gait Signals</a:t>
            </a:r>
            <a:endParaRPr sz="2700"/>
          </a:p>
        </p:txBody>
      </p:sp>
      <p:sp>
        <p:nvSpPr>
          <p:cNvPr id="984" name="Google Shape;984;p40"/>
          <p:cNvSpPr txBox="1"/>
          <p:nvPr/>
        </p:nvSpPr>
        <p:spPr>
          <a:xfrm>
            <a:off x="3307963" y="2626027"/>
            <a:ext cx="430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40"/>
          <p:cNvSpPr txBox="1"/>
          <p:nvPr/>
        </p:nvSpPr>
        <p:spPr>
          <a:xfrm>
            <a:off x="88475" y="3996750"/>
            <a:ext cx="45645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Saranya Bhattacharjee</a:t>
            </a:r>
            <a:r>
              <a:rPr lang="en">
                <a:solidFill>
                  <a:schemeClr val="lt1"/>
                </a:solidFill>
              </a:rPr>
              <a:t> (</a:t>
            </a:r>
            <a:r>
              <a:rPr b="0" i="0" lang="en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aj81owid</a:t>
            </a:r>
            <a:r>
              <a:rPr lang="en">
                <a:solidFill>
                  <a:schemeClr val="lt1"/>
                </a:solidFill>
              </a:rPr>
              <a:t>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MSc Artificial Intelligence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Time Series,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Pattern Recognition La</a:t>
            </a:r>
            <a:r>
              <a:rPr lang="en">
                <a:solidFill>
                  <a:schemeClr val="lt1"/>
                </a:solidFill>
              </a:rPr>
              <a:t>b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Supervisor: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Dr.-Ing. Tomás Arias-Vergara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rgbClr val="1C4587"/>
                </a:solidFill>
              </a:rPr>
              <a:t>Talk Overview: </a:t>
            </a:r>
            <a:endParaRPr b="1" sz="3020">
              <a:solidFill>
                <a:srgbClr val="1C4587"/>
              </a:solidFill>
            </a:endParaRPr>
          </a:p>
        </p:txBody>
      </p:sp>
      <p:sp>
        <p:nvSpPr>
          <p:cNvPr id="991" name="Google Shape;991;p41"/>
          <p:cNvSpPr txBox="1"/>
          <p:nvPr>
            <p:ph idx="1" type="body"/>
          </p:nvPr>
        </p:nvSpPr>
        <p:spPr>
          <a:xfrm>
            <a:off x="311700" y="1303350"/>
            <a:ext cx="8520600" cy="36387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Introduction &amp; Motivation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Related Work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Dataset Overview and Analysis: PhysioNet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TSFresh-</a:t>
            </a:r>
            <a:r>
              <a:rPr i="1" lang="en" sz="2000"/>
              <a:t>Feature Extraction and PCA Preparation Pipeline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PCA Visualization of Extracted Gait Features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Machine Learning Framework</a:t>
            </a:r>
            <a:r>
              <a:rPr i="1" lang="en" sz="2000"/>
              <a:t> 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Results &amp; Key Findings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AutoNum type="arabicPeriod"/>
            </a:pPr>
            <a:r>
              <a:rPr i="1" lang="en" sz="2000"/>
              <a:t>Conclusions, Limitations &amp; Future Work</a:t>
            </a:r>
            <a:r>
              <a:rPr i="1" lang="en" sz="2000"/>
              <a:t> </a:t>
            </a:r>
            <a:endParaRPr i="1" sz="2000"/>
          </a:p>
          <a:p>
            <a:pPr indent="-355600" lvl="0" marL="457200" rtl="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SzPts val="2000"/>
              <a:buAutoNum type="arabicPeriod"/>
            </a:pPr>
            <a:r>
              <a:rPr i="1" lang="en" sz="2000"/>
              <a:t>Q&amp;A</a:t>
            </a:r>
            <a:endParaRPr i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2"/>
          <p:cNvSpPr txBox="1"/>
          <p:nvPr>
            <p:ph type="title"/>
          </p:nvPr>
        </p:nvSpPr>
        <p:spPr>
          <a:xfrm>
            <a:off x="388739" y="225889"/>
            <a:ext cx="5133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Motivation</a:t>
            </a:r>
            <a:endParaRPr/>
          </a:p>
        </p:txBody>
      </p:sp>
      <p:sp>
        <p:nvSpPr>
          <p:cNvPr id="997" name="Google Shape;997;p42"/>
          <p:cNvSpPr txBox="1"/>
          <p:nvPr>
            <p:ph idx="2" type="body"/>
          </p:nvPr>
        </p:nvSpPr>
        <p:spPr>
          <a:xfrm>
            <a:off x="640272" y="1978592"/>
            <a:ext cx="4102200" cy="34272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97A7"/>
                </a:solidFill>
              </a:rPr>
              <a:t>WHY AUTOMATE PD DETECTION?</a:t>
            </a:r>
            <a:endParaRPr b="1" sz="13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>
                <a:solidFill>
                  <a:srgbClr val="041E42"/>
                </a:solidFill>
              </a:rPr>
              <a:t>Motor symptoms are measurable</a:t>
            </a:r>
            <a:endParaRPr b="1" sz="13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45566"/>
                </a:solidFill>
              </a:rPr>
              <a:t>Tremor, bradykinesia &amp; instability directly alter gait force patterns</a:t>
            </a:r>
            <a:endParaRPr sz="1050">
              <a:solidFill>
                <a:srgbClr val="4455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55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41E42"/>
                </a:solidFill>
              </a:rPr>
              <a:t>Clinical assessment is subjective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45566"/>
                </a:solidFill>
              </a:rPr>
              <a:t>UPDRS scores vary by examiner — automated biomarkers reduce variability</a:t>
            </a:r>
            <a:endParaRPr sz="1050">
              <a:solidFill>
                <a:srgbClr val="4455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55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>
                <a:solidFill>
                  <a:srgbClr val="041E42"/>
                </a:solidFill>
              </a:rPr>
              <a:t>vGRF signals are accessible</a:t>
            </a:r>
            <a:endParaRPr sz="1050">
              <a:solidFill>
                <a:srgbClr val="4455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5566"/>
                </a:solidFill>
              </a:rPr>
              <a:t>Force plates &amp; wearables enable scalable, non-invasive PD screening</a:t>
            </a:r>
            <a:endParaRPr sz="1050">
              <a:solidFill>
                <a:srgbClr val="445566"/>
              </a:solidFill>
            </a:endParaRPr>
          </a:p>
        </p:txBody>
      </p:sp>
      <p:sp>
        <p:nvSpPr>
          <p:cNvPr id="998" name="Google Shape;998;p42"/>
          <p:cNvSpPr txBox="1"/>
          <p:nvPr>
            <p:ph idx="3" type="body"/>
          </p:nvPr>
        </p:nvSpPr>
        <p:spPr>
          <a:xfrm>
            <a:off x="388738" y="515699"/>
            <a:ext cx="5133300" cy="1848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"/>
              <a:t>Parkinson's Disease · Automated Gait Analysis</a:t>
            </a:r>
            <a:endParaRPr/>
          </a:p>
        </p:txBody>
      </p:sp>
      <p:grpSp>
        <p:nvGrpSpPr>
          <p:cNvPr id="999" name="Google Shape;999;p42"/>
          <p:cNvGrpSpPr/>
          <p:nvPr/>
        </p:nvGrpSpPr>
        <p:grpSpPr>
          <a:xfrm>
            <a:off x="410625" y="1099525"/>
            <a:ext cx="9019275" cy="738675"/>
            <a:chOff x="410625" y="1099525"/>
            <a:chExt cx="9019275" cy="738675"/>
          </a:xfrm>
        </p:grpSpPr>
        <p:sp>
          <p:nvSpPr>
            <p:cNvPr id="1000" name="Google Shape;1000;p42"/>
            <p:cNvSpPr/>
            <p:nvPr/>
          </p:nvSpPr>
          <p:spPr>
            <a:xfrm>
              <a:off x="2576550" y="1124150"/>
              <a:ext cx="2051100" cy="682800"/>
            </a:xfrm>
            <a:prstGeom prst="roundRect">
              <a:avLst>
                <a:gd fmla="val 36000" name="adj"/>
              </a:avLst>
            </a:prstGeom>
            <a:solidFill>
              <a:srgbClr val="041E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42"/>
            <p:cNvSpPr/>
            <p:nvPr/>
          </p:nvSpPr>
          <p:spPr>
            <a:xfrm>
              <a:off x="4742475" y="1099525"/>
              <a:ext cx="2051100" cy="707400"/>
            </a:xfrm>
            <a:prstGeom prst="roundRect">
              <a:avLst>
                <a:gd fmla="val 36000" name="adj"/>
              </a:avLst>
            </a:prstGeom>
            <a:solidFill>
              <a:srgbClr val="041E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2" name="Google Shape;1002;p42"/>
            <p:cNvGrpSpPr/>
            <p:nvPr/>
          </p:nvGrpSpPr>
          <p:grpSpPr>
            <a:xfrm>
              <a:off x="410625" y="1099525"/>
              <a:ext cx="9019275" cy="738675"/>
              <a:chOff x="410625" y="1099525"/>
              <a:chExt cx="9019275" cy="738675"/>
            </a:xfrm>
          </p:grpSpPr>
          <p:sp>
            <p:nvSpPr>
              <p:cNvPr id="1003" name="Google Shape;1003;p42"/>
              <p:cNvSpPr/>
              <p:nvPr/>
            </p:nvSpPr>
            <p:spPr>
              <a:xfrm>
                <a:off x="410625" y="1099525"/>
                <a:ext cx="2051100" cy="682800"/>
              </a:xfrm>
              <a:prstGeom prst="roundRect">
                <a:avLst>
                  <a:gd fmla="val 36000" name="adj"/>
                </a:avLst>
              </a:prstGeom>
              <a:solidFill>
                <a:srgbClr val="041E4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42"/>
              <p:cNvSpPr txBox="1"/>
              <p:nvPr/>
            </p:nvSpPr>
            <p:spPr>
              <a:xfrm>
                <a:off x="663525" y="1510025"/>
                <a:ext cx="17982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AACCEE"/>
                    </a:solidFill>
                    <a:latin typeface="Arial"/>
                    <a:ea typeface="Arial"/>
                    <a:cs typeface="Arial"/>
                    <a:sym typeface="Arial"/>
                  </a:rPr>
                  <a:t>People affected worldwide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42"/>
              <p:cNvSpPr txBox="1"/>
              <p:nvPr/>
            </p:nvSpPr>
            <p:spPr>
              <a:xfrm>
                <a:off x="2642075" y="1468900"/>
                <a:ext cx="20109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AACCEE"/>
                    </a:solidFill>
                    <a:latin typeface="Arial"/>
                    <a:ea typeface="Arial"/>
                    <a:cs typeface="Arial"/>
                    <a:sym typeface="Arial"/>
                  </a:rPr>
                  <a:t>Most common </a:t>
                </a:r>
                <a:r>
                  <a:rPr lang="en" sz="900">
                    <a:solidFill>
                      <a:srgbClr val="AACCEE"/>
                    </a:solidFill>
                    <a:highlight>
                      <a:srgbClr val="1F1F1F"/>
                    </a:highlight>
                  </a:rPr>
                  <a:t>neurodegenerative</a:t>
                </a:r>
                <a:r>
                  <a:rPr b="0" i="0" lang="en" sz="900" u="none" cap="none" strike="noStrike">
                    <a:solidFill>
                      <a:srgbClr val="AACCEE"/>
                    </a:solidFill>
                    <a:latin typeface="Arial"/>
                    <a:ea typeface="Arial"/>
                    <a:cs typeface="Arial"/>
                    <a:sym typeface="Arial"/>
                  </a:rPr>
                  <a:t> disorder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" name="Google Shape;1006;p42"/>
              <p:cNvSpPr txBox="1"/>
              <p:nvPr/>
            </p:nvSpPr>
            <p:spPr>
              <a:xfrm>
                <a:off x="4946900" y="1538200"/>
                <a:ext cx="20109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AACCEE"/>
                    </a:solidFill>
                    <a:latin typeface="Arial"/>
                    <a:ea typeface="Arial"/>
                    <a:cs typeface="Arial"/>
                    <a:sym typeface="Arial"/>
                  </a:rPr>
                  <a:t>Subjective clinical rating scale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p42"/>
              <p:cNvSpPr/>
              <p:nvPr/>
            </p:nvSpPr>
            <p:spPr>
              <a:xfrm>
                <a:off x="6908400" y="1099525"/>
                <a:ext cx="2051100" cy="707400"/>
              </a:xfrm>
              <a:prstGeom prst="roundRect">
                <a:avLst>
                  <a:gd fmla="val 36000" name="adj"/>
                </a:avLst>
              </a:prstGeom>
              <a:solidFill>
                <a:srgbClr val="041E4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42"/>
              <p:cNvSpPr txBox="1"/>
              <p:nvPr/>
            </p:nvSpPr>
            <p:spPr>
              <a:xfrm>
                <a:off x="957150" y="1099525"/>
                <a:ext cx="20109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b="1" i="0" lang="en" sz="2200" u="none" cap="none" strike="noStrike">
                    <a:solidFill>
                      <a:srgbClr val="0097A7"/>
                    </a:solidFill>
                    <a:latin typeface="Arial"/>
                    <a:ea typeface="Arial"/>
                    <a:cs typeface="Arial"/>
                    <a:sym typeface="Arial"/>
                  </a:rPr>
                  <a:t>10M+</a:t>
                </a:r>
                <a:endParaRPr b="0" i="0" sz="1400" u="none" cap="none" strike="noStrike">
                  <a:solidFill>
                    <a:srgbClr val="0097A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9" name="Google Shape;1009;p42"/>
              <p:cNvSpPr txBox="1"/>
              <p:nvPr/>
            </p:nvSpPr>
            <p:spPr>
              <a:xfrm>
                <a:off x="3223575" y="1124150"/>
                <a:ext cx="20109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b="1" i="0" lang="en" sz="2200" u="none" cap="none" strike="noStrike">
                    <a:solidFill>
                      <a:srgbClr val="0097A7"/>
                    </a:solidFill>
                    <a:latin typeface="Arial"/>
                    <a:ea typeface="Arial"/>
                    <a:cs typeface="Arial"/>
                    <a:sym typeface="Arial"/>
                  </a:rPr>
                  <a:t>2nd</a:t>
                </a:r>
                <a:endParaRPr b="0" i="0" sz="1400" u="none" cap="none" strike="noStrike">
                  <a:solidFill>
                    <a:srgbClr val="0097A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0" name="Google Shape;1010;p42"/>
              <p:cNvSpPr txBox="1"/>
              <p:nvPr/>
            </p:nvSpPr>
            <p:spPr>
              <a:xfrm>
                <a:off x="5185075" y="1099525"/>
                <a:ext cx="20109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b="1" i="0" lang="en" sz="2200" cap="none" strike="noStrike">
                    <a:solidFill>
                      <a:srgbClr val="0097A7"/>
                    </a:solidFill>
                    <a:latin typeface="Arial"/>
                    <a:ea typeface="Arial"/>
                    <a:cs typeface="Arial"/>
                    <a:sym typeface="Arial"/>
                  </a:rPr>
                  <a:t>UPDRS</a:t>
                </a:r>
                <a:endParaRPr b="0" i="0" sz="1400" cap="none" strike="noStrike">
                  <a:solidFill>
                    <a:srgbClr val="0097A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42"/>
              <p:cNvSpPr txBox="1"/>
              <p:nvPr/>
            </p:nvSpPr>
            <p:spPr>
              <a:xfrm>
                <a:off x="7419000" y="1124150"/>
                <a:ext cx="20109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b="1" i="0" lang="en" sz="2200" u="none" cap="none" strike="noStrike">
                    <a:solidFill>
                      <a:srgbClr val="0097A7"/>
                    </a:solidFill>
                    <a:latin typeface="Arial"/>
                    <a:ea typeface="Arial"/>
                    <a:cs typeface="Arial"/>
                    <a:sym typeface="Arial"/>
                  </a:rPr>
                  <a:t>vGRF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42"/>
              <p:cNvSpPr txBox="1"/>
              <p:nvPr/>
            </p:nvSpPr>
            <p:spPr>
              <a:xfrm>
                <a:off x="7251725" y="1510025"/>
                <a:ext cx="20109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AACCEE"/>
                    </a:solidFill>
                    <a:latin typeface="Arial"/>
                    <a:ea typeface="Arial"/>
                    <a:cs typeface="Arial"/>
                    <a:sym typeface="Arial"/>
                  </a:rPr>
                  <a:t>Objective gait biomarker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013" name="Google Shape;101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500" y="4059525"/>
            <a:ext cx="8434949" cy="562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4" name="Google Shape;1014;p42"/>
          <p:cNvGrpSpPr/>
          <p:nvPr/>
        </p:nvGrpSpPr>
        <p:grpSpPr>
          <a:xfrm>
            <a:off x="4797600" y="2024575"/>
            <a:ext cx="4161900" cy="1551125"/>
            <a:chOff x="4797600" y="2024575"/>
            <a:chExt cx="4161900" cy="1551125"/>
          </a:xfrm>
        </p:grpSpPr>
        <p:sp>
          <p:nvSpPr>
            <p:cNvPr id="1015" name="Google Shape;1015;p42"/>
            <p:cNvSpPr/>
            <p:nvPr/>
          </p:nvSpPr>
          <p:spPr>
            <a:xfrm>
              <a:off x="4797600" y="2349300"/>
              <a:ext cx="4161900" cy="1226400"/>
            </a:xfrm>
            <a:prstGeom prst="roundRect">
              <a:avLst>
                <a:gd fmla="val 28000" name="adj"/>
              </a:avLst>
            </a:prstGeom>
            <a:solidFill>
              <a:srgbClr val="041E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i="1" lang="en">
                  <a:solidFill>
                    <a:schemeClr val="lt1"/>
                  </a:solidFill>
                </a:rPr>
                <a:t>"Can TSFresh-derived bilateral gait features reliably distinguish PD patients from healthy controls using classical ML classifiers?"</a:t>
              </a:r>
              <a:endParaRPr sz="1800"/>
            </a:p>
          </p:txBody>
        </p:sp>
        <p:sp>
          <p:nvSpPr>
            <p:cNvPr id="1016" name="Google Shape;1016;p42"/>
            <p:cNvSpPr txBox="1"/>
            <p:nvPr/>
          </p:nvSpPr>
          <p:spPr>
            <a:xfrm>
              <a:off x="4907025" y="2024575"/>
              <a:ext cx="28968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300">
                  <a:solidFill>
                    <a:schemeClr val="accent2"/>
                  </a:solidFill>
                </a:rPr>
                <a:t>Research Question 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sp>
        <p:nvSpPr>
          <p:cNvPr id="1017" name="Google Shape;1017;p42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  <p:sp>
        <p:nvSpPr>
          <p:cNvPr id="1018" name="Google Shape;1018;p42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43"/>
          <p:cNvSpPr/>
          <p:nvPr/>
        </p:nvSpPr>
        <p:spPr>
          <a:xfrm>
            <a:off x="3274025" y="1046675"/>
            <a:ext cx="2757900" cy="354000"/>
          </a:xfrm>
          <a:prstGeom prst="roundRect">
            <a:avLst>
              <a:gd fmla="val 28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43"/>
          <p:cNvSpPr txBox="1"/>
          <p:nvPr>
            <p:ph type="title"/>
          </p:nvPr>
        </p:nvSpPr>
        <p:spPr>
          <a:xfrm>
            <a:off x="388739" y="225889"/>
            <a:ext cx="5133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1025" name="Google Shape;1025;p43"/>
          <p:cNvSpPr txBox="1"/>
          <p:nvPr>
            <p:ph idx="3" type="body"/>
          </p:nvPr>
        </p:nvSpPr>
        <p:spPr>
          <a:xfrm>
            <a:off x="388738" y="515699"/>
            <a:ext cx="5133300" cy="1848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"/>
              <a:t>Existing Approaches to PD Detection from Gait</a:t>
            </a:r>
            <a:endParaRPr/>
          </a:p>
        </p:txBody>
      </p:sp>
      <p:sp>
        <p:nvSpPr>
          <p:cNvPr id="1026" name="Google Shape;1026;p43"/>
          <p:cNvSpPr txBox="1"/>
          <p:nvPr/>
        </p:nvSpPr>
        <p:spPr>
          <a:xfrm>
            <a:off x="583800" y="4314575"/>
            <a:ext cx="83133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6B7C93"/>
                </a:solidFill>
              </a:rPr>
              <a:t>[1] Trabassi, D. et al. (2022). "Machine Learning Approach to Support the Detection of Parkinson's Disease in IMU-Based Gait Analysis." Sensors, 22(10), 3700.  </a:t>
            </a:r>
            <a:endParaRPr i="1" sz="700">
              <a:solidFill>
                <a:srgbClr val="6B7C9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6B7C93"/>
                </a:solidFill>
              </a:rPr>
              <a:t>[2] Tsakanikas, V. et al. (2023). "Evaluating Gait Impairment in Parkinson's Disease from Instrumented Insole and IMU Sensor Data." Sensors, 23(8), 3902..   </a:t>
            </a:r>
            <a:endParaRPr i="1" sz="700">
              <a:solidFill>
                <a:srgbClr val="6B7C9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i="1" lang="en" sz="700">
                <a:solidFill>
                  <a:srgbClr val="6B7C93"/>
                </a:solidFill>
              </a:rPr>
              <a:t>[3] Tiwari, S. et al. (2025). "Gait-Based Parkinson's Disease Diagnosis and Severity Classification Using Force Sensors and Machine Learning." Scientific Reports.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027" name="Google Shape;1027;p43"/>
          <p:cNvGrpSpPr/>
          <p:nvPr/>
        </p:nvGrpSpPr>
        <p:grpSpPr>
          <a:xfrm>
            <a:off x="388750" y="1037938"/>
            <a:ext cx="3183075" cy="2538985"/>
            <a:chOff x="388750" y="1037938"/>
            <a:chExt cx="3183075" cy="2538985"/>
          </a:xfrm>
        </p:grpSpPr>
        <p:sp>
          <p:nvSpPr>
            <p:cNvPr id="1028" name="Google Shape;1028;p43"/>
            <p:cNvSpPr/>
            <p:nvPr/>
          </p:nvSpPr>
          <p:spPr>
            <a:xfrm>
              <a:off x="402700" y="1037938"/>
              <a:ext cx="2757900" cy="354000"/>
            </a:xfrm>
            <a:prstGeom prst="roundRect">
              <a:avLst>
                <a:gd fmla="val 28000" name="adj"/>
              </a:avLst>
            </a:prstGeom>
            <a:solidFill>
              <a:srgbClr val="041E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43"/>
            <p:cNvSpPr/>
            <p:nvPr/>
          </p:nvSpPr>
          <p:spPr>
            <a:xfrm>
              <a:off x="388750" y="1283123"/>
              <a:ext cx="2757900" cy="2293800"/>
            </a:xfrm>
            <a:prstGeom prst="roundRect">
              <a:avLst>
                <a:gd fmla="val 28000" name="adj"/>
              </a:avLst>
            </a:prstGeom>
            <a:solidFill>
              <a:schemeClr val="lt2"/>
            </a:solidFill>
            <a:ln cap="flat" cmpd="sng" w="9525">
              <a:solidFill>
                <a:srgbClr val="D8E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43"/>
            <p:cNvSpPr txBox="1"/>
            <p:nvPr/>
          </p:nvSpPr>
          <p:spPr>
            <a:xfrm>
              <a:off x="489250" y="1648700"/>
              <a:ext cx="891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8899AA"/>
                  </a:solidFill>
                </a:rPr>
                <a:t>SIGNAL</a:t>
              </a:r>
              <a:endParaRPr/>
            </a:p>
          </p:txBody>
        </p:sp>
        <p:sp>
          <p:nvSpPr>
            <p:cNvPr id="1031" name="Google Shape;1031;p43"/>
            <p:cNvSpPr txBox="1"/>
            <p:nvPr/>
          </p:nvSpPr>
          <p:spPr>
            <a:xfrm>
              <a:off x="1131825" y="1679450"/>
              <a:ext cx="2378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" sz="950">
                  <a:solidFill>
                    <a:srgbClr val="445566"/>
                  </a:solidFill>
                </a:rPr>
                <a:t>Single trunk IMU (lower back, L5)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43"/>
            <p:cNvSpPr txBox="1"/>
            <p:nvPr/>
          </p:nvSpPr>
          <p:spPr>
            <a:xfrm>
              <a:off x="1131825" y="1849025"/>
              <a:ext cx="23781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" sz="950">
                  <a:solidFill>
                    <a:srgbClr val="445566"/>
                  </a:solidFill>
                </a:rPr>
                <a:t>7 hand-picked — stride time, </a:t>
              </a:r>
              <a:endParaRPr sz="950">
                <a:solidFill>
                  <a:srgbClr val="445566"/>
                </a:solidFill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" sz="950">
                  <a:solidFill>
                    <a:srgbClr val="445566"/>
                  </a:solidFill>
                </a:rPr>
                <a:t>cadence, pelvic kinematics, stability indexes.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43"/>
            <p:cNvSpPr txBox="1"/>
            <p:nvPr/>
          </p:nvSpPr>
          <p:spPr>
            <a:xfrm>
              <a:off x="474600" y="1902300"/>
              <a:ext cx="11364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8899AA"/>
                  </a:solidFill>
                  <a:latin typeface="Arial"/>
                  <a:ea typeface="Arial"/>
                  <a:cs typeface="Arial"/>
                  <a:sym typeface="Arial"/>
                </a:rPr>
                <a:t>FEATURES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43"/>
            <p:cNvSpPr txBox="1"/>
            <p:nvPr/>
          </p:nvSpPr>
          <p:spPr>
            <a:xfrm>
              <a:off x="446250" y="2375825"/>
              <a:ext cx="119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8899AA"/>
                  </a:solidFill>
                  <a:latin typeface="Arial"/>
                  <a:ea typeface="Arial"/>
                  <a:cs typeface="Arial"/>
                  <a:sym typeface="Arial"/>
                </a:rPr>
                <a:t>ACCURACY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43"/>
            <p:cNvSpPr txBox="1"/>
            <p:nvPr/>
          </p:nvSpPr>
          <p:spPr>
            <a:xfrm>
              <a:off x="1193725" y="2333250"/>
              <a:ext cx="2378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lang="en" sz="950">
                  <a:solidFill>
                    <a:srgbClr val="041E42"/>
                  </a:solidFill>
                </a:rPr>
                <a:t>&gt;80% RF — single sensor only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43"/>
            <p:cNvSpPr txBox="1"/>
            <p:nvPr/>
          </p:nvSpPr>
          <p:spPr>
            <a:xfrm>
              <a:off x="509450" y="2691000"/>
              <a:ext cx="2433600" cy="607800"/>
            </a:xfrm>
            <a:prstGeom prst="rect">
              <a:avLst/>
            </a:prstGeom>
            <a:solidFill>
              <a:srgbClr val="FFF3E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4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75"/>
                <a:buFont typeface="Arial"/>
                <a:buNone/>
              </a:pPr>
              <a:r>
                <a:rPr lang="en" sz="850">
                  <a:solidFill>
                    <a:srgbClr val="7D4D0E"/>
                  </a:solidFill>
                </a:rPr>
                <a:t>Manual feature selection — no bilateral foot signal; multicollinearity risk; not reproducible across datasets</a:t>
              </a:r>
              <a:endParaRPr sz="85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700">
                <a:solidFill>
                  <a:srgbClr val="6B7C93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 sz="700">
                  <a:solidFill>
                    <a:srgbClr val="6B7C93"/>
                  </a:solidFill>
                </a:rPr>
                <a:t>[1] Trabassi et al. (Sensors, 2022).  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sp>
        <p:nvSpPr>
          <p:cNvPr id="1037" name="Google Shape;1037;p43"/>
          <p:cNvSpPr txBox="1"/>
          <p:nvPr/>
        </p:nvSpPr>
        <p:spPr>
          <a:xfrm>
            <a:off x="551125" y="985200"/>
            <a:ext cx="254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Handcrafted Features + Classical ML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038" name="Google Shape;1038;p43"/>
          <p:cNvGrpSpPr/>
          <p:nvPr/>
        </p:nvGrpSpPr>
        <p:grpSpPr>
          <a:xfrm>
            <a:off x="492475" y="3730538"/>
            <a:ext cx="8384100" cy="541800"/>
            <a:chOff x="492475" y="3730538"/>
            <a:chExt cx="8384100" cy="541800"/>
          </a:xfrm>
        </p:grpSpPr>
        <p:sp>
          <p:nvSpPr>
            <p:cNvPr id="1039" name="Google Shape;1039;p43"/>
            <p:cNvSpPr/>
            <p:nvPr/>
          </p:nvSpPr>
          <p:spPr>
            <a:xfrm>
              <a:off x="492475" y="3730538"/>
              <a:ext cx="8384100" cy="541800"/>
            </a:xfrm>
            <a:prstGeom prst="roundRect">
              <a:avLst>
                <a:gd fmla="val 28000" name="adj"/>
              </a:avLst>
            </a:prstGeom>
            <a:solidFill>
              <a:srgbClr val="041E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0" name="Google Shape;1040;p43"/>
            <p:cNvGrpSpPr/>
            <p:nvPr/>
          </p:nvGrpSpPr>
          <p:grpSpPr>
            <a:xfrm>
              <a:off x="543175" y="3730550"/>
              <a:ext cx="8245050" cy="457800"/>
              <a:chOff x="543175" y="3730550"/>
              <a:chExt cx="8245050" cy="457800"/>
            </a:xfrm>
          </p:grpSpPr>
          <p:sp>
            <p:nvSpPr>
              <p:cNvPr id="1041" name="Google Shape;1041;p43"/>
              <p:cNvSpPr txBox="1"/>
              <p:nvPr/>
            </p:nvSpPr>
            <p:spPr>
              <a:xfrm>
                <a:off x="1193725" y="3730550"/>
                <a:ext cx="7594500" cy="45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4358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TSFresh comprehensive features on bilateral vGRF  →  automated descriptors (autocorrelation, entropy, energy, RMS)  →  RF &amp; SVM classifiers with nested CV  →  rigorous, interpretable baseline for future Mamba / SSM comparison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43"/>
              <p:cNvSpPr txBox="1"/>
              <p:nvPr/>
            </p:nvSpPr>
            <p:spPr>
              <a:xfrm>
                <a:off x="543175" y="3774300"/>
                <a:ext cx="5373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b="1" i="0" lang="en" sz="850" u="none" cap="none" strike="noStrike">
                    <a:solidFill>
                      <a:srgbClr val="0097A7"/>
                    </a:solidFill>
                    <a:latin typeface="Arial"/>
                    <a:ea typeface="Arial"/>
                    <a:cs typeface="Arial"/>
                    <a:sym typeface="Arial"/>
                  </a:rPr>
                  <a:t>THIS WORK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43" name="Google Shape;1043;p43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  <p:sp>
        <p:nvSpPr>
          <p:cNvPr id="1044" name="Google Shape;1044;p43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5" name="Google Shape;1045;p43"/>
          <p:cNvSpPr/>
          <p:nvPr/>
        </p:nvSpPr>
        <p:spPr>
          <a:xfrm>
            <a:off x="6145350" y="1046675"/>
            <a:ext cx="2757900" cy="354000"/>
          </a:xfrm>
          <a:prstGeom prst="roundRect">
            <a:avLst>
              <a:gd fmla="val 28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43"/>
          <p:cNvSpPr/>
          <p:nvPr/>
        </p:nvSpPr>
        <p:spPr>
          <a:xfrm>
            <a:off x="6145350" y="1324250"/>
            <a:ext cx="2757900" cy="229380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43"/>
          <p:cNvSpPr txBox="1"/>
          <p:nvPr/>
        </p:nvSpPr>
        <p:spPr>
          <a:xfrm>
            <a:off x="6337375" y="10106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Ensemble ML, No Rigorous Validation</a:t>
            </a:r>
            <a:endParaRPr/>
          </a:p>
        </p:txBody>
      </p:sp>
      <p:sp>
        <p:nvSpPr>
          <p:cNvPr id="1048" name="Google Shape;1048;p43"/>
          <p:cNvSpPr txBox="1"/>
          <p:nvPr/>
        </p:nvSpPr>
        <p:spPr>
          <a:xfrm>
            <a:off x="6236600" y="1725825"/>
            <a:ext cx="891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8899AA"/>
                </a:solidFill>
              </a:rPr>
              <a:t>SIGNAL</a:t>
            </a:r>
            <a:endParaRPr/>
          </a:p>
        </p:txBody>
      </p:sp>
      <p:sp>
        <p:nvSpPr>
          <p:cNvPr id="1049" name="Google Shape;1049;p43"/>
          <p:cNvSpPr txBox="1"/>
          <p:nvPr/>
        </p:nvSpPr>
        <p:spPr>
          <a:xfrm>
            <a:off x="6765900" y="1764225"/>
            <a:ext cx="237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445566"/>
                </a:solidFill>
              </a:rPr>
              <a:t>PhysioNet vGRF — same dataset </a:t>
            </a:r>
            <a:endParaRPr sz="950">
              <a:solidFill>
                <a:srgbClr val="44556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445566"/>
                </a:solidFill>
              </a:rPr>
              <a:t>(166 subjects)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43"/>
          <p:cNvSpPr txBox="1"/>
          <p:nvPr/>
        </p:nvSpPr>
        <p:spPr>
          <a:xfrm>
            <a:off x="6827600" y="2094800"/>
            <a:ext cx="2378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445566"/>
                </a:solidFill>
              </a:rPr>
              <a:t>Hypertuned RF + Ensemble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43"/>
          <p:cNvSpPr txBox="1"/>
          <p:nvPr/>
        </p:nvSpPr>
        <p:spPr>
          <a:xfrm>
            <a:off x="6209150" y="2110238"/>
            <a:ext cx="113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43"/>
          <p:cNvSpPr txBox="1"/>
          <p:nvPr/>
        </p:nvSpPr>
        <p:spPr>
          <a:xfrm>
            <a:off x="6871775" y="2364025"/>
            <a:ext cx="2378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lang="en" sz="950">
                <a:solidFill>
                  <a:srgbClr val="041E42"/>
                </a:solidFill>
              </a:rPr>
              <a:t>86% — but no nested CV; </a:t>
            </a:r>
            <a:endParaRPr b="1" sz="950">
              <a:solidFill>
                <a:srgbClr val="041E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lang="en" sz="950">
                <a:solidFill>
                  <a:srgbClr val="041E42"/>
                </a:solidFill>
              </a:rPr>
              <a:t>conflates binary classification </a:t>
            </a:r>
            <a:endParaRPr b="1" sz="950">
              <a:solidFill>
                <a:srgbClr val="041E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lang="en" sz="950">
                <a:solidFill>
                  <a:srgbClr val="041E42"/>
                </a:solidFill>
              </a:rPr>
              <a:t>with severity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43"/>
          <p:cNvSpPr/>
          <p:nvPr/>
        </p:nvSpPr>
        <p:spPr>
          <a:xfrm>
            <a:off x="3274025" y="1303375"/>
            <a:ext cx="2757900" cy="229380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43"/>
          <p:cNvSpPr txBox="1"/>
          <p:nvPr/>
        </p:nvSpPr>
        <p:spPr>
          <a:xfrm>
            <a:off x="3481738" y="1020188"/>
            <a:ext cx="22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Unilateral / Per-Sensor Analysis</a:t>
            </a:r>
            <a:endParaRPr/>
          </a:p>
        </p:txBody>
      </p:sp>
      <p:sp>
        <p:nvSpPr>
          <p:cNvPr id="1055" name="Google Shape;1055;p43"/>
          <p:cNvSpPr txBox="1"/>
          <p:nvPr/>
        </p:nvSpPr>
        <p:spPr>
          <a:xfrm>
            <a:off x="3905813" y="1694738"/>
            <a:ext cx="2100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rPr lang="en" sz="950">
                <a:solidFill>
                  <a:srgbClr val="445566"/>
                </a:solidFill>
              </a:rPr>
              <a:t>Pressure insole + IMU, evaluated per sensor independently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56" name="Google Shape;1056;p43"/>
          <p:cNvSpPr txBox="1"/>
          <p:nvPr/>
        </p:nvSpPr>
        <p:spPr>
          <a:xfrm>
            <a:off x="3324275" y="1678575"/>
            <a:ext cx="891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8899AA"/>
                </a:solidFill>
              </a:rPr>
              <a:t>SIGNAL</a:t>
            </a:r>
            <a:endParaRPr/>
          </a:p>
        </p:txBody>
      </p:sp>
      <p:sp>
        <p:nvSpPr>
          <p:cNvPr id="1057" name="Google Shape;1057;p43"/>
          <p:cNvSpPr txBox="1"/>
          <p:nvPr/>
        </p:nvSpPr>
        <p:spPr>
          <a:xfrm>
            <a:off x="3316950" y="2079413"/>
            <a:ext cx="113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43"/>
          <p:cNvSpPr txBox="1"/>
          <p:nvPr/>
        </p:nvSpPr>
        <p:spPr>
          <a:xfrm>
            <a:off x="3302775" y="2443050"/>
            <a:ext cx="119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43"/>
          <p:cNvSpPr txBox="1"/>
          <p:nvPr/>
        </p:nvSpPr>
        <p:spPr>
          <a:xfrm>
            <a:off x="3913425" y="2045813"/>
            <a:ext cx="237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445566"/>
                </a:solidFill>
              </a:rPr>
              <a:t>Spatiotemporal gait parameters per </a:t>
            </a:r>
            <a:endParaRPr sz="950">
              <a:solidFill>
                <a:srgbClr val="44556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445566"/>
                </a:solidFill>
              </a:rPr>
              <a:t>leg separately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43"/>
          <p:cNvSpPr txBox="1"/>
          <p:nvPr/>
        </p:nvSpPr>
        <p:spPr>
          <a:xfrm>
            <a:off x="3882775" y="2430725"/>
            <a:ext cx="237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lang="en" sz="950">
                <a:solidFill>
                  <a:srgbClr val="041E42"/>
                </a:solidFill>
              </a:rPr>
              <a:t> Not directly reported for binary </a:t>
            </a:r>
            <a:endParaRPr b="1" sz="950">
              <a:solidFill>
                <a:srgbClr val="041E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lang="en" sz="950">
                <a:solidFill>
                  <a:srgbClr val="041E42"/>
                </a:solidFill>
              </a:rPr>
              <a:t> PD vs HC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43"/>
          <p:cNvSpPr txBox="1"/>
          <p:nvPr/>
        </p:nvSpPr>
        <p:spPr>
          <a:xfrm>
            <a:off x="3502800" y="2770725"/>
            <a:ext cx="2475300" cy="6099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7D4D0E"/>
                </a:solidFill>
              </a:rPr>
              <a:t>Bilateral gait asymmetry not captured — sensors evaluated independently, no cross-foot coordination modelled</a:t>
            </a:r>
            <a:r>
              <a:rPr lang="en" sz="850">
                <a:solidFill>
                  <a:schemeClr val="dk1"/>
                </a:solidFill>
              </a:rPr>
              <a:t>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6B7C93"/>
                </a:solidFill>
              </a:rPr>
              <a:t>                  [2] Tsakanikas et al. (Sensors, 2023).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62" name="Google Shape;1062;p43"/>
          <p:cNvSpPr txBox="1"/>
          <p:nvPr/>
        </p:nvSpPr>
        <p:spPr>
          <a:xfrm>
            <a:off x="6281750" y="2863950"/>
            <a:ext cx="2475300" cy="577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7D4D0E"/>
                </a:solidFill>
              </a:rPr>
              <a:t>Results not comparable to subject-level binary classification; optimistic estimate without unbiased validation</a:t>
            </a:r>
            <a:endParaRPr>
              <a:solidFill>
                <a:srgbClr val="7D4D0E"/>
              </a:solidFill>
            </a:endParaRPr>
          </a:p>
        </p:txBody>
      </p:sp>
      <p:sp>
        <p:nvSpPr>
          <p:cNvPr id="1063" name="Google Shape;1063;p43"/>
          <p:cNvSpPr txBox="1"/>
          <p:nvPr/>
        </p:nvSpPr>
        <p:spPr>
          <a:xfrm>
            <a:off x="6699850" y="3380625"/>
            <a:ext cx="18213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6B7C93"/>
                </a:solidFill>
              </a:rPr>
              <a:t>[3] Tiwari et al. (Scientific Reports, 2025).</a:t>
            </a:r>
            <a:endParaRPr i="1" sz="700">
              <a:solidFill>
                <a:srgbClr val="6B7C93"/>
              </a:solidFill>
            </a:endParaRPr>
          </a:p>
        </p:txBody>
      </p:sp>
      <p:sp>
        <p:nvSpPr>
          <p:cNvPr id="1064" name="Google Shape;1064;p43"/>
          <p:cNvSpPr txBox="1"/>
          <p:nvPr/>
        </p:nvSpPr>
        <p:spPr>
          <a:xfrm>
            <a:off x="6209150" y="2402575"/>
            <a:ext cx="754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4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070" name="Google Shape;1070;p44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1" name="Google Shape;1071;p44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</a:pPr>
            <a:r>
              <a:rPr lang="en"/>
              <a:t>Dataset Overview: PhysioNet</a:t>
            </a:r>
            <a:endParaRPr/>
          </a:p>
        </p:txBody>
      </p:sp>
      <p:sp>
        <p:nvSpPr>
          <p:cNvPr id="1072" name="Google Shape;1072;p44"/>
          <p:cNvSpPr txBox="1"/>
          <p:nvPr/>
        </p:nvSpPr>
        <p:spPr>
          <a:xfrm>
            <a:off x="443750" y="1122825"/>
            <a:ext cx="83133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</a:rPr>
              <a:t>Conta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 </a:t>
            </a:r>
            <a:r>
              <a:rPr b="1" lang="en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vertical ground reaction force (vGRF)</a:t>
            </a:r>
            <a:r>
              <a:rPr lang="en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signals from 8 sensors per foot (16 total channels).</a:t>
            </a:r>
            <a:endParaRPr sz="1500"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1" lang="en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Recording duration</a:t>
            </a: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~2 minutes of natural walking on an 8-force-plate walkway.</a:t>
            </a:r>
            <a:endParaRPr sz="1500"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1" lang="en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Sampling frequency</a:t>
            </a: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100 Hz (</a:t>
            </a:r>
            <a:r>
              <a:rPr lang="en" sz="1500">
                <a:solidFill>
                  <a:schemeClr val="dk1"/>
                </a:solidFill>
              </a:rPr>
              <a:t>≈ 12 000 samples per foot, ≈ 24 000 total per subject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500"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1" lang="en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Clinical evaluation</a:t>
            </a: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Unified Parkinson’s Disease Rating Scale (UPDRS) for PD subjects.</a:t>
            </a:r>
            <a:endParaRPr sz="1500">
              <a:solidFill>
                <a:schemeClr val="dk1"/>
              </a:solidFill>
            </a:endParaRPr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</a:rPr>
              <a:t>Higher UPDRS scores indicate greater motor symptom severity.</a:t>
            </a:r>
            <a:endParaRPr sz="1500">
              <a:solidFill>
                <a:schemeClr val="dk1"/>
              </a:solidFill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500">
                <a:solidFill>
                  <a:schemeClr val="dk1"/>
                </a:solidFill>
              </a:rPr>
              <a:t>Only usual-walking trials (‘01’) were used to ensure consistent gait conditions.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44"/>
          <p:cNvSpPr txBox="1"/>
          <p:nvPr>
            <p:ph idx="3" type="body"/>
          </p:nvPr>
        </p:nvSpPr>
        <p:spPr>
          <a:xfrm>
            <a:off x="388750" y="515700"/>
            <a:ext cx="5899200" cy="1848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Gait in Parkinson’s Disease Database (</a:t>
            </a:r>
            <a:r>
              <a:rPr i="1" lang="en">
                <a:solidFill>
                  <a:schemeClr val="dk1"/>
                </a:solidFill>
              </a:rPr>
              <a:t>166 subjects — 93 PD, 73 healthy controls)</a:t>
            </a:r>
            <a:endParaRPr/>
          </a:p>
        </p:txBody>
      </p:sp>
      <p:pic>
        <p:nvPicPr>
          <p:cNvPr id="1074" name="Google Shape;1074;p44" title="descriptive_stats_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863" y="2949300"/>
            <a:ext cx="8064374" cy="17012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44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45"/>
          <p:cNvSpPr txBox="1"/>
          <p:nvPr>
            <p:ph idx="11" type="ftr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081" name="Google Shape;1081;p45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2" name="Google Shape;1082;p45"/>
          <p:cNvSpPr txBox="1"/>
          <p:nvPr>
            <p:ph type="title"/>
          </p:nvPr>
        </p:nvSpPr>
        <p:spPr>
          <a:xfrm>
            <a:off x="388739" y="225889"/>
            <a:ext cx="51333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</a:pPr>
            <a:r>
              <a:rPr lang="en"/>
              <a:t>Dataset Overview: PhysioNet</a:t>
            </a:r>
            <a:endParaRPr/>
          </a:p>
        </p:txBody>
      </p:sp>
      <p:sp>
        <p:nvSpPr>
          <p:cNvPr id="1083" name="Google Shape;1083;p45"/>
          <p:cNvSpPr txBox="1"/>
          <p:nvPr>
            <p:ph idx="3" type="body"/>
          </p:nvPr>
        </p:nvSpPr>
        <p:spPr>
          <a:xfrm>
            <a:off x="388750" y="515700"/>
            <a:ext cx="5899200" cy="1848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Gait in Parkinson’s Disease Database (</a:t>
            </a:r>
            <a:r>
              <a:rPr i="1" lang="en">
                <a:solidFill>
                  <a:schemeClr val="dk1"/>
                </a:solidFill>
              </a:rPr>
              <a:t>166 subjects — 93 PD, 73 healthy controls)</a:t>
            </a:r>
            <a:endParaRPr/>
          </a:p>
        </p:txBody>
      </p:sp>
      <p:sp>
        <p:nvSpPr>
          <p:cNvPr id="1084" name="Google Shape;1084;p45"/>
          <p:cNvSpPr txBox="1"/>
          <p:nvPr/>
        </p:nvSpPr>
        <p:spPr>
          <a:xfrm>
            <a:off x="246375" y="3491350"/>
            <a:ext cx="3276900" cy="1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Male PD patients show slightly higher UPDRS scores and greater variability than females (p = 0.049; Cliff’s δ = 0.25, small effect), </a:t>
            </a:r>
            <a:r>
              <a:rPr lang="en">
                <a:solidFill>
                  <a:schemeClr val="dk1"/>
                </a:solidFill>
              </a:rPr>
              <a:t>indicating marginally stronger motor impairment.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5" name="Google Shape;1085;p45"/>
          <p:cNvSpPr txBox="1"/>
          <p:nvPr/>
        </p:nvSpPr>
        <p:spPr>
          <a:xfrm>
            <a:off x="3464050" y="3221150"/>
            <a:ext cx="28239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Balanced dataset with slightly higher representation of male PD participants.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6" name="Google Shape;1086;p45"/>
          <p:cNvSpPr txBox="1"/>
          <p:nvPr/>
        </p:nvSpPr>
        <p:spPr>
          <a:xfrm>
            <a:off x="6586975" y="3273900"/>
            <a:ext cx="24705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PD and HC groups are closely age-matched, minimizing demographic confounds.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87" name="Google Shape;1087;p45" title="sex_distribu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2375" y="1054425"/>
            <a:ext cx="3179249" cy="221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45" title="age_distribu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2000" y="1221575"/>
            <a:ext cx="3101998" cy="199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45" title="updrs_boxplot_pd_statsbelow.png"/>
          <p:cNvPicPr preferRelativeResize="0"/>
          <p:nvPr/>
        </p:nvPicPr>
        <p:blipFill rotWithShape="1">
          <a:blip r:embed="rId6">
            <a:alphaModFix/>
          </a:blip>
          <a:srcRect b="961" l="0" r="0" t="961"/>
          <a:stretch/>
        </p:blipFill>
        <p:spPr>
          <a:xfrm>
            <a:off x="92550" y="1098050"/>
            <a:ext cx="2961500" cy="24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45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46"/>
          <p:cNvSpPr txBox="1"/>
          <p:nvPr>
            <p:ph type="title"/>
          </p:nvPr>
        </p:nvSpPr>
        <p:spPr>
          <a:xfrm>
            <a:off x="386975" y="102800"/>
            <a:ext cx="6576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</a:t>
            </a:r>
            <a:r>
              <a:rPr lang="en"/>
              <a:t>Vertical Ground Reaction Forces (</a:t>
            </a:r>
            <a:r>
              <a:rPr lang="en"/>
              <a:t>vGRF) Cycles : Parkinson’s Disease vs Healthy Control</a:t>
            </a:r>
            <a:endParaRPr/>
          </a:p>
        </p:txBody>
      </p:sp>
      <p:sp>
        <p:nvSpPr>
          <p:cNvPr id="1096" name="Google Shape;1096;p46"/>
          <p:cNvSpPr txBox="1"/>
          <p:nvPr/>
        </p:nvSpPr>
        <p:spPr>
          <a:xfrm>
            <a:off x="115825" y="3556250"/>
            <a:ext cx="9028200" cy="13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accent2"/>
                </a:solidFill>
              </a:rPr>
              <a:t>Parkinson’s Disease (SiPt29, UPDRS = 70, 72 y, 0.86 m/s)</a:t>
            </a:r>
            <a:r>
              <a:rPr b="1"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chemeClr val="dk1"/>
                </a:solidFill>
              </a:rPr>
              <a:t>Lower peak vGRF (near 1.27 × BW) and greater inter-limb asymmetry indicate reduced push-off force and impaired stance control, typical of bradykinetic gait.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accent2"/>
                </a:solidFill>
              </a:rPr>
              <a:t>Healthy Control (JuCo17, 65 y, 1.54 m/s)</a:t>
            </a:r>
            <a:r>
              <a:rPr b="1"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chemeClr val="dk1"/>
                </a:solidFill>
              </a:rPr>
              <a:t>Balanced, rhythmic vGRF cycles with peaks near 1.30 × BW reflect stable gait rhythm and efficient weight transfer between limbs.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accent2"/>
                </a:solidFill>
              </a:rPr>
              <a:t>Observation: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PD subject shows less consistent inter-limb timing and lower load transfer efficiency than HC, consistent with postural instability and reduced propulsion.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        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97" name="Google Shape;1097;p46"/>
          <p:cNvSpPr txBox="1"/>
          <p:nvPr/>
        </p:nvSpPr>
        <p:spPr>
          <a:xfrm>
            <a:off x="386975" y="601400"/>
            <a:ext cx="6666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5-seconds segment sampled at 100 Hz (8 sensors per foot) - Usual walking (walk 01)</a:t>
            </a:r>
            <a:endParaRPr/>
          </a:p>
        </p:txBody>
      </p:sp>
      <p:pic>
        <p:nvPicPr>
          <p:cNvPr id="1098" name="Google Shape;1098;p46" title="vgrf_PD_vs_HC_5s_usualwal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400" y="1036975"/>
            <a:ext cx="6576302" cy="2655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46"/>
          <p:cNvSpPr txBox="1"/>
          <p:nvPr/>
        </p:nvSpPr>
        <p:spPr>
          <a:xfrm rot="5399432">
            <a:off x="6627632" y="2204404"/>
            <a:ext cx="1817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1"/>
                </a:solidFill>
              </a:rPr>
              <a:t>BW stands for Body Weight</a:t>
            </a:r>
            <a:endParaRPr i="1" sz="900">
              <a:solidFill>
                <a:schemeClr val="dk1"/>
              </a:solidFill>
            </a:endParaRPr>
          </a:p>
        </p:txBody>
      </p:sp>
      <p:sp>
        <p:nvSpPr>
          <p:cNvPr id="1100" name="Google Shape;1100;p46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1" name="Google Shape;1101;p46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  <p:sp>
        <p:nvSpPr>
          <p:cNvPr id="1102" name="Google Shape;1102;p46"/>
          <p:cNvSpPr txBox="1"/>
          <p:nvPr>
            <p:ph idx="11" type="ftr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47"/>
          <p:cNvSpPr txBox="1"/>
          <p:nvPr>
            <p:ph type="title"/>
          </p:nvPr>
        </p:nvSpPr>
        <p:spPr>
          <a:xfrm>
            <a:off x="388739" y="121489"/>
            <a:ext cx="5133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Normalized vGRF Stride Comparison: Parkinson’s Disease vs Healthy Control</a:t>
            </a:r>
            <a:endParaRPr/>
          </a:p>
        </p:txBody>
      </p:sp>
      <p:sp>
        <p:nvSpPr>
          <p:cNvPr id="1108" name="Google Shape;1108;p47"/>
          <p:cNvSpPr txBox="1"/>
          <p:nvPr/>
        </p:nvSpPr>
        <p:spPr>
          <a:xfrm>
            <a:off x="316650" y="566425"/>
            <a:ext cx="6666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Normalized across 0–100% gait cycle, </a:t>
            </a:r>
            <a:r>
              <a:rPr b="1" lang="en" sz="1300">
                <a:solidFill>
                  <a:schemeClr val="dk1"/>
                </a:solidFill>
              </a:rPr>
              <a:t>right foot </a:t>
            </a:r>
            <a:r>
              <a:rPr lang="en" sz="1300">
                <a:solidFill>
                  <a:schemeClr val="dk1"/>
                </a:solidFill>
              </a:rPr>
              <a:t>(</a:t>
            </a:r>
            <a:r>
              <a:rPr i="1" lang="en" sz="1300">
                <a:solidFill>
                  <a:schemeClr val="dk1"/>
                </a:solidFill>
              </a:rPr>
              <a:t>SiPt29 vs JuCo17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/>
          </a:p>
        </p:txBody>
      </p:sp>
      <p:sp>
        <p:nvSpPr>
          <p:cNvPr id="1109" name="Google Shape;1109;p47"/>
          <p:cNvSpPr txBox="1"/>
          <p:nvPr>
            <p:ph idx="2" type="body"/>
          </p:nvPr>
        </p:nvSpPr>
        <p:spPr>
          <a:xfrm>
            <a:off x="5885850" y="1002050"/>
            <a:ext cx="3418800" cy="38193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normAutofit fontScale="25000"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5200"/>
              <a:t>PD subject</a:t>
            </a:r>
            <a:r>
              <a:rPr lang="en" sz="5200"/>
              <a:t> (</a:t>
            </a:r>
            <a:r>
              <a:rPr i="1" lang="en" sz="5200"/>
              <a:t>SiPt29</a:t>
            </a:r>
            <a:r>
              <a:rPr lang="en" sz="5200"/>
              <a:t>) shows lower and flatter vGRF throughout the stride → reduced loading and propulsion.</a:t>
            </a:r>
            <a:endParaRPr sz="5200"/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SzPct val="100000"/>
              <a:buChar char="●"/>
            </a:pPr>
            <a:r>
              <a:rPr b="1" lang="en" sz="5200"/>
              <a:t>Healthy Control</a:t>
            </a:r>
            <a:r>
              <a:rPr lang="en" sz="5200"/>
              <a:t> (</a:t>
            </a:r>
            <a:r>
              <a:rPr i="1" lang="en" sz="5200"/>
              <a:t>JuCo17</a:t>
            </a:r>
            <a:r>
              <a:rPr lang="en" sz="5200"/>
              <a:t>) retains the two-peak pattern (heel strike + push-off) → rhythmic, symmetric gait.</a:t>
            </a:r>
            <a:endParaRPr sz="5200"/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SzPct val="100000"/>
              <a:buChar char="●"/>
            </a:pPr>
            <a:r>
              <a:rPr lang="en" sz="5200"/>
              <a:t>PD displays merged peaks and greater variability (20–80 %) → unstable stance control.</a:t>
            </a:r>
            <a:endParaRPr sz="52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SzPct val="100000"/>
              <a:buChar char="●"/>
            </a:pPr>
            <a:r>
              <a:rPr b="1" lang="en" sz="5200"/>
              <a:t>Overall: PD gait = less amplitude, less symmetry, less efficiency.</a:t>
            </a:r>
            <a:endParaRPr b="1" sz="5200"/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47"/>
          <p:cNvSpPr/>
          <p:nvPr>
            <p:ph idx="4" type="pic"/>
          </p:nvPr>
        </p:nvSpPr>
        <p:spPr>
          <a:xfrm>
            <a:off x="5925110" y="225889"/>
            <a:ext cx="810000" cy="289800"/>
          </a:xfrm>
          <a:prstGeom prst="rect">
            <a:avLst/>
          </a:prstGeom>
        </p:spPr>
      </p:sp>
      <p:sp>
        <p:nvSpPr>
          <p:cNvPr id="1111" name="Google Shape;1111;p47"/>
          <p:cNvSpPr txBox="1"/>
          <p:nvPr/>
        </p:nvSpPr>
        <p:spPr>
          <a:xfrm>
            <a:off x="0" y="4151975"/>
            <a:ext cx="5885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Mean ± 1 SD across detected cycles per subject.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n denotes the number of detected gait cycles per subject used to compute the mean ± 1 SD curves.</a:t>
            </a:r>
            <a:endParaRPr i="1" sz="1200">
              <a:solidFill>
                <a:schemeClr val="dk1"/>
              </a:solidFill>
            </a:endParaRPr>
          </a:p>
        </p:txBody>
      </p:sp>
      <p:pic>
        <p:nvPicPr>
          <p:cNvPr id="1112" name="Google Shape;1112;p47" title="mean_normalized_stride_PD_vs_HC_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6900" y="1315101"/>
            <a:ext cx="6126623" cy="267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47"/>
          <p:cNvSpPr txBox="1"/>
          <p:nvPr>
            <p:ph idx="11" type="ftr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114" name="Google Shape;1114;p47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5" name="Google Shape;1115;p47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8"/>
          <p:cNvSpPr txBox="1"/>
          <p:nvPr>
            <p:ph type="title"/>
          </p:nvPr>
        </p:nvSpPr>
        <p:spPr>
          <a:xfrm>
            <a:off x="386977" y="121500"/>
            <a:ext cx="59118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 and PCA Preparation Pipeline</a:t>
            </a:r>
            <a:endParaRPr/>
          </a:p>
        </p:txBody>
      </p:sp>
      <p:sp>
        <p:nvSpPr>
          <p:cNvPr id="1121" name="Google Shape;1121;p48"/>
          <p:cNvSpPr txBox="1"/>
          <p:nvPr/>
        </p:nvSpPr>
        <p:spPr>
          <a:xfrm>
            <a:off x="290075" y="299950"/>
            <a:ext cx="63582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Transforming raw vGRF signals into normalized, subject-level feature representations suitable for dimensionality-reduction analysis.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1122" name="Google Shape;1122;p48"/>
          <p:cNvGraphicFramePr/>
          <p:nvPr/>
        </p:nvGraphicFramePr>
        <p:xfrm>
          <a:off x="386963" y="139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{B46F472D-10C1-430E-82E2-B048DEC9DADA}</a:tableStyleId>
              </a:tblPr>
              <a:tblGrid>
                <a:gridCol w="1344125"/>
                <a:gridCol w="3236150"/>
                <a:gridCol w="1584125"/>
              </a:tblGrid>
              <a:tr h="393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Step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Description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Key Parameters / Notes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40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1. Signal Composition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Summed 8 load-cell forces per foot → total vertical GRF (vGRF).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Units: Newtons (N)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2. Windowing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Sliding windows across each signal to capture local gait dynamics.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300 ms window</a:t>
                      </a:r>
                      <a:r>
                        <a:rPr lang="en" sz="8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150 ms step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52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3. Feature Extraction (TSFresh)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Extracted 60 + time-series descriptors (e.g., autocorrelation, energy, entropy, RMS).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Applied separately for 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Left</a:t>
                      </a:r>
                      <a:r>
                        <a:rPr lang="en" sz="80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Right</a:t>
                      </a:r>
                      <a:r>
                        <a:rPr lang="en" sz="800">
                          <a:solidFill>
                            <a:schemeClr val="dk1"/>
                          </a:solidFill>
                        </a:rPr>
                        <a:t> foot signals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43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4. Statistical Aggregation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Computed 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mean, standard deviation, skewness, kurtosis</a:t>
                      </a:r>
                      <a:r>
                        <a:rPr lang="en" sz="800">
                          <a:solidFill>
                            <a:schemeClr val="dk1"/>
                          </a:solidFill>
                        </a:rPr>
                        <a:t> across windows per subject × foot.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Produces one feature vector per subject × foot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43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5. Normalization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Z-score normalization applied column-wise to remove scaling bias before PCA/t-SNE.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52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6. Feature Set Variants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Built three matrices for visualization: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• Left Foot only • Right Foot only • Combined (L + R concatenated)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23" name="Google Shape;1123;p48"/>
          <p:cNvSpPr txBox="1"/>
          <p:nvPr/>
        </p:nvSpPr>
        <p:spPr>
          <a:xfrm>
            <a:off x="330700" y="980100"/>
            <a:ext cx="4046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2"/>
                </a:solidFill>
              </a:rPr>
              <a:t>Preprocessing and Feature Extraction Steps</a:t>
            </a:r>
            <a:endParaRPr b="1" sz="1300">
              <a:solidFill>
                <a:schemeClr val="accent2"/>
              </a:solidFill>
            </a:endParaRPr>
          </a:p>
        </p:txBody>
      </p:sp>
      <p:pic>
        <p:nvPicPr>
          <p:cNvPr id="1124" name="Google Shape;112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100" y="3618200"/>
            <a:ext cx="646050" cy="3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48"/>
          <p:cNvSpPr txBox="1"/>
          <p:nvPr/>
        </p:nvSpPr>
        <p:spPr>
          <a:xfrm>
            <a:off x="6551375" y="1221575"/>
            <a:ext cx="2171700" cy="3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accent2"/>
                </a:solidFill>
              </a:rPr>
              <a:t>Process Summary:</a:t>
            </a:r>
            <a:endParaRPr b="1" sz="13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accent2"/>
                </a:solidFill>
              </a:rPr>
              <a:t>Input</a:t>
            </a:r>
            <a:r>
              <a:rPr b="1" lang="en" sz="900">
                <a:solidFill>
                  <a:schemeClr val="dk1"/>
                </a:solidFill>
              </a:rPr>
              <a:t>:</a:t>
            </a:r>
            <a:r>
              <a:rPr lang="en" sz="900">
                <a:solidFill>
                  <a:schemeClr val="dk1"/>
                </a:solidFill>
              </a:rPr>
              <a:t> Raw vGRF (8 sensors / foot) sampled at 100 Hz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		⬇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</a:t>
            </a:r>
            <a:r>
              <a:rPr b="1" lang="en" sz="900">
                <a:solidFill>
                  <a:srgbClr val="073763"/>
                </a:solidFill>
              </a:rPr>
              <a:t>Segmentation</a:t>
            </a:r>
            <a:r>
              <a:rPr b="1" lang="en" sz="900">
                <a:solidFill>
                  <a:schemeClr val="dk1"/>
                </a:solidFill>
              </a:rPr>
              <a:t>:</a:t>
            </a:r>
            <a:r>
              <a:rPr lang="en" sz="900">
                <a:solidFill>
                  <a:schemeClr val="dk1"/>
                </a:solidFill>
              </a:rPr>
              <a:t> Sliding windows (300 ms window | 150 ms step)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		⬇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</a:t>
            </a:r>
            <a:r>
              <a:rPr b="1" lang="en" sz="900">
                <a:solidFill>
                  <a:schemeClr val="accent2"/>
                </a:solidFill>
              </a:rPr>
              <a:t>Feature Extraction</a:t>
            </a:r>
            <a:r>
              <a:rPr b="1" lang="en" sz="900">
                <a:solidFill>
                  <a:schemeClr val="dk1"/>
                </a:solidFill>
              </a:rPr>
              <a:t>:</a:t>
            </a:r>
            <a:r>
              <a:rPr lang="en" sz="900">
                <a:solidFill>
                  <a:schemeClr val="dk1"/>
                </a:solidFill>
              </a:rPr>
              <a:t> TSFresh (e.g., autocorrelation, energy, entropy, RMS)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		⬇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</a:t>
            </a:r>
            <a:r>
              <a:rPr b="1" lang="en" sz="900">
                <a:solidFill>
                  <a:schemeClr val="accent2"/>
                </a:solidFill>
              </a:rPr>
              <a:t>Aggregation</a:t>
            </a:r>
            <a:r>
              <a:rPr b="1" lang="en" sz="900">
                <a:solidFill>
                  <a:schemeClr val="dk1"/>
                </a:solidFill>
              </a:rPr>
              <a:t>:</a:t>
            </a:r>
            <a:r>
              <a:rPr lang="en" sz="900">
                <a:solidFill>
                  <a:schemeClr val="dk1"/>
                </a:solidFill>
              </a:rPr>
              <a:t> Mean | Standard Deviation | Skewness | Kurtosis. Aggregated per subject × foot → subject vector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		⬇</a:t>
            </a: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 </a:t>
            </a:r>
            <a:r>
              <a:rPr b="1" lang="en" sz="900">
                <a:solidFill>
                  <a:schemeClr val="accent2"/>
                </a:solidFill>
              </a:rPr>
              <a:t>Normalization &amp; Dim-Reduction:</a:t>
            </a:r>
            <a:r>
              <a:rPr lang="en" sz="900">
                <a:solidFill>
                  <a:schemeClr val="accent2"/>
                </a:solidFill>
              </a:rPr>
              <a:t> </a:t>
            </a:r>
            <a:r>
              <a:rPr lang="en" sz="900">
                <a:solidFill>
                  <a:schemeClr val="dk1"/>
                </a:solidFill>
              </a:rPr>
              <a:t>Z-score → PCA / t-SNE visualization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26" name="Google Shape;1126;p48"/>
          <p:cNvSpPr txBox="1"/>
          <p:nvPr>
            <p:ph idx="11" type="ftr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127" name="Google Shape;1127;p48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8" name="Google Shape;1128;p48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49"/>
          <p:cNvSpPr txBox="1"/>
          <p:nvPr>
            <p:ph idx="11" type="ftr"/>
          </p:nvPr>
        </p:nvSpPr>
        <p:spPr>
          <a:xfrm>
            <a:off x="388739" y="4976000"/>
            <a:ext cx="4102299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134" name="Google Shape;1134;p49"/>
          <p:cNvSpPr txBox="1"/>
          <p:nvPr>
            <p:ph idx="12" type="sldNum"/>
          </p:nvPr>
        </p:nvSpPr>
        <p:spPr>
          <a:xfrm>
            <a:off x="8611574" y="4976000"/>
            <a:ext cx="145473" cy="9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5" name="Google Shape;1135;p49"/>
          <p:cNvSpPr txBox="1"/>
          <p:nvPr>
            <p:ph type="title"/>
          </p:nvPr>
        </p:nvSpPr>
        <p:spPr>
          <a:xfrm>
            <a:off x="388738" y="225889"/>
            <a:ext cx="5133289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800"/>
              <a:buFont typeface="Arial"/>
              <a:buNone/>
            </a:pPr>
            <a:r>
              <a:rPr lang="en"/>
              <a:t>PCA Visualization of Extracted Gait Features</a:t>
            </a:r>
            <a:endParaRPr/>
          </a:p>
        </p:txBody>
      </p:sp>
      <p:sp>
        <p:nvSpPr>
          <p:cNvPr id="1136" name="Google Shape;1136;p49"/>
          <p:cNvSpPr txBox="1"/>
          <p:nvPr>
            <p:ph idx="4" type="body"/>
          </p:nvPr>
        </p:nvSpPr>
        <p:spPr>
          <a:xfrm>
            <a:off x="388752" y="515700"/>
            <a:ext cx="6105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None/>
            </a:pPr>
            <a:r>
              <a:rPr lang="en"/>
              <a:t>Evaluating how well TSFresh-derived gait features differentiate Parkinson’s Disease (PD) from Healthy Controls (HC) based on vGRF signals.</a:t>
            </a:r>
            <a:endParaRPr/>
          </a:p>
        </p:txBody>
      </p:sp>
      <p:pic>
        <p:nvPicPr>
          <p:cNvPr id="1137" name="Google Shape;1137;p49" title="Left_Foot_pc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825" y="1143026"/>
            <a:ext cx="3126523" cy="2431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49" title="Right_Foot_pc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8737" y="1172562"/>
            <a:ext cx="3126523" cy="243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49" title="Combined_LR_pca.png"/>
          <p:cNvPicPr preferRelativeResize="0"/>
          <p:nvPr/>
        </p:nvPicPr>
        <p:blipFill rotWithShape="1">
          <a:blip r:embed="rId5">
            <a:alphaModFix/>
          </a:blip>
          <a:srcRect b="2453" l="0" r="0" t="2453"/>
          <a:stretch/>
        </p:blipFill>
        <p:spPr>
          <a:xfrm>
            <a:off x="5870825" y="1172550"/>
            <a:ext cx="3197251" cy="2364952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49"/>
          <p:cNvSpPr txBox="1"/>
          <p:nvPr/>
        </p:nvSpPr>
        <p:spPr>
          <a:xfrm>
            <a:off x="388750" y="3537500"/>
            <a:ext cx="28188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PD subjects are more spread out than controls → showing </a:t>
            </a:r>
            <a:r>
              <a:rPr b="1" lang="en" sz="1100">
                <a:solidFill>
                  <a:schemeClr val="dk1"/>
                </a:solidFill>
              </a:rPr>
              <a:t>higher variability</a:t>
            </a:r>
            <a:r>
              <a:rPr lang="en" sz="1100">
                <a:solidFill>
                  <a:schemeClr val="dk1"/>
                </a:solidFill>
              </a:rPr>
              <a:t> and less stable force control.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could be linked to differences in how the affected side supports weight.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41" name="Google Shape;1141;p49"/>
          <p:cNvSpPr txBox="1"/>
          <p:nvPr/>
        </p:nvSpPr>
        <p:spPr>
          <a:xfrm>
            <a:off x="3386650" y="3561250"/>
            <a:ext cx="28869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Here, both groups overlap quite a bit.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</a:rPr>
              <a:t>right-foot features don’t show a clear difference</a:t>
            </a:r>
            <a:r>
              <a:rPr lang="en" sz="1100">
                <a:solidFill>
                  <a:schemeClr val="dk1"/>
                </a:solidFill>
              </a:rPr>
              <a:t>, maybe because some PD participants use this side to compensate while walking.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42" name="Google Shape;1142;p49"/>
          <p:cNvSpPr txBox="1"/>
          <p:nvPr/>
        </p:nvSpPr>
        <p:spPr>
          <a:xfrm>
            <a:off x="6314275" y="3581650"/>
            <a:ext cx="27537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both feet are combined, the groups separate more clearly → capturing </a:t>
            </a:r>
            <a:r>
              <a:rPr b="1" lang="en" sz="1100">
                <a:solidFill>
                  <a:schemeClr val="dk1"/>
                </a:solidFill>
              </a:rPr>
              <a:t>left–right coordination differences</a:t>
            </a:r>
            <a:r>
              <a:rPr lang="en" sz="1100">
                <a:solidFill>
                  <a:schemeClr val="dk1"/>
                </a:solidFill>
              </a:rPr>
              <a:t> and overall gait asymmetry.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43" name="Google Shape;1143;p49"/>
          <p:cNvSpPr txBox="1"/>
          <p:nvPr/>
        </p:nvSpPr>
        <p:spPr>
          <a:xfrm>
            <a:off x="368050" y="4488200"/>
            <a:ext cx="89241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Takeaway: </a:t>
            </a:r>
            <a:r>
              <a:rPr lang="en" sz="1100">
                <a:solidFill>
                  <a:schemeClr val="dk1"/>
                </a:solidFill>
              </a:rPr>
              <a:t>Left shows variability, right shows compensation, and combining both sides best highlights Parkinsonian gait asymmetry.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44" name="Google Shape;1144;p49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50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  <p:sp>
        <p:nvSpPr>
          <p:cNvPr id="1150" name="Google Shape;1150;p50"/>
          <p:cNvSpPr txBox="1"/>
          <p:nvPr>
            <p:ph idx="11" type="ftr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151" name="Google Shape;1151;p50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2" name="Google Shape;1152;p50"/>
          <p:cNvSpPr txBox="1"/>
          <p:nvPr>
            <p:ph type="title"/>
          </p:nvPr>
        </p:nvSpPr>
        <p:spPr>
          <a:xfrm>
            <a:off x="388739" y="135589"/>
            <a:ext cx="51333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Baseline Machine Learning Pipeline</a:t>
            </a:r>
            <a:endParaRPr/>
          </a:p>
        </p:txBody>
      </p:sp>
      <p:sp>
        <p:nvSpPr>
          <p:cNvPr id="1153" name="Google Shape;1153;p50"/>
          <p:cNvSpPr txBox="1"/>
          <p:nvPr>
            <p:ph idx="3" type="body"/>
          </p:nvPr>
        </p:nvSpPr>
        <p:spPr>
          <a:xfrm>
            <a:off x="93301" y="384900"/>
            <a:ext cx="56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70000" wrap="square" tIns="0">
            <a:spAutoFit/>
          </a:bodyPr>
          <a:lstStyle/>
          <a:p>
            <a: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Feature Matrix → StandardScaler → PCA → GridSearchCV → Evaluation</a:t>
            </a:r>
            <a:endParaRPr/>
          </a:p>
        </p:txBody>
      </p:sp>
      <p:sp>
        <p:nvSpPr>
          <p:cNvPr id="1154" name="Google Shape;1154;p50"/>
          <p:cNvSpPr/>
          <p:nvPr/>
        </p:nvSpPr>
        <p:spPr>
          <a:xfrm>
            <a:off x="280000" y="660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005F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50"/>
          <p:cNvSpPr txBox="1"/>
          <p:nvPr/>
        </p:nvSpPr>
        <p:spPr>
          <a:xfrm>
            <a:off x="305000" y="660000"/>
            <a:ext cx="129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1  INPUT</a:t>
            </a:r>
            <a:endParaRPr/>
          </a:p>
        </p:txBody>
      </p:sp>
      <p:sp>
        <p:nvSpPr>
          <p:cNvPr id="1156" name="Google Shape;1156;p50"/>
          <p:cNvSpPr txBox="1"/>
          <p:nvPr/>
        </p:nvSpPr>
        <p:spPr>
          <a:xfrm>
            <a:off x="1620000" y="740000"/>
            <a:ext cx="18000" cy="3000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50"/>
          <p:cNvSpPr txBox="1"/>
          <p:nvPr/>
        </p:nvSpPr>
        <p:spPr>
          <a:xfrm>
            <a:off x="1670000" y="660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TSFresh features — Left / Right / Combined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DDEF"/>
                </a:solidFill>
                <a:latin typeface="Arial"/>
                <a:ea typeface="Arial"/>
                <a:cs typeface="Arial"/>
                <a:sym typeface="Arial"/>
              </a:rPr>
              <a:t>Already aggregated at subject level</a:t>
            </a:r>
            <a:endParaRPr/>
          </a:p>
        </p:txBody>
      </p:sp>
      <p:sp>
        <p:nvSpPr>
          <p:cNvPr id="1158" name="Google Shape;1158;p50"/>
          <p:cNvSpPr/>
          <p:nvPr/>
        </p:nvSpPr>
        <p:spPr>
          <a:xfrm>
            <a:off x="2803000" y="1120000"/>
            <a:ext cx="540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50"/>
          <p:cNvSpPr/>
          <p:nvPr/>
        </p:nvSpPr>
        <p:spPr>
          <a:xfrm>
            <a:off x="280000" y="1315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50"/>
          <p:cNvSpPr txBox="1"/>
          <p:nvPr/>
        </p:nvSpPr>
        <p:spPr>
          <a:xfrm>
            <a:off x="305000" y="1315000"/>
            <a:ext cx="129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2  STRATIFIED CV</a:t>
            </a:r>
            <a:endParaRPr/>
          </a:p>
        </p:txBody>
      </p:sp>
      <p:sp>
        <p:nvSpPr>
          <p:cNvPr id="1161" name="Google Shape;1161;p50"/>
          <p:cNvSpPr txBox="1"/>
          <p:nvPr/>
        </p:nvSpPr>
        <p:spPr>
          <a:xfrm>
            <a:off x="1620000" y="1395000"/>
            <a:ext cx="18000" cy="3000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50"/>
          <p:cNvSpPr txBox="1"/>
          <p:nvPr/>
        </p:nvSpPr>
        <p:spPr>
          <a:xfrm>
            <a:off x="1670000" y="1315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Outer: 5-fold — balanced PD / HC per fold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DDEF"/>
                </a:solidFill>
                <a:latin typeface="Arial"/>
                <a:ea typeface="Arial"/>
                <a:cs typeface="Arial"/>
                <a:sym typeface="Arial"/>
              </a:rPr>
              <a:t>Inner: 3-fold GridSearchCV per fold</a:t>
            </a:r>
            <a:endParaRPr/>
          </a:p>
        </p:txBody>
      </p:sp>
      <p:sp>
        <p:nvSpPr>
          <p:cNvPr id="1163" name="Google Shape;1163;p50"/>
          <p:cNvSpPr/>
          <p:nvPr/>
        </p:nvSpPr>
        <p:spPr>
          <a:xfrm>
            <a:off x="2803000" y="1775000"/>
            <a:ext cx="540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50"/>
          <p:cNvSpPr/>
          <p:nvPr/>
        </p:nvSpPr>
        <p:spPr>
          <a:xfrm>
            <a:off x="280000" y="1970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50"/>
          <p:cNvSpPr txBox="1"/>
          <p:nvPr/>
        </p:nvSpPr>
        <p:spPr>
          <a:xfrm>
            <a:off x="305000" y="1970000"/>
            <a:ext cx="14340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3    STANDARDSCALER</a:t>
            </a:r>
            <a:endParaRPr sz="900"/>
          </a:p>
        </p:txBody>
      </p:sp>
      <p:sp>
        <p:nvSpPr>
          <p:cNvPr id="1166" name="Google Shape;1166;p50"/>
          <p:cNvSpPr txBox="1"/>
          <p:nvPr/>
        </p:nvSpPr>
        <p:spPr>
          <a:xfrm>
            <a:off x="1620000" y="2050000"/>
            <a:ext cx="18000" cy="3000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50"/>
          <p:cNvSpPr txBox="1"/>
          <p:nvPr/>
        </p:nvSpPr>
        <p:spPr>
          <a:xfrm>
            <a:off x="1670000" y="1970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Z-score normalisation fitted on train fold only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DDEF"/>
                </a:solidFill>
                <a:latin typeface="Arial"/>
                <a:ea typeface="Arial"/>
                <a:cs typeface="Arial"/>
                <a:sym typeface="Arial"/>
              </a:rPr>
              <a:t>Prevents information leakage to test fold</a:t>
            </a:r>
            <a:endParaRPr/>
          </a:p>
        </p:txBody>
      </p:sp>
      <p:sp>
        <p:nvSpPr>
          <p:cNvPr id="1168" name="Google Shape;1168;p50"/>
          <p:cNvSpPr/>
          <p:nvPr/>
        </p:nvSpPr>
        <p:spPr>
          <a:xfrm>
            <a:off x="2803000" y="2430000"/>
            <a:ext cx="540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50"/>
          <p:cNvSpPr/>
          <p:nvPr/>
        </p:nvSpPr>
        <p:spPr>
          <a:xfrm>
            <a:off x="280000" y="2625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1435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50"/>
          <p:cNvSpPr txBox="1"/>
          <p:nvPr/>
        </p:nvSpPr>
        <p:spPr>
          <a:xfrm>
            <a:off x="305000" y="2625000"/>
            <a:ext cx="129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4  PCA</a:t>
            </a:r>
            <a:endParaRPr/>
          </a:p>
        </p:txBody>
      </p:sp>
      <p:sp>
        <p:nvSpPr>
          <p:cNvPr id="1171" name="Google Shape;1171;p50"/>
          <p:cNvSpPr txBox="1"/>
          <p:nvPr/>
        </p:nvSpPr>
        <p:spPr>
          <a:xfrm>
            <a:off x="1620000" y="2705000"/>
            <a:ext cx="18000" cy="3000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50"/>
          <p:cNvSpPr txBox="1"/>
          <p:nvPr/>
        </p:nvSpPr>
        <p:spPr>
          <a:xfrm>
            <a:off x="1670000" y="2625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Fitted per fold on training data only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DDEF"/>
                </a:solidFill>
                <a:latin typeface="Arial"/>
                <a:ea typeface="Arial"/>
                <a:cs typeface="Arial"/>
                <a:sym typeface="Arial"/>
              </a:rPr>
              <a:t>Retains components explaining ~95% variance</a:t>
            </a:r>
            <a:endParaRPr/>
          </a:p>
        </p:txBody>
      </p:sp>
      <p:sp>
        <p:nvSpPr>
          <p:cNvPr id="1173" name="Google Shape;1173;p50"/>
          <p:cNvSpPr/>
          <p:nvPr/>
        </p:nvSpPr>
        <p:spPr>
          <a:xfrm>
            <a:off x="2803000" y="3085000"/>
            <a:ext cx="540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50"/>
          <p:cNvSpPr/>
          <p:nvPr/>
        </p:nvSpPr>
        <p:spPr>
          <a:xfrm>
            <a:off x="280000" y="3280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1435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50"/>
          <p:cNvSpPr txBox="1"/>
          <p:nvPr/>
        </p:nvSpPr>
        <p:spPr>
          <a:xfrm>
            <a:off x="305000" y="3280000"/>
            <a:ext cx="129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5  MODEL TRAINING</a:t>
            </a:r>
            <a:endParaRPr/>
          </a:p>
        </p:txBody>
      </p:sp>
      <p:sp>
        <p:nvSpPr>
          <p:cNvPr id="1176" name="Google Shape;1176;p50"/>
          <p:cNvSpPr txBox="1"/>
          <p:nvPr/>
        </p:nvSpPr>
        <p:spPr>
          <a:xfrm>
            <a:off x="1620000" y="3360000"/>
            <a:ext cx="18000" cy="3000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50"/>
          <p:cNvSpPr txBox="1"/>
          <p:nvPr/>
        </p:nvSpPr>
        <p:spPr>
          <a:xfrm>
            <a:off x="1670000" y="3280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Random Forest  ·  SVM-Linear  ·  SVM-RBF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DDEF"/>
                </a:solidFill>
                <a:latin typeface="Arial"/>
                <a:ea typeface="Arial"/>
                <a:cs typeface="Arial"/>
                <a:sym typeface="Arial"/>
              </a:rPr>
              <a:t>Grid search selects best hyperparameters via ROC-AUC</a:t>
            </a:r>
            <a:endParaRPr/>
          </a:p>
        </p:txBody>
      </p:sp>
      <p:sp>
        <p:nvSpPr>
          <p:cNvPr id="1178" name="Google Shape;1178;p50"/>
          <p:cNvSpPr/>
          <p:nvPr/>
        </p:nvSpPr>
        <p:spPr>
          <a:xfrm>
            <a:off x="2803000" y="3740000"/>
            <a:ext cx="540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50"/>
          <p:cNvSpPr/>
          <p:nvPr/>
        </p:nvSpPr>
        <p:spPr>
          <a:xfrm>
            <a:off x="280000" y="3935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005F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50"/>
          <p:cNvSpPr txBox="1"/>
          <p:nvPr/>
        </p:nvSpPr>
        <p:spPr>
          <a:xfrm>
            <a:off x="305000" y="3935000"/>
            <a:ext cx="129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6  EVALUATION</a:t>
            </a:r>
            <a:endParaRPr/>
          </a:p>
        </p:txBody>
      </p:sp>
      <p:sp>
        <p:nvSpPr>
          <p:cNvPr id="1181" name="Google Shape;1181;p50"/>
          <p:cNvSpPr txBox="1"/>
          <p:nvPr/>
        </p:nvSpPr>
        <p:spPr>
          <a:xfrm>
            <a:off x="1620000" y="4015000"/>
            <a:ext cx="18000" cy="3000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50"/>
          <p:cNvSpPr txBox="1"/>
          <p:nvPr/>
        </p:nvSpPr>
        <p:spPr>
          <a:xfrm>
            <a:off x="1670000" y="3935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 fold: Accuracy · Sensitivity · Specificity · AUC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DDEF"/>
                </a:solidFill>
                <a:latin typeface="Arial"/>
                <a:ea typeface="Arial"/>
                <a:cs typeface="Arial"/>
                <a:sym typeface="Arial"/>
              </a:rPr>
              <a:t>Reported as Mean ± STD across 5 folds</a:t>
            </a:r>
            <a:endParaRPr/>
          </a:p>
        </p:txBody>
      </p:sp>
      <p:sp>
        <p:nvSpPr>
          <p:cNvPr id="1183" name="Google Shape;1183;p50"/>
          <p:cNvSpPr/>
          <p:nvPr/>
        </p:nvSpPr>
        <p:spPr>
          <a:xfrm>
            <a:off x="2803000" y="4395000"/>
            <a:ext cx="540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50"/>
          <p:cNvSpPr/>
          <p:nvPr/>
        </p:nvSpPr>
        <p:spPr>
          <a:xfrm>
            <a:off x="280000" y="4590000"/>
            <a:ext cx="5100000" cy="459900"/>
          </a:xfrm>
          <a:prstGeom prst="roundRect">
            <a:avLst>
              <a:gd fmla="val 22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50"/>
          <p:cNvSpPr txBox="1"/>
          <p:nvPr/>
        </p:nvSpPr>
        <p:spPr>
          <a:xfrm>
            <a:off x="305000" y="4590000"/>
            <a:ext cx="129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CCFFEE"/>
                </a:solidFill>
                <a:latin typeface="Arial"/>
                <a:ea typeface="Arial"/>
                <a:cs typeface="Arial"/>
                <a:sym typeface="Arial"/>
              </a:rPr>
              <a:t>7  FINAL OUTPUT</a:t>
            </a:r>
            <a:endParaRPr/>
          </a:p>
        </p:txBody>
      </p:sp>
      <p:sp>
        <p:nvSpPr>
          <p:cNvPr id="1186" name="Google Shape;1186;p50"/>
          <p:cNvSpPr txBox="1"/>
          <p:nvPr/>
        </p:nvSpPr>
        <p:spPr>
          <a:xfrm>
            <a:off x="1620000" y="4670000"/>
            <a:ext cx="18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50"/>
          <p:cNvSpPr txBox="1"/>
          <p:nvPr/>
        </p:nvSpPr>
        <p:spPr>
          <a:xfrm>
            <a:off x="1670000" y="4590000"/>
            <a:ext cx="3680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Best estimator retrained on full training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CCFFEE"/>
                </a:solidFill>
                <a:latin typeface="Arial"/>
                <a:ea typeface="Arial"/>
                <a:cs typeface="Arial"/>
                <a:sym typeface="Arial"/>
              </a:rPr>
              <a:t>Confusion matrices computed and saved</a:t>
            </a:r>
            <a:endParaRPr/>
          </a:p>
        </p:txBody>
      </p:sp>
      <p:sp>
        <p:nvSpPr>
          <p:cNvPr id="1188" name="Google Shape;1188;p50"/>
          <p:cNvSpPr/>
          <p:nvPr/>
        </p:nvSpPr>
        <p:spPr>
          <a:xfrm>
            <a:off x="5530000" y="660000"/>
            <a:ext cx="3414000" cy="4389900"/>
          </a:xfrm>
          <a:prstGeom prst="roundRect">
            <a:avLst>
              <a:gd fmla="val 24000" name="adj"/>
            </a:avLst>
          </a:prstGeom>
          <a:solidFill>
            <a:srgbClr val="F0F4F8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50"/>
          <p:cNvSpPr/>
          <p:nvPr/>
        </p:nvSpPr>
        <p:spPr>
          <a:xfrm>
            <a:off x="5530000" y="660000"/>
            <a:ext cx="3414000" cy="150000"/>
          </a:xfrm>
          <a:prstGeom prst="roundRect">
            <a:avLst>
              <a:gd fmla="val 24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50"/>
          <p:cNvSpPr txBox="1"/>
          <p:nvPr/>
        </p:nvSpPr>
        <p:spPr>
          <a:xfrm>
            <a:off x="5550000" y="660000"/>
            <a:ext cx="3374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 fontScale="6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" sz="1000">
                <a:solidFill>
                  <a:srgbClr val="0097A7"/>
                </a:solidFill>
              </a:rPr>
              <a:t>DESIGN DECISIONS AND WHY</a:t>
            </a:r>
            <a:endParaRPr/>
          </a:p>
        </p:txBody>
      </p:sp>
      <p:sp>
        <p:nvSpPr>
          <p:cNvPr id="1191" name="Google Shape;1191;p50"/>
          <p:cNvSpPr/>
          <p:nvPr/>
        </p:nvSpPr>
        <p:spPr>
          <a:xfrm>
            <a:off x="5550000" y="825000"/>
            <a:ext cx="3374100" cy="673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50"/>
          <p:cNvSpPr/>
          <p:nvPr/>
        </p:nvSpPr>
        <p:spPr>
          <a:xfrm>
            <a:off x="5550000" y="825000"/>
            <a:ext cx="200100" cy="673200"/>
          </a:xfrm>
          <a:prstGeom prst="roundRect">
            <a:avLst>
              <a:gd fmla="val 14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50"/>
          <p:cNvSpPr txBox="1"/>
          <p:nvPr/>
        </p:nvSpPr>
        <p:spPr>
          <a:xfrm>
            <a:off x="5765000" y="845000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lang="en" sz="850">
                <a:solidFill>
                  <a:srgbClr val="334466"/>
                </a:solidFill>
              </a:rPr>
              <a:t>Nested CV (not simple holdout)</a:t>
            </a:r>
            <a:endParaRPr/>
          </a:p>
        </p:txBody>
      </p:sp>
      <p:sp>
        <p:nvSpPr>
          <p:cNvPr id="1194" name="Google Shape;1194;p50"/>
          <p:cNvSpPr txBox="1"/>
          <p:nvPr/>
        </p:nvSpPr>
        <p:spPr>
          <a:xfrm>
            <a:off x="5765000" y="1127799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>
                <a:solidFill>
                  <a:srgbClr val="334466"/>
                </a:solidFill>
              </a:rPr>
              <a:t>n=166 is too small. Simple CV gives optimistic estimates; nested separates tuning from evaluation.</a:t>
            </a:r>
            <a:endParaRPr/>
          </a:p>
        </p:txBody>
      </p:sp>
      <p:sp>
        <p:nvSpPr>
          <p:cNvPr id="1195" name="Google Shape;1195;p50"/>
          <p:cNvSpPr/>
          <p:nvPr/>
        </p:nvSpPr>
        <p:spPr>
          <a:xfrm>
            <a:off x="5550000" y="1538333"/>
            <a:ext cx="3374100" cy="673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50"/>
          <p:cNvSpPr/>
          <p:nvPr/>
        </p:nvSpPr>
        <p:spPr>
          <a:xfrm>
            <a:off x="5550000" y="1538333"/>
            <a:ext cx="200100" cy="673200"/>
          </a:xfrm>
          <a:prstGeom prst="roundRect">
            <a:avLst>
              <a:gd fmla="val 14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50"/>
          <p:cNvSpPr txBox="1"/>
          <p:nvPr/>
        </p:nvSpPr>
        <p:spPr>
          <a:xfrm>
            <a:off x="5765000" y="1558333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lang="en" sz="850">
                <a:solidFill>
                  <a:srgbClr val="334466"/>
                </a:solidFill>
              </a:rPr>
              <a:t>StandardScaler inside each fold</a:t>
            </a:r>
            <a:endParaRPr/>
          </a:p>
        </p:txBody>
      </p:sp>
      <p:sp>
        <p:nvSpPr>
          <p:cNvPr id="1198" name="Google Shape;1198;p50"/>
          <p:cNvSpPr txBox="1"/>
          <p:nvPr/>
        </p:nvSpPr>
        <p:spPr>
          <a:xfrm>
            <a:off x="5765000" y="1841132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>
                <a:solidFill>
                  <a:srgbClr val="334466"/>
                </a:solidFill>
              </a:rPr>
              <a:t>Fitting on full data before split leaks test statistics into training.</a:t>
            </a:r>
            <a:endParaRPr/>
          </a:p>
        </p:txBody>
      </p:sp>
      <p:sp>
        <p:nvSpPr>
          <p:cNvPr id="1199" name="Google Shape;1199;p50"/>
          <p:cNvSpPr/>
          <p:nvPr/>
        </p:nvSpPr>
        <p:spPr>
          <a:xfrm>
            <a:off x="5550000" y="2251666"/>
            <a:ext cx="3374100" cy="673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50"/>
          <p:cNvSpPr/>
          <p:nvPr/>
        </p:nvSpPr>
        <p:spPr>
          <a:xfrm>
            <a:off x="5550000" y="2251666"/>
            <a:ext cx="200100" cy="673200"/>
          </a:xfrm>
          <a:prstGeom prst="roundRect">
            <a:avLst>
              <a:gd fmla="val 14000" name="adj"/>
            </a:avLst>
          </a:prstGeom>
          <a:solidFill>
            <a:srgbClr val="1435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50"/>
          <p:cNvSpPr txBox="1"/>
          <p:nvPr/>
        </p:nvSpPr>
        <p:spPr>
          <a:xfrm>
            <a:off x="5765000" y="2271666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lang="en" sz="850">
                <a:solidFill>
                  <a:srgbClr val="334466"/>
                </a:solidFill>
              </a:rPr>
              <a:t>PCA after scaling</a:t>
            </a:r>
            <a:endParaRPr/>
          </a:p>
        </p:txBody>
      </p:sp>
      <p:sp>
        <p:nvSpPr>
          <p:cNvPr id="1202" name="Google Shape;1202;p50"/>
          <p:cNvSpPr txBox="1"/>
          <p:nvPr/>
        </p:nvSpPr>
        <p:spPr>
          <a:xfrm>
            <a:off x="5765000" y="2554465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>
                <a:solidFill>
                  <a:srgbClr val="334466"/>
                </a:solidFill>
              </a:rPr>
              <a:t>PCA is sensitive to feature scale so scaling must come first. Fitted per fold to avoid leakage</a:t>
            </a:r>
            <a:endParaRPr/>
          </a:p>
        </p:txBody>
      </p:sp>
      <p:sp>
        <p:nvSpPr>
          <p:cNvPr id="1203" name="Google Shape;1203;p50"/>
          <p:cNvSpPr/>
          <p:nvPr/>
        </p:nvSpPr>
        <p:spPr>
          <a:xfrm>
            <a:off x="5550000" y="2964999"/>
            <a:ext cx="3374100" cy="673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50"/>
          <p:cNvSpPr/>
          <p:nvPr/>
        </p:nvSpPr>
        <p:spPr>
          <a:xfrm>
            <a:off x="5550000" y="2964999"/>
            <a:ext cx="200100" cy="673200"/>
          </a:xfrm>
          <a:prstGeom prst="roundRect">
            <a:avLst>
              <a:gd fmla="val 14000" name="adj"/>
            </a:avLst>
          </a:prstGeom>
          <a:solidFill>
            <a:srgbClr val="1435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50"/>
          <p:cNvSpPr txBox="1"/>
          <p:nvPr/>
        </p:nvSpPr>
        <p:spPr>
          <a:xfrm>
            <a:off x="5765000" y="2984999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lang="en" sz="850">
                <a:solidFill>
                  <a:srgbClr val="334466"/>
                </a:solidFill>
              </a:rPr>
              <a:t>ROC-AUC as tuning criterion</a:t>
            </a:r>
            <a:endParaRPr/>
          </a:p>
        </p:txBody>
      </p:sp>
      <p:sp>
        <p:nvSpPr>
          <p:cNvPr id="1206" name="Google Shape;1206;p50"/>
          <p:cNvSpPr txBox="1"/>
          <p:nvPr/>
        </p:nvSpPr>
        <p:spPr>
          <a:xfrm>
            <a:off x="5765000" y="3267798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>
                <a:solidFill>
                  <a:srgbClr val="334466"/>
                </a:solidFill>
              </a:rPr>
              <a:t>AUC is threshold-independent.</a:t>
            </a:r>
            <a:endParaRPr/>
          </a:p>
        </p:txBody>
      </p:sp>
      <p:sp>
        <p:nvSpPr>
          <p:cNvPr id="1207" name="Google Shape;1207;p50"/>
          <p:cNvSpPr/>
          <p:nvPr/>
        </p:nvSpPr>
        <p:spPr>
          <a:xfrm>
            <a:off x="5550000" y="3678332"/>
            <a:ext cx="3374100" cy="673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50"/>
          <p:cNvSpPr/>
          <p:nvPr/>
        </p:nvSpPr>
        <p:spPr>
          <a:xfrm>
            <a:off x="5550000" y="3678332"/>
            <a:ext cx="200100" cy="673200"/>
          </a:xfrm>
          <a:prstGeom prst="roundRect">
            <a:avLst>
              <a:gd fmla="val 14000" name="adj"/>
            </a:avLst>
          </a:prstGeom>
          <a:solidFill>
            <a:srgbClr val="005F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50"/>
          <p:cNvSpPr txBox="1"/>
          <p:nvPr/>
        </p:nvSpPr>
        <p:spPr>
          <a:xfrm>
            <a:off x="5550000" y="3678332"/>
            <a:ext cx="2001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10" name="Google Shape;1210;p50"/>
          <p:cNvSpPr txBox="1"/>
          <p:nvPr/>
        </p:nvSpPr>
        <p:spPr>
          <a:xfrm>
            <a:off x="5765000" y="3698332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lang="en" sz="850">
                <a:solidFill>
                  <a:srgbClr val="334466"/>
                </a:solidFill>
              </a:rPr>
              <a:t>3 classifiers compared</a:t>
            </a:r>
            <a:endParaRPr/>
          </a:p>
        </p:txBody>
      </p:sp>
      <p:sp>
        <p:nvSpPr>
          <p:cNvPr id="1211" name="Google Shape;1211;p50"/>
          <p:cNvSpPr txBox="1"/>
          <p:nvPr/>
        </p:nvSpPr>
        <p:spPr>
          <a:xfrm>
            <a:off x="5765000" y="3981131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>
                <a:solidFill>
                  <a:srgbClr val="334466"/>
                </a:solidFill>
              </a:rPr>
              <a:t>RF captures non-linear interactions. SVM-Linear tests linear separability. SVM-RBF tests non-linear boundary.</a:t>
            </a:r>
            <a:endParaRPr/>
          </a:p>
        </p:txBody>
      </p:sp>
      <p:sp>
        <p:nvSpPr>
          <p:cNvPr id="1212" name="Google Shape;1212;p50"/>
          <p:cNvSpPr/>
          <p:nvPr/>
        </p:nvSpPr>
        <p:spPr>
          <a:xfrm>
            <a:off x="5550000" y="4391665"/>
            <a:ext cx="3374100" cy="673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50"/>
          <p:cNvSpPr/>
          <p:nvPr/>
        </p:nvSpPr>
        <p:spPr>
          <a:xfrm>
            <a:off x="5550000" y="4391665"/>
            <a:ext cx="200100" cy="673200"/>
          </a:xfrm>
          <a:prstGeom prst="roundRect">
            <a:avLst>
              <a:gd fmla="val 14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50"/>
          <p:cNvSpPr txBox="1"/>
          <p:nvPr/>
        </p:nvSpPr>
        <p:spPr>
          <a:xfrm>
            <a:off x="5550000" y="4391665"/>
            <a:ext cx="2001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15" name="Google Shape;1215;p50"/>
          <p:cNvSpPr txBox="1"/>
          <p:nvPr/>
        </p:nvSpPr>
        <p:spPr>
          <a:xfrm>
            <a:off x="5765000" y="4411665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lang="en" sz="850">
                <a:solidFill>
                  <a:srgbClr val="334466"/>
                </a:solidFill>
              </a:rPr>
              <a:t>Subject-level aggregation</a:t>
            </a:r>
            <a:endParaRPr/>
          </a:p>
        </p:txBody>
      </p:sp>
      <p:sp>
        <p:nvSpPr>
          <p:cNvPr id="1216" name="Google Shape;1216;p50"/>
          <p:cNvSpPr txBox="1"/>
          <p:nvPr/>
        </p:nvSpPr>
        <p:spPr>
          <a:xfrm>
            <a:off x="5765000" y="4694464"/>
            <a:ext cx="313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3657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>
                <a:solidFill>
                  <a:srgbClr val="334466"/>
                </a:solidFill>
              </a:rPr>
              <a:t>Window-level evaluation inflates accuracy. One subject contributes hundreds of windows causing leakage.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51"/>
          <p:cNvSpPr txBox="1"/>
          <p:nvPr>
            <p:ph type="title"/>
          </p:nvPr>
        </p:nvSpPr>
        <p:spPr>
          <a:xfrm>
            <a:off x="388751" y="225900"/>
            <a:ext cx="5433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Cross-Validated Performance (Fold-wise Metrics)</a:t>
            </a:r>
            <a:endParaRPr/>
          </a:p>
        </p:txBody>
      </p:sp>
      <p:sp>
        <p:nvSpPr>
          <p:cNvPr id="1222" name="Google Shape;1222;p51"/>
          <p:cNvSpPr txBox="1"/>
          <p:nvPr>
            <p:ph idx="3" type="body"/>
          </p:nvPr>
        </p:nvSpPr>
        <p:spPr>
          <a:xfrm>
            <a:off x="388738" y="515699"/>
            <a:ext cx="5133300" cy="1848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"/>
              <a:t>Baseline Model Performance (Mean ± Std Across 5 Folds)</a:t>
            </a:r>
            <a:endParaRPr/>
          </a:p>
        </p:txBody>
      </p:sp>
      <p:sp>
        <p:nvSpPr>
          <p:cNvPr id="1223" name="Google Shape;1223;p51"/>
          <p:cNvSpPr/>
          <p:nvPr>
            <p:ph idx="4" type="pic"/>
          </p:nvPr>
        </p:nvSpPr>
        <p:spPr>
          <a:xfrm>
            <a:off x="5925110" y="225889"/>
            <a:ext cx="810000" cy="289800"/>
          </a:xfrm>
          <a:prstGeom prst="rect">
            <a:avLst/>
          </a:prstGeom>
        </p:spPr>
      </p:sp>
      <p:graphicFrame>
        <p:nvGraphicFramePr>
          <p:cNvPr id="1224" name="Google Shape;1224;p51"/>
          <p:cNvGraphicFramePr/>
          <p:nvPr/>
        </p:nvGraphicFramePr>
        <p:xfrm>
          <a:off x="533438" y="99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{E3BF8F15-10F5-49A1-A5A8-24E361685461}</a:tableStyleId>
              </a:tblPr>
              <a:tblGrid>
                <a:gridCol w="907450"/>
                <a:gridCol w="1289900"/>
                <a:gridCol w="1337650"/>
                <a:gridCol w="1403600"/>
                <a:gridCol w="1392900"/>
                <a:gridCol w="1745625"/>
              </a:tblGrid>
              <a:tr h="52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Dataset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Model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Accuracy (±SD)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Sensitivity (±SD)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Specificity (±SD)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AUC (±SD)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55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Left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Random Forest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0.64 ± 0.07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0.75 ± 0.11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0.49 ± 0.11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0.68 ± 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(Linear)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0.64 ± 0.08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0.83 ± 0.07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0.40 ± 0.09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0.62 ± 0.11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(RBF)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0.67 ± 0.07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0.89 ± 0.11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0.45 ± 0.24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0.65 ± 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55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Right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Random Forest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0.69 ± 0.04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0.83 ± 0.07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0.52 ± 0.13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0.76 ± 0.08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(Linear)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0.67 ± 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0.78 ± 0.10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0.54 ± 0.11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0.75 ± 0.07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(RBF)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0.72 ± 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0.76 ± 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0.65 ± 0.13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0.78 ± 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025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Combined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Random Forest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0.73 ± 0.03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0.82 ± 0.08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0.62 ± 0.06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0.85 ± 0.07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(Linear)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0.75 ± 0.04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0.75 ± 0.07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0.75 ± 0.11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0.82 ± 0.06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SVM (RBF)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0.78 ± 0.05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0.78 ± 0.09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0.72 ± 0.11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0.85 ± 0.04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5" name="Google Shape;1225;p51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6" name="Google Shape;1226;p51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52"/>
          <p:cNvSpPr txBox="1"/>
          <p:nvPr>
            <p:ph type="title"/>
          </p:nvPr>
        </p:nvSpPr>
        <p:spPr>
          <a:xfrm>
            <a:off x="388739" y="222639"/>
            <a:ext cx="5133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Best Performing Baseline Models (Highlights)</a:t>
            </a:r>
            <a:endParaRPr/>
          </a:p>
        </p:txBody>
      </p:sp>
      <p:sp>
        <p:nvSpPr>
          <p:cNvPr id="1232" name="Google Shape;1232;p52"/>
          <p:cNvSpPr txBox="1"/>
          <p:nvPr>
            <p:ph idx="1" type="body"/>
          </p:nvPr>
        </p:nvSpPr>
        <p:spPr>
          <a:xfrm>
            <a:off x="307325" y="3476200"/>
            <a:ext cx="4084200" cy="2493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i="1" lang="en" sz="1040"/>
              <a:t>Combined features yield the best baselines; RF and SVM-RBF are close at ~0.84–0.85 AUC.</a:t>
            </a:r>
            <a:endParaRPr i="1" sz="1040"/>
          </a:p>
        </p:txBody>
      </p:sp>
      <p:pic>
        <p:nvPicPr>
          <p:cNvPr id="1233" name="Google Shape;1233;p52" title="baseline_auc_combined_bar_FA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00" y="1007700"/>
            <a:ext cx="3906862" cy="246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52" title="baseline_auc_grouped_bar_FAU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7308" y="1007700"/>
            <a:ext cx="4512840" cy="2321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52"/>
          <p:cNvSpPr txBox="1"/>
          <p:nvPr>
            <p:ph idx="1" type="body"/>
          </p:nvPr>
        </p:nvSpPr>
        <p:spPr>
          <a:xfrm>
            <a:off x="4440125" y="3476200"/>
            <a:ext cx="4471200" cy="249300"/>
          </a:xfrm>
          <a:prstGeom prst="rect">
            <a:avLst/>
          </a:prstGeom>
        </p:spPr>
        <p:txBody>
          <a:bodyPr anchorCtr="0" anchor="t" bIns="0" lIns="0" spcFirstLastPara="1" rIns="27000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i="1" lang="en" sz="1040"/>
              <a:t>Left &lt; Right &lt; Combined in AUC across all models, confirming benefit of using both feet.</a:t>
            </a:r>
            <a:endParaRPr i="1" sz="1040"/>
          </a:p>
        </p:txBody>
      </p:sp>
      <p:sp>
        <p:nvSpPr>
          <p:cNvPr id="1236" name="Google Shape;1236;p52"/>
          <p:cNvSpPr txBox="1"/>
          <p:nvPr/>
        </p:nvSpPr>
        <p:spPr>
          <a:xfrm>
            <a:off x="164700" y="3872475"/>
            <a:ext cx="8688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Combined TSFresh features (L+R) clearly outperform Left or Right alone.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SVM-RBF and Random Forest are the strongest classical baselines.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This </a:t>
            </a:r>
            <a:r>
              <a:rPr b="1" lang="en" sz="1100">
                <a:solidFill>
                  <a:schemeClr val="dk1"/>
                </a:solidFill>
              </a:rPr>
              <a:t>Combined + SVM-RBF / Random Forest</a:t>
            </a:r>
            <a:r>
              <a:rPr lang="en" sz="1100">
                <a:solidFill>
                  <a:schemeClr val="dk1"/>
                </a:solidFill>
              </a:rPr>
              <a:t> configuration is used as the </a:t>
            </a:r>
            <a:r>
              <a:rPr b="1" lang="en" sz="1100">
                <a:solidFill>
                  <a:schemeClr val="dk1"/>
                </a:solidFill>
              </a:rPr>
              <a:t>reference model</a:t>
            </a:r>
            <a:r>
              <a:rPr lang="en" sz="1100">
                <a:solidFill>
                  <a:schemeClr val="dk1"/>
                </a:solidFill>
              </a:rPr>
              <a:t> when comparing against Mamba.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37" name="Google Shape;1237;p52"/>
          <p:cNvSpPr txBox="1"/>
          <p:nvPr/>
        </p:nvSpPr>
        <p:spPr>
          <a:xfrm>
            <a:off x="388750" y="421175"/>
            <a:ext cx="66000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Combined TSFresh features with SVM-RBF/Random Forest yield strong baseline AUC (~0.84–0.85), clearly outperforming single-foot models.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38" name="Google Shape;1238;p52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9" name="Google Shape;1239;p52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53"/>
          <p:cNvSpPr txBox="1"/>
          <p:nvPr>
            <p:ph type="title"/>
          </p:nvPr>
        </p:nvSpPr>
        <p:spPr>
          <a:xfrm>
            <a:off x="386975" y="423300"/>
            <a:ext cx="6488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Left Foot – Confusion Matrices</a:t>
            </a:r>
            <a:endParaRPr sz="2000"/>
          </a:p>
        </p:txBody>
      </p:sp>
      <p:pic>
        <p:nvPicPr>
          <p:cNvPr id="1245" name="Google Shape;1245;p53" title="cm_opt_Left_RandomFore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975" y="1221575"/>
            <a:ext cx="2678376" cy="200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53" title="cm_opt_Left_SVM_Line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9575" y="1223375"/>
            <a:ext cx="2482950" cy="186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53" title="cm_opt_Left_SVM_RB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0400" y="1260450"/>
            <a:ext cx="2384091" cy="178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53"/>
          <p:cNvSpPr txBox="1"/>
          <p:nvPr/>
        </p:nvSpPr>
        <p:spPr>
          <a:xfrm>
            <a:off x="386975" y="3608475"/>
            <a:ext cx="88434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Takeaways: 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Left Foot is objectively the weakest feature set</a:t>
            </a:r>
            <a:r>
              <a:rPr lang="en" sz="1200">
                <a:solidFill>
                  <a:schemeClr val="dk1"/>
                </a:solidFill>
              </a:rPr>
              <a:t>, regardless of model.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All classifiers converge to the same limitation → </a:t>
            </a:r>
            <a:r>
              <a:rPr b="1" lang="en" sz="1200">
                <a:solidFill>
                  <a:schemeClr val="dk1"/>
                </a:solidFill>
              </a:rPr>
              <a:t>poor HC specificity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Indicates that left-foot vGRF dynamics alone are insufficient for reliable PD–HC classification.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49" name="Google Shape;1249;p53"/>
          <p:cNvSpPr txBox="1"/>
          <p:nvPr/>
        </p:nvSpPr>
        <p:spPr>
          <a:xfrm>
            <a:off x="626150" y="3048525"/>
            <a:ext cx="2930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</a:rPr>
              <a:t>High PD sensitivity but systematically misclassifies HC → </a:t>
            </a:r>
            <a:r>
              <a:rPr b="1" i="1" lang="en" sz="1100">
                <a:solidFill>
                  <a:schemeClr val="dk1"/>
                </a:solidFill>
              </a:rPr>
              <a:t>biased boundary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250" name="Google Shape;1250;p53"/>
          <p:cNvSpPr txBox="1"/>
          <p:nvPr/>
        </p:nvSpPr>
        <p:spPr>
          <a:xfrm>
            <a:off x="3337050" y="3048525"/>
            <a:ext cx="2968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Linear model fails to capture gait complexity → </a:t>
            </a:r>
            <a:r>
              <a:rPr b="1" i="1" lang="en" sz="1100">
                <a:solidFill>
                  <a:schemeClr val="dk1"/>
                </a:solidFill>
              </a:rPr>
              <a:t>highest FP + FN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251" name="Google Shape;1251;p53"/>
          <p:cNvSpPr txBox="1"/>
          <p:nvPr/>
        </p:nvSpPr>
        <p:spPr>
          <a:xfrm>
            <a:off x="6257250" y="3048525"/>
            <a:ext cx="2930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Slight non-linear improvement, but </a:t>
            </a:r>
            <a:r>
              <a:rPr b="1" i="1" lang="en" sz="1100">
                <a:solidFill>
                  <a:schemeClr val="dk1"/>
                </a:solidFill>
              </a:rPr>
              <a:t>HC/PD separability remains weak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000">
              <a:solidFill>
                <a:schemeClr val="dk1"/>
              </a:solidFill>
            </a:endParaRPr>
          </a:p>
        </p:txBody>
      </p:sp>
      <p:sp>
        <p:nvSpPr>
          <p:cNvPr id="1252" name="Google Shape;1252;p53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3" name="Google Shape;1253;p53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54"/>
          <p:cNvSpPr txBox="1"/>
          <p:nvPr>
            <p:ph type="title"/>
          </p:nvPr>
        </p:nvSpPr>
        <p:spPr>
          <a:xfrm>
            <a:off x="388753" y="423300"/>
            <a:ext cx="6488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Right </a:t>
            </a:r>
            <a:r>
              <a:rPr lang="en" sz="2000"/>
              <a:t>Foot – Confusion Matrices</a:t>
            </a:r>
            <a:endParaRPr sz="2000"/>
          </a:p>
        </p:txBody>
      </p:sp>
      <p:pic>
        <p:nvPicPr>
          <p:cNvPr id="1259" name="Google Shape;1259;p54" title="cm_opt_Right_RandomFores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975" y="1221575"/>
            <a:ext cx="2678376" cy="200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54" title="cm_opt_Right_SVM_Linea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9575" y="1223375"/>
            <a:ext cx="2482950" cy="186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54" title="cm_opt_Right_SVM_RBF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0400" y="1260450"/>
            <a:ext cx="2384091" cy="178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54"/>
          <p:cNvSpPr txBox="1"/>
          <p:nvPr/>
        </p:nvSpPr>
        <p:spPr>
          <a:xfrm>
            <a:off x="231275" y="3608475"/>
            <a:ext cx="88434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Takeaways: </a:t>
            </a:r>
            <a:endParaRPr b="1" sz="12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200">
                <a:solidFill>
                  <a:schemeClr val="dk1"/>
                </a:solidFill>
              </a:rPr>
              <a:t>Right Foot is the strongest single-foot feature set</a:t>
            </a:r>
            <a:r>
              <a:rPr lang="en" sz="1200">
                <a:solidFill>
                  <a:schemeClr val="dk1"/>
                </a:solidFill>
              </a:rPr>
              <a:t>, outperforming Left Foot by a large margin.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200">
                <a:solidFill>
                  <a:schemeClr val="dk1"/>
                </a:solidFill>
              </a:rPr>
              <a:t>RandomForest achieves near-perfect classification</a:t>
            </a:r>
            <a:r>
              <a:rPr lang="en" sz="1200">
                <a:solidFill>
                  <a:schemeClr val="dk1"/>
                </a:solidFill>
              </a:rPr>
              <a:t>, indicating strong signal quality in right-foot TSFresh features.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200">
                <a:solidFill>
                  <a:schemeClr val="dk1"/>
                </a:solidFill>
              </a:rPr>
              <a:t>SVM_RBF is also reliable</a:t>
            </a:r>
            <a:r>
              <a:rPr lang="en" sz="1200">
                <a:solidFill>
                  <a:schemeClr val="dk1"/>
                </a:solidFill>
              </a:rPr>
              <a:t>, but slightly less accurate than RF.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200">
                <a:solidFill>
                  <a:schemeClr val="dk1"/>
                </a:solidFill>
              </a:rPr>
              <a:t>Linear SVM underperforms</a:t>
            </a:r>
            <a:r>
              <a:rPr lang="en" sz="1200">
                <a:solidFill>
                  <a:schemeClr val="dk1"/>
                </a:solidFill>
              </a:rPr>
              <a:t> → confirms that </a:t>
            </a:r>
            <a:r>
              <a:rPr b="1" lang="en" sz="1200">
                <a:solidFill>
                  <a:schemeClr val="dk1"/>
                </a:solidFill>
              </a:rPr>
              <a:t>PD vs HC separation is non-linear</a:t>
            </a:r>
            <a:r>
              <a:rPr lang="en" sz="1200">
                <a:solidFill>
                  <a:schemeClr val="dk1"/>
                </a:solidFill>
              </a:rPr>
              <a:t> in right-foot dynamics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63" name="Google Shape;1263;p54"/>
          <p:cNvSpPr txBox="1"/>
          <p:nvPr/>
        </p:nvSpPr>
        <p:spPr>
          <a:xfrm>
            <a:off x="388750" y="2980100"/>
            <a:ext cx="2930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</a:rPr>
              <a:t>Near-perfect class separation</a:t>
            </a:r>
            <a:r>
              <a:rPr i="1" lang="en" sz="1100">
                <a:solidFill>
                  <a:schemeClr val="dk1"/>
                </a:solidFill>
              </a:rPr>
              <a:t>, capturing dominant PD–HC gait markers.</a:t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1264" name="Google Shape;1264;p54"/>
          <p:cNvSpPr txBox="1"/>
          <p:nvPr/>
        </p:nvSpPr>
        <p:spPr>
          <a:xfrm>
            <a:off x="3319450" y="2980100"/>
            <a:ext cx="2968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Linearity inadequate → misalignment with true decision surface.</a:t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1265" name="Google Shape;1265;p54"/>
          <p:cNvSpPr txBox="1"/>
          <p:nvPr/>
        </p:nvSpPr>
        <p:spPr>
          <a:xfrm>
            <a:off x="6213300" y="2980100"/>
            <a:ext cx="2930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Strong non-linear fit; small residual FP/FN indicate </a:t>
            </a:r>
            <a:r>
              <a:rPr b="1" i="1" lang="en" sz="1100">
                <a:solidFill>
                  <a:schemeClr val="dk1"/>
                </a:solidFill>
              </a:rPr>
              <a:t>minor boundary overlaps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000">
              <a:solidFill>
                <a:schemeClr val="dk1"/>
              </a:solidFill>
            </a:endParaRPr>
          </a:p>
        </p:txBody>
      </p:sp>
      <p:sp>
        <p:nvSpPr>
          <p:cNvPr id="1266" name="Google Shape;1266;p54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7" name="Google Shape;1267;p54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5"/>
          <p:cNvSpPr txBox="1"/>
          <p:nvPr>
            <p:ph type="title"/>
          </p:nvPr>
        </p:nvSpPr>
        <p:spPr>
          <a:xfrm>
            <a:off x="386978" y="392950"/>
            <a:ext cx="6488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Combined Feet – Confusion Matrices</a:t>
            </a:r>
            <a:endParaRPr sz="2000"/>
          </a:p>
        </p:txBody>
      </p:sp>
      <p:pic>
        <p:nvPicPr>
          <p:cNvPr id="1273" name="Google Shape;1273;p55" title="cm_opt_Combined_RandomFores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750" y="1039750"/>
            <a:ext cx="2678376" cy="200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55" title="cm_opt_Combined_SVM_Linea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9575" y="1039750"/>
            <a:ext cx="2482950" cy="186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55" title="cm_opt_Combined_SVM_RBF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6775" y="1076825"/>
            <a:ext cx="2384091" cy="178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55"/>
          <p:cNvSpPr txBox="1"/>
          <p:nvPr/>
        </p:nvSpPr>
        <p:spPr>
          <a:xfrm>
            <a:off x="114300" y="3554200"/>
            <a:ext cx="8915400" cy="13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Takeaways: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Combined feet features are the strongest overall representation</a:t>
            </a:r>
            <a:r>
              <a:rPr lang="en" sz="1200">
                <a:solidFill>
                  <a:schemeClr val="dk1"/>
                </a:solidFill>
              </a:rPr>
              <a:t>, improving both HC + PD classification.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RandomForest performs best</a:t>
            </a:r>
            <a:r>
              <a:rPr lang="en" sz="1200">
                <a:solidFill>
                  <a:schemeClr val="dk1"/>
                </a:solidFill>
              </a:rPr>
              <a:t>, achieving near-perfect separation.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SVM_RBF is a strong second</a:t>
            </a:r>
            <a:r>
              <a:rPr lang="en" sz="1200">
                <a:solidFill>
                  <a:schemeClr val="dk1"/>
                </a:solidFill>
              </a:rPr>
              <a:t>, confirming that non-linear structure exists in combined gait patterns.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Linear SVM fails consistently → combined features exhibit </a:t>
            </a:r>
            <a:r>
              <a:rPr b="1" lang="en" sz="1200">
                <a:solidFill>
                  <a:schemeClr val="dk1"/>
                </a:solidFill>
              </a:rPr>
              <a:t>high-dimensional non-linearity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77" name="Google Shape;1277;p55"/>
          <p:cNvSpPr txBox="1"/>
          <p:nvPr/>
        </p:nvSpPr>
        <p:spPr>
          <a:xfrm>
            <a:off x="432700" y="2901975"/>
            <a:ext cx="2930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Minimal errors (1 FP, 0 FN) → </a:t>
            </a:r>
            <a:r>
              <a:rPr b="1" i="1" lang="en" sz="1100">
                <a:solidFill>
                  <a:schemeClr val="dk1"/>
                </a:solidFill>
              </a:rPr>
              <a:t>robust integration of bilateral gait cues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000">
              <a:solidFill>
                <a:schemeClr val="dk1"/>
              </a:solidFill>
            </a:endParaRPr>
          </a:p>
        </p:txBody>
      </p:sp>
      <p:sp>
        <p:nvSpPr>
          <p:cNvPr id="1278" name="Google Shape;1278;p55"/>
          <p:cNvSpPr txBox="1"/>
          <p:nvPr/>
        </p:nvSpPr>
        <p:spPr>
          <a:xfrm>
            <a:off x="3363400" y="2864900"/>
            <a:ext cx="2968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Underfits the expanded feature space → </a:t>
            </a:r>
            <a:r>
              <a:rPr b="1" i="1" lang="en" sz="1100">
                <a:solidFill>
                  <a:schemeClr val="dk1"/>
                </a:solidFill>
              </a:rPr>
              <a:t>largest error inflation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000">
              <a:solidFill>
                <a:schemeClr val="dk1"/>
              </a:solidFill>
            </a:endParaRPr>
          </a:p>
        </p:txBody>
      </p:sp>
      <p:sp>
        <p:nvSpPr>
          <p:cNvPr id="1279" name="Google Shape;1279;p55"/>
          <p:cNvSpPr txBox="1"/>
          <p:nvPr/>
        </p:nvSpPr>
        <p:spPr>
          <a:xfrm>
            <a:off x="6213300" y="2901975"/>
            <a:ext cx="2930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Stable and balanced, capturing joint foot dynamics with </a:t>
            </a:r>
            <a:r>
              <a:rPr b="1" i="1" lang="en" sz="1100">
                <a:solidFill>
                  <a:schemeClr val="dk1"/>
                </a:solidFill>
              </a:rPr>
              <a:t>low misclassification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i="1" sz="1000">
              <a:solidFill>
                <a:schemeClr val="dk1"/>
              </a:solidFill>
            </a:endParaRPr>
          </a:p>
        </p:txBody>
      </p:sp>
      <p:sp>
        <p:nvSpPr>
          <p:cNvPr id="1280" name="Google Shape;1280;p55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1" name="Google Shape;1281;p55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56"/>
          <p:cNvSpPr txBox="1"/>
          <p:nvPr>
            <p:ph idx="10" type="dt"/>
          </p:nvPr>
        </p:nvSpPr>
        <p:spPr>
          <a:xfrm>
            <a:off x="7813013" y="4976000"/>
            <a:ext cx="637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16 March 2026</a:t>
            </a:r>
            <a:endParaRPr/>
          </a:p>
        </p:txBody>
      </p:sp>
      <p:sp>
        <p:nvSpPr>
          <p:cNvPr id="1287" name="Google Shape;1287;p56"/>
          <p:cNvSpPr txBox="1"/>
          <p:nvPr>
            <p:ph idx="11" type="ftr"/>
          </p:nvPr>
        </p:nvSpPr>
        <p:spPr>
          <a:xfrm>
            <a:off x="388739" y="4976000"/>
            <a:ext cx="4102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Technische Fakultät</a:t>
            </a:r>
            <a:endParaRPr/>
          </a:p>
        </p:txBody>
      </p:sp>
      <p:sp>
        <p:nvSpPr>
          <p:cNvPr id="1288" name="Google Shape;1288;p56"/>
          <p:cNvSpPr txBox="1"/>
          <p:nvPr>
            <p:ph idx="12" type="sldNum"/>
          </p:nvPr>
        </p:nvSpPr>
        <p:spPr>
          <a:xfrm>
            <a:off x="8611574" y="4976000"/>
            <a:ext cx="14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9" name="Google Shape;1289;p56"/>
          <p:cNvSpPr txBox="1"/>
          <p:nvPr>
            <p:ph type="title"/>
          </p:nvPr>
        </p:nvSpPr>
        <p:spPr>
          <a:xfrm>
            <a:off x="380000" y="150000"/>
            <a:ext cx="7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1" lang="en" sz="1920">
                <a:solidFill>
                  <a:schemeClr val="accent2"/>
                </a:solidFill>
              </a:rPr>
              <a:t>Conclusions, Limitations &amp; Future Work</a:t>
            </a:r>
            <a:endParaRPr sz="192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" sz="1110">
                <a:solidFill>
                  <a:schemeClr val="accent2"/>
                </a:solidFill>
              </a:rPr>
              <a:t>Summary · Key Findings · Next Steps</a:t>
            </a:r>
            <a:endParaRPr sz="1920">
              <a:solidFill>
                <a:schemeClr val="accent2"/>
              </a:solidFill>
            </a:endParaRPr>
          </a:p>
        </p:txBody>
      </p:sp>
      <p:sp>
        <p:nvSpPr>
          <p:cNvPr id="1290" name="Google Shape;1290;p56"/>
          <p:cNvSpPr txBox="1"/>
          <p:nvPr/>
        </p:nvSpPr>
        <p:spPr>
          <a:xfrm>
            <a:off x="0" y="600000"/>
            <a:ext cx="9144000" cy="3078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56"/>
          <p:cNvSpPr txBox="1"/>
          <p:nvPr/>
        </p:nvSpPr>
        <p:spPr>
          <a:xfrm>
            <a:off x="0" y="618000"/>
            <a:ext cx="9144000" cy="3078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56"/>
          <p:cNvSpPr txBox="1"/>
          <p:nvPr/>
        </p:nvSpPr>
        <p:spPr>
          <a:xfrm>
            <a:off x="3824800" y="3568600"/>
            <a:ext cx="2718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KEY CONCLUSIONS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56"/>
          <p:cNvSpPr/>
          <p:nvPr/>
        </p:nvSpPr>
        <p:spPr>
          <a:xfrm>
            <a:off x="405000" y="1440000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56"/>
          <p:cNvSpPr/>
          <p:nvPr/>
        </p:nvSpPr>
        <p:spPr>
          <a:xfrm>
            <a:off x="405000" y="2000000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56"/>
          <p:cNvSpPr/>
          <p:nvPr/>
        </p:nvSpPr>
        <p:spPr>
          <a:xfrm>
            <a:off x="405000" y="2560000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56"/>
          <p:cNvSpPr/>
          <p:nvPr/>
        </p:nvSpPr>
        <p:spPr>
          <a:xfrm>
            <a:off x="3193000" y="650000"/>
            <a:ext cx="2757900" cy="275700"/>
          </a:xfrm>
          <a:prstGeom prst="roundRect">
            <a:avLst>
              <a:gd fmla="val 28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56"/>
          <p:cNvSpPr/>
          <p:nvPr/>
        </p:nvSpPr>
        <p:spPr>
          <a:xfrm>
            <a:off x="3193000" y="650000"/>
            <a:ext cx="2757900" cy="260010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56"/>
          <p:cNvSpPr txBox="1"/>
          <p:nvPr/>
        </p:nvSpPr>
        <p:spPr>
          <a:xfrm>
            <a:off x="3909768" y="612900"/>
            <a:ext cx="124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 LIMITATIONS</a:t>
            </a:r>
            <a:endParaRPr b="0" i="0" sz="1500" u="none" cap="none" strike="noStrike">
              <a:solidFill>
                <a:srgbClr val="0097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56"/>
          <p:cNvSpPr/>
          <p:nvPr/>
        </p:nvSpPr>
        <p:spPr>
          <a:xfrm>
            <a:off x="3218000" y="1003855"/>
            <a:ext cx="54900" cy="54900"/>
          </a:xfrm>
          <a:prstGeom prst="roundRect">
            <a:avLst>
              <a:gd fmla="val 275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56"/>
          <p:cNvSpPr txBox="1"/>
          <p:nvPr/>
        </p:nvSpPr>
        <p:spPr>
          <a:xfrm>
            <a:off x="3272900" y="918500"/>
            <a:ext cx="2898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Small dataset (n=16</a:t>
            </a:r>
            <a:r>
              <a:rPr b="1" lang="en" sz="925">
                <a:solidFill>
                  <a:srgbClr val="041E42"/>
                </a:solidFill>
              </a:rPr>
              <a:t>6</a:t>
            </a:r>
            <a:r>
              <a:rPr b="1" i="0" lang="en" sz="925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) — limits generalization to larger populations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56"/>
          <p:cNvSpPr/>
          <p:nvPr/>
        </p:nvSpPr>
        <p:spPr>
          <a:xfrm>
            <a:off x="3218000" y="1440000"/>
            <a:ext cx="54900" cy="54900"/>
          </a:xfrm>
          <a:prstGeom prst="roundRect">
            <a:avLst>
              <a:gd fmla="val 275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56"/>
          <p:cNvSpPr txBox="1"/>
          <p:nvPr/>
        </p:nvSpPr>
        <p:spPr>
          <a:xfrm>
            <a:off x="3298000" y="140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TSFresh aggregation loses temporal ordering of gait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56"/>
          <p:cNvSpPr/>
          <p:nvPr/>
        </p:nvSpPr>
        <p:spPr>
          <a:xfrm>
            <a:off x="3218000" y="2000000"/>
            <a:ext cx="54900" cy="54900"/>
          </a:xfrm>
          <a:prstGeom prst="roundRect">
            <a:avLst>
              <a:gd fmla="val 275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56"/>
          <p:cNvSpPr txBox="1"/>
          <p:nvPr/>
        </p:nvSpPr>
        <p:spPr>
          <a:xfrm>
            <a:off x="3298000" y="196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Left-foot specificity low (0.40–0.45) — possible HC compensation effect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56"/>
          <p:cNvSpPr/>
          <p:nvPr/>
        </p:nvSpPr>
        <p:spPr>
          <a:xfrm>
            <a:off x="3218000" y="2560000"/>
            <a:ext cx="54900" cy="54900"/>
          </a:xfrm>
          <a:prstGeom prst="roundRect">
            <a:avLst>
              <a:gd fmla="val 275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56"/>
          <p:cNvSpPr txBox="1"/>
          <p:nvPr/>
        </p:nvSpPr>
        <p:spPr>
          <a:xfrm>
            <a:off x="3298000" y="252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Classical ML cannot model cross-foot coordination dynamically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56"/>
          <p:cNvSpPr/>
          <p:nvPr/>
        </p:nvSpPr>
        <p:spPr>
          <a:xfrm>
            <a:off x="6006000" y="650000"/>
            <a:ext cx="2757900" cy="307800"/>
          </a:xfrm>
          <a:prstGeom prst="roundRect">
            <a:avLst>
              <a:gd fmla="val 28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56"/>
          <p:cNvSpPr/>
          <p:nvPr/>
        </p:nvSpPr>
        <p:spPr>
          <a:xfrm>
            <a:off x="5976000" y="672500"/>
            <a:ext cx="2757900" cy="260010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56"/>
          <p:cNvSpPr txBox="1"/>
          <p:nvPr/>
        </p:nvSpPr>
        <p:spPr>
          <a:xfrm>
            <a:off x="6461775" y="641100"/>
            <a:ext cx="2718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FUTURE DIRECTIONS</a:t>
            </a:r>
            <a:endParaRPr b="0" i="0" sz="15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56"/>
          <p:cNvSpPr/>
          <p:nvPr/>
        </p:nvSpPr>
        <p:spPr>
          <a:xfrm>
            <a:off x="6031000" y="1127805"/>
            <a:ext cx="54900" cy="54900"/>
          </a:xfrm>
          <a:prstGeom prst="roundRect">
            <a:avLst>
              <a:gd fmla="val 275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56"/>
          <p:cNvSpPr txBox="1"/>
          <p:nvPr/>
        </p:nvSpPr>
        <p:spPr>
          <a:xfrm>
            <a:off x="6111000" y="94415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i="0" lang="en" sz="925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Apply State Space Models (Mamba) to raw vGRF sequences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56"/>
          <p:cNvSpPr/>
          <p:nvPr/>
        </p:nvSpPr>
        <p:spPr>
          <a:xfrm>
            <a:off x="6036000" y="1489725"/>
            <a:ext cx="54900" cy="54900"/>
          </a:xfrm>
          <a:prstGeom prst="roundRect">
            <a:avLst>
              <a:gd fmla="val 275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56"/>
          <p:cNvSpPr txBox="1"/>
          <p:nvPr/>
        </p:nvSpPr>
        <p:spPr>
          <a:xfrm>
            <a:off x="6111000" y="140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Explore LDA for supervised dimensionality reduction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56"/>
          <p:cNvSpPr/>
          <p:nvPr/>
        </p:nvSpPr>
        <p:spPr>
          <a:xfrm>
            <a:off x="6031000" y="2076540"/>
            <a:ext cx="54900" cy="54900"/>
          </a:xfrm>
          <a:prstGeom prst="roundRect">
            <a:avLst>
              <a:gd fmla="val 275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56"/>
          <p:cNvSpPr txBox="1"/>
          <p:nvPr/>
        </p:nvSpPr>
        <p:spPr>
          <a:xfrm>
            <a:off x="6111000" y="1965000"/>
            <a:ext cx="26229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lang="en" sz="925">
                <a:solidFill>
                  <a:srgbClr val="445566"/>
                </a:solidFill>
              </a:rPr>
              <a:t>Representation learning: Use self-supervised or deep embedding methods to learn richer gait signatures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56"/>
          <p:cNvSpPr/>
          <p:nvPr/>
        </p:nvSpPr>
        <p:spPr>
          <a:xfrm>
            <a:off x="6031000" y="2722622"/>
            <a:ext cx="54900" cy="54900"/>
          </a:xfrm>
          <a:prstGeom prst="roundRect">
            <a:avLst>
              <a:gd fmla="val 50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56"/>
          <p:cNvSpPr txBox="1"/>
          <p:nvPr/>
        </p:nvSpPr>
        <p:spPr>
          <a:xfrm>
            <a:off x="6111000" y="2628950"/>
            <a:ext cx="26229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Validate on larger multi-site PD gait datasets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56"/>
          <p:cNvSpPr/>
          <p:nvPr/>
        </p:nvSpPr>
        <p:spPr>
          <a:xfrm>
            <a:off x="380000" y="3305000"/>
            <a:ext cx="4611300" cy="1638600"/>
          </a:xfrm>
          <a:prstGeom prst="roundRect">
            <a:avLst>
              <a:gd fmla="val 28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56"/>
          <p:cNvSpPr txBox="1"/>
          <p:nvPr/>
        </p:nvSpPr>
        <p:spPr>
          <a:xfrm>
            <a:off x="410000" y="3498000"/>
            <a:ext cx="4551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BEST BASELINE — Combined + SVM-RBF (Nested CV)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56"/>
          <p:cNvSpPr txBox="1"/>
          <p:nvPr/>
        </p:nvSpPr>
        <p:spPr>
          <a:xfrm>
            <a:off x="410000" y="3840400"/>
            <a:ext cx="1107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56"/>
          <p:cNvSpPr txBox="1"/>
          <p:nvPr/>
        </p:nvSpPr>
        <p:spPr>
          <a:xfrm>
            <a:off x="440000" y="4251700"/>
            <a:ext cx="110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56"/>
          <p:cNvSpPr txBox="1"/>
          <p:nvPr/>
        </p:nvSpPr>
        <p:spPr>
          <a:xfrm>
            <a:off x="1295400" y="3871650"/>
            <a:ext cx="9900" cy="3078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56"/>
          <p:cNvSpPr txBox="1"/>
          <p:nvPr/>
        </p:nvSpPr>
        <p:spPr>
          <a:xfrm>
            <a:off x="1557800" y="3850800"/>
            <a:ext cx="1107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56"/>
          <p:cNvSpPr txBox="1"/>
          <p:nvPr/>
        </p:nvSpPr>
        <p:spPr>
          <a:xfrm>
            <a:off x="1557800" y="4251700"/>
            <a:ext cx="110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56"/>
          <p:cNvSpPr txBox="1"/>
          <p:nvPr/>
        </p:nvSpPr>
        <p:spPr>
          <a:xfrm>
            <a:off x="2479375" y="3915700"/>
            <a:ext cx="9900" cy="3078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56"/>
          <p:cNvSpPr txBox="1"/>
          <p:nvPr/>
        </p:nvSpPr>
        <p:spPr>
          <a:xfrm>
            <a:off x="2705600" y="3810150"/>
            <a:ext cx="1107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56"/>
          <p:cNvSpPr txBox="1"/>
          <p:nvPr/>
        </p:nvSpPr>
        <p:spPr>
          <a:xfrm>
            <a:off x="2705600" y="4240000"/>
            <a:ext cx="110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Sensitivity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56"/>
          <p:cNvSpPr txBox="1"/>
          <p:nvPr/>
        </p:nvSpPr>
        <p:spPr>
          <a:xfrm>
            <a:off x="3708600" y="3915700"/>
            <a:ext cx="9900" cy="3078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56"/>
          <p:cNvSpPr txBox="1"/>
          <p:nvPr/>
        </p:nvSpPr>
        <p:spPr>
          <a:xfrm>
            <a:off x="3828400" y="3810150"/>
            <a:ext cx="1107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56"/>
          <p:cNvSpPr txBox="1"/>
          <p:nvPr/>
        </p:nvSpPr>
        <p:spPr>
          <a:xfrm>
            <a:off x="3853400" y="4251700"/>
            <a:ext cx="110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Specificity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56"/>
          <p:cNvSpPr txBox="1"/>
          <p:nvPr/>
        </p:nvSpPr>
        <p:spPr>
          <a:xfrm>
            <a:off x="440000" y="4497900"/>
            <a:ext cx="455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Unbiased estimate via 5-fold outer / 3-fold inner nested cross-validation  ·  n=16</a:t>
            </a:r>
            <a:r>
              <a:rPr lang="en" sz="800">
                <a:solidFill>
                  <a:srgbClr val="AACCEE"/>
                </a:solidFill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56"/>
          <p:cNvSpPr/>
          <p:nvPr/>
        </p:nvSpPr>
        <p:spPr>
          <a:xfrm>
            <a:off x="5046200" y="3305000"/>
            <a:ext cx="3717900" cy="163860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56"/>
          <p:cNvSpPr txBox="1"/>
          <p:nvPr/>
        </p:nvSpPr>
        <p:spPr>
          <a:xfrm>
            <a:off x="5211100" y="3330000"/>
            <a:ext cx="366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10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OVERALL TAKEAWAY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56"/>
          <p:cNvSpPr/>
          <p:nvPr/>
        </p:nvSpPr>
        <p:spPr>
          <a:xfrm>
            <a:off x="5153800" y="3594313"/>
            <a:ext cx="60000" cy="60000"/>
          </a:xfrm>
          <a:prstGeom prst="roundRect">
            <a:avLst>
              <a:gd fmla="val 30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56"/>
          <p:cNvSpPr txBox="1"/>
          <p:nvPr/>
        </p:nvSpPr>
        <p:spPr>
          <a:xfrm>
            <a:off x="5241100" y="3513400"/>
            <a:ext cx="3582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Classical ML + TSFresh delivers solid, interpretable baseline above 75% accuracy threshold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56"/>
          <p:cNvSpPr/>
          <p:nvPr/>
        </p:nvSpPr>
        <p:spPr>
          <a:xfrm>
            <a:off x="5153800" y="3998525"/>
            <a:ext cx="60000" cy="60000"/>
          </a:xfrm>
          <a:prstGeom prst="roundRect">
            <a:avLst>
              <a:gd fmla="val 30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56"/>
          <p:cNvSpPr txBox="1"/>
          <p:nvPr/>
        </p:nvSpPr>
        <p:spPr>
          <a:xfrm>
            <a:off x="5213800" y="3907900"/>
            <a:ext cx="3582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Bilateral gait asymmetry is the key discriminative signal — both feet essential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56"/>
          <p:cNvSpPr/>
          <p:nvPr/>
        </p:nvSpPr>
        <p:spPr>
          <a:xfrm>
            <a:off x="5181100" y="4467900"/>
            <a:ext cx="60000" cy="60000"/>
          </a:xfrm>
          <a:prstGeom prst="roundRect">
            <a:avLst>
              <a:gd fmla="val 30000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56"/>
          <p:cNvSpPr txBox="1"/>
          <p:nvPr/>
        </p:nvSpPr>
        <p:spPr>
          <a:xfrm>
            <a:off x="5249575" y="4358800"/>
            <a:ext cx="3582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Temporal modeling gap motivates Mamba / SSM for future sequence-based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56"/>
          <p:cNvSpPr/>
          <p:nvPr/>
        </p:nvSpPr>
        <p:spPr>
          <a:xfrm>
            <a:off x="405000" y="984288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6"/>
          <p:cNvSpPr/>
          <p:nvPr/>
        </p:nvSpPr>
        <p:spPr>
          <a:xfrm>
            <a:off x="380000" y="650000"/>
            <a:ext cx="2757900" cy="275700"/>
          </a:xfrm>
          <a:prstGeom prst="roundRect">
            <a:avLst>
              <a:gd fmla="val 28000" name="adj"/>
            </a:avLst>
          </a:prstGeom>
          <a:solidFill>
            <a:srgbClr val="041E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56"/>
          <p:cNvSpPr/>
          <p:nvPr/>
        </p:nvSpPr>
        <p:spPr>
          <a:xfrm>
            <a:off x="380000" y="650000"/>
            <a:ext cx="2757900" cy="260010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56"/>
          <p:cNvSpPr txBox="1"/>
          <p:nvPr/>
        </p:nvSpPr>
        <p:spPr>
          <a:xfrm>
            <a:off x="485000" y="845000"/>
            <a:ext cx="26229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1" lang="en" sz="850">
                <a:solidFill>
                  <a:srgbClr val="041E42"/>
                </a:solidFill>
              </a:rPr>
              <a:t>Right Foot &gt; Left Foot -&gt; clearer PD–HC separation, stronger discriminative patterns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56"/>
          <p:cNvSpPr txBox="1"/>
          <p:nvPr/>
        </p:nvSpPr>
        <p:spPr>
          <a:xfrm>
            <a:off x="485000" y="140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5"/>
              <a:buFont typeface="Arial"/>
              <a:buNone/>
            </a:pPr>
            <a:r>
              <a:rPr b="1" lang="en" sz="925">
                <a:solidFill>
                  <a:srgbClr val="041E42"/>
                </a:solidFill>
              </a:rPr>
              <a:t>Combined bilateral features outperform single-foot across ALL classifiers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56"/>
          <p:cNvSpPr txBox="1"/>
          <p:nvPr/>
        </p:nvSpPr>
        <p:spPr>
          <a:xfrm>
            <a:off x="485000" y="196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5"/>
              <a:buFont typeface="Arial"/>
              <a:buNone/>
            </a:pPr>
            <a:r>
              <a:rPr b="1" lang="en" sz="925">
                <a:solidFill>
                  <a:srgbClr val="041E42"/>
                </a:solidFill>
              </a:rPr>
              <a:t>Non-linear models (RF, SVM-RBF) best capture PD–HC gait differences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56"/>
          <p:cNvSpPr txBox="1"/>
          <p:nvPr/>
        </p:nvSpPr>
        <p:spPr>
          <a:xfrm>
            <a:off x="485000" y="2525000"/>
            <a:ext cx="2622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5"/>
              <a:buFont typeface="Arial"/>
              <a:buNone/>
            </a:pPr>
            <a:r>
              <a:rPr lang="en" sz="925">
                <a:solidFill>
                  <a:srgbClr val="445566"/>
                </a:solidFill>
              </a:rPr>
              <a:t>TSFresh automation provides rich, reproducible features without manual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56"/>
          <p:cNvSpPr txBox="1"/>
          <p:nvPr/>
        </p:nvSpPr>
        <p:spPr>
          <a:xfrm>
            <a:off x="866563" y="641100"/>
            <a:ext cx="2718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41E42"/>
                </a:solidFill>
              </a:rPr>
              <a:t>KEY CONCLUSIONS</a:t>
            </a:r>
            <a:endParaRPr b="0" i="0" sz="15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56"/>
          <p:cNvSpPr/>
          <p:nvPr/>
        </p:nvSpPr>
        <p:spPr>
          <a:xfrm>
            <a:off x="386975" y="1477538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56"/>
          <p:cNvSpPr/>
          <p:nvPr/>
        </p:nvSpPr>
        <p:spPr>
          <a:xfrm>
            <a:off x="386975" y="2054888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56"/>
          <p:cNvSpPr/>
          <p:nvPr/>
        </p:nvSpPr>
        <p:spPr>
          <a:xfrm>
            <a:off x="386975" y="2640188"/>
            <a:ext cx="54900" cy="54900"/>
          </a:xfrm>
          <a:prstGeom prst="roundRect">
            <a:avLst>
              <a:gd fmla="val 27500" name="adj"/>
            </a:avLst>
          </a:prstGeom>
          <a:solidFill>
            <a:srgbClr val="1A73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57"/>
          <p:cNvSpPr txBox="1"/>
          <p:nvPr>
            <p:ph idx="1" type="body"/>
          </p:nvPr>
        </p:nvSpPr>
        <p:spPr>
          <a:xfrm>
            <a:off x="0" y="1221581"/>
            <a:ext cx="9144000" cy="3921900"/>
          </a:xfrm>
          <a:prstGeom prst="rect">
            <a:avLst/>
          </a:prstGeom>
          <a:gradFill>
            <a:gsLst>
              <a:gs pos="0">
                <a:schemeClr val="accent4"/>
              </a:gs>
              <a:gs pos="5000">
                <a:schemeClr val="accent4"/>
              </a:gs>
              <a:gs pos="50000">
                <a:srgbClr val="8C9FB1">
                  <a:alpha val="49803"/>
                </a:srgbClr>
              </a:gs>
              <a:gs pos="100000">
                <a:srgbClr val="8C9FB1">
                  <a:alpha val="2000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0" lIns="405000" spcFirstLastPara="1" rIns="0" wrap="square" tIns="8910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descr="Ein Bild, das Text, Geschirr enthält.&#10;&#10;Automatisch generierte Beschreibung" id="1356" name="Google Shape;1356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1880" l="0" r="0" t="11872"/>
          <a:stretch/>
        </p:blipFill>
        <p:spPr>
          <a:xfrm>
            <a:off x="0" y="940699"/>
            <a:ext cx="9144000" cy="420280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1357" name="Google Shape;1357;p57"/>
          <p:cNvSpPr txBox="1"/>
          <p:nvPr>
            <p:ph type="title"/>
          </p:nvPr>
        </p:nvSpPr>
        <p:spPr>
          <a:xfrm>
            <a:off x="2708325" y="2571750"/>
            <a:ext cx="437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i="1" lang="en" sz="2700">
                <a:solidFill>
                  <a:schemeClr val="accent2"/>
                </a:solidFill>
              </a:rPr>
              <a:t>Any Questions ?</a:t>
            </a:r>
            <a:endParaRPr i="1" sz="2700">
              <a:solidFill>
                <a:schemeClr val="accent2"/>
              </a:solidFill>
            </a:endParaRPr>
          </a:p>
        </p:txBody>
      </p:sp>
      <p:sp>
        <p:nvSpPr>
          <p:cNvPr id="1358" name="Google Shape;1358;p57"/>
          <p:cNvSpPr txBox="1"/>
          <p:nvPr/>
        </p:nvSpPr>
        <p:spPr>
          <a:xfrm>
            <a:off x="1540350" y="1654850"/>
            <a:ext cx="41958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lt1"/>
                </a:solidFill>
              </a:rPr>
              <a:t>THANK YOU</a:t>
            </a:r>
            <a:endParaRPr b="1" sz="4100">
              <a:solidFill>
                <a:schemeClr val="lt1"/>
              </a:solidFill>
            </a:endParaRPr>
          </a:p>
        </p:txBody>
      </p:sp>
      <p:pic>
        <p:nvPicPr>
          <p:cNvPr id="1359" name="Google Shape;1359;p57" title="pngaaa.com-261068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4725" y="1127124"/>
            <a:ext cx="2258086" cy="392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