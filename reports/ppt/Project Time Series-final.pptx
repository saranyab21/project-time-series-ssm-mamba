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85" r:id="rId5"/>
    <p:sldMasterId id="2147483686" r:id="rId6"/>
    <p:sldMasterId id="2147483687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2338396-4456-490A-B57B-06391262F7C4}">
  <a:tblStyle styleId="{B2338396-4456-490A-B57B-06391262F7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2.xml"/><Relationship Id="rId22" Type="http://schemas.openxmlformats.org/officeDocument/2006/relationships/slide" Target="slides/slide14.xml"/><Relationship Id="rId21" Type="http://schemas.openxmlformats.org/officeDocument/2006/relationships/slide" Target="slides/slide13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3.xml"/><Relationship Id="rId10" Type="http://schemas.openxmlformats.org/officeDocument/2006/relationships/slide" Target="slides/slide2.xml"/><Relationship Id="rId13" Type="http://schemas.openxmlformats.org/officeDocument/2006/relationships/slide" Target="slides/slide5.xml"/><Relationship Id="rId12" Type="http://schemas.openxmlformats.org/officeDocument/2006/relationships/slide" Target="slides/slide4.xml"/><Relationship Id="rId15" Type="http://schemas.openxmlformats.org/officeDocument/2006/relationships/slide" Target="slides/slide7.xml"/><Relationship Id="rId14" Type="http://schemas.openxmlformats.org/officeDocument/2006/relationships/slide" Target="slides/slide6.xml"/><Relationship Id="rId17" Type="http://schemas.openxmlformats.org/officeDocument/2006/relationships/slide" Target="slides/slide9.xml"/><Relationship Id="rId16" Type="http://schemas.openxmlformats.org/officeDocument/2006/relationships/slide" Target="slides/slide8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8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g39f9cc0fea8_2_35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0" name="Google Shape;980;g39f9cc0fea8_2_3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7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g3ce14d6f031_2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9" name="Google Shape;989;g3ce14d6f031_2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3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g3cdf56209cb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5" name="Google Shape;995;g3cdf56209cb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0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g3cdf56209cb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2" name="Google Shape;1022;g3cdf56209cb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6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g39f9cc0fea8_2_97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8" name="Google Shape;1068;g39f9cc0fea8_2_97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7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g39f9cc0fea8_0_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9" name="Google Shape;1079;g39f9cc0fea8_0_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2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g39f9cc0fea8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4" name="Google Shape;1094;g39f9cc0fea8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rgbClr val="204251"/>
                </a:solidFill>
              </a:rPr>
              <a:t>Parkinson’s Disease (SiPt29, UPDRS = 70, 72 y, 0.86 m/s)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Lower peak vGRF (near 1.27 × BW) and greater inter-limb asymmetry indicate reduced push-off force and impaired stance control, typical of bradykinetic gait.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rgbClr val="204251"/>
                </a:solidFill>
              </a:rPr>
              <a:t>Healthy Control (JuCo17, 65 y, 1.54 m/s)</a:t>
            </a:r>
            <a:r>
              <a:rPr b="1" lang="en">
                <a:solidFill>
                  <a:schemeClr val="dk1"/>
                </a:solidFill>
              </a:rPr>
              <a:t>: </a:t>
            </a:r>
            <a:r>
              <a:rPr lang="en">
                <a:solidFill>
                  <a:schemeClr val="dk1"/>
                </a:solidFill>
              </a:rPr>
              <a:t>Balanced, rhythmic vGRF cycles with peaks near 1.30 × BW reflect stable gait rhythm and efficient weight transfer between limbs.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>
                <a:solidFill>
                  <a:srgbClr val="204251"/>
                </a:solidFill>
              </a:rPr>
              <a:t>Observation:</a:t>
            </a:r>
            <a:r>
              <a:rPr b="1" lang="en">
                <a:solidFill>
                  <a:schemeClr val="dk1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PD subject shows less consistent inter-limb timing and lower load transfer efficiency than HC, consistent with postural instability and reduced propulsion.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3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g39f9cc0fea8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5" name="Google Shape;1105;g39f9cc0fea8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5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d111ac4de7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7" name="Google Shape;1117;g3d111ac4de7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9f9cc0fea8_2_99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3" name="Google Shape;1173;g39f9cc0fea8_2_99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7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g3ce14d6f031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9" name="Google Shape;1189;g3ce14d6f031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Google Shape;1262;g3a989097708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3" name="Google Shape;1263;g3a989097708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g3a9291a7a84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3" name="Google Shape;1273;g3a9291a7a84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4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g3a989097708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6" name="Google Shape;1286;g3a989097708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9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g3aa5afabab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1" name="Google Shape;1301;g3aa5afaba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aa6e6b75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6" name="Google Shape;1316;g3aa6e6b75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9" name="Shape 1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Google Shape;1330;g3cdf56209cb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041E42"/>
                </a:solidFill>
              </a:rPr>
              <a:t>OVERALL TAKEAWAY</a:t>
            </a:r>
            <a:endParaRPr b="1" sz="1000">
              <a:solidFill>
                <a:srgbClr val="041E4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041E42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45566"/>
                </a:solidFill>
              </a:rPr>
              <a:t>Classical ML + TSFresh delivers solid, interpretable baseline above 75% accuracy threshold</a:t>
            </a:r>
            <a:endParaRPr sz="90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45566"/>
                </a:solidFill>
              </a:rPr>
              <a:t>Bilateral gait asymmetry is the key discriminative signal — both feet essential</a:t>
            </a:r>
            <a:endParaRPr sz="90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" sz="900">
                <a:solidFill>
                  <a:srgbClr val="445566"/>
                </a:solidFill>
              </a:rPr>
              <a:t>Temporal modeling gap motivates Mamba / SSM for future sequence-based analysis</a:t>
            </a:r>
            <a:endParaRPr sz="900">
              <a:solidFill>
                <a:srgbClr val="4455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1" name="Google Shape;1331;g3cdf56209cb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9" name="Shape 1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Google Shape;1390;g3ce14d6f031_0_8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1" name="Google Shape;1391;g3ce14d6f031_0_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bild" showMasterSp="0">
  <p:cSld name="Titelbild">
    <p:bg>
      <p:bgPr>
        <a:solidFill>
          <a:schemeClr val="dk2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92" name="Google Shape;92;p14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3" name="Google Shape;93;p14"/>
          <p:cNvSpPr txBox="1"/>
          <p:nvPr>
            <p:ph type="title"/>
          </p:nvPr>
        </p:nvSpPr>
        <p:spPr>
          <a:xfrm>
            <a:off x="390122" y="2185298"/>
            <a:ext cx="3734629" cy="7729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sz="5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4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5" name="Google Shape;95;p14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96" name="Google Shape;96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7" name="Google Shape;97;p14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98" name="Google Shape;98;p14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99" name="Google Shape;99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0" name="Google Shape;100;p1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101" name="Google Shape;101;p14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102" name="Google Shape;102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3" name="Google Shape;103;p1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104" name="Google Shape;104;p14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105" name="Google Shape;105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6" name="Google Shape;106;p1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107" name="Google Shape;107;p14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108" name="Google Shape;108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9" name="Google Shape;109;p14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110" name="Google Shape;110;p14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111" name="Google Shape;111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12" name="Google Shape;112;p14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113" name="Google Shape;113;p14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114" name="Google Shape;114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15" name="Google Shape;115;p14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116" name="Google Shape;116;p14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117" name="Google Shape;117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18" name="Google Shape;118;p14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119" name="Google Shape;119;p14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120" name="Google Shape;120;p14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21" name="Google Shape;121;p14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122" name="Google Shape;122;p14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123" name="Google Shape;123;p14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124" name="Google Shape;124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25" name="Google Shape;125;p14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126" name="Google Shape;126;p14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127" name="Google Shape;127;p14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14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14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14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14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14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14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14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14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14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14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14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14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14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14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14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14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14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14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14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14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14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14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14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14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14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14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14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14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14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14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14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4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4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14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14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14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14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14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14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14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14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14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14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14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14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14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14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14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6" name="Google Shape;176;p14"/>
          <p:cNvSpPr/>
          <p:nvPr/>
        </p:nvSpPr>
        <p:spPr>
          <a:xfrm>
            <a:off x="7753302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7" name="Google Shape;177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4"/>
          <p:cNvSpPr/>
          <p:nvPr>
            <p:ph idx="3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apiteltrenner" showMasterSp="0">
  <p:cSld name="Kapiteltrenner">
    <p:bg>
      <p:bgPr>
        <a:solidFill>
          <a:schemeClr val="dk2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5"/>
          <p:cNvSpPr txBox="1"/>
          <p:nvPr>
            <p:ph type="title"/>
          </p:nvPr>
        </p:nvSpPr>
        <p:spPr>
          <a:xfrm>
            <a:off x="388739" y="2156252"/>
            <a:ext cx="8368307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1" name="Google Shape;181;p15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2" name="Google Shape;182;p15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15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4" name="Google Shape;184;p15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6" name="Google Shape;186;p15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187" name="Google Shape;187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88" name="Google Shape;188;p15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189" name="Google Shape;189;p15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190" name="Google Shape;190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91" name="Google Shape;191;p1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192" name="Google Shape;192;p15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193" name="Google Shape;193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94" name="Google Shape;194;p1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195" name="Google Shape;195;p15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196" name="Google Shape;196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97" name="Google Shape;197;p1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198" name="Google Shape;198;p15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199" name="Google Shape;199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0" name="Google Shape;200;p15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201" name="Google Shape;201;p15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202" name="Google Shape;202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3" name="Google Shape;203;p15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204" name="Google Shape;204;p15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205" name="Google Shape;205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6" name="Google Shape;206;p15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207" name="Google Shape;207;p15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208" name="Google Shape;208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9" name="Google Shape;209;p15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210" name="Google Shape;210;p15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211" name="Google Shape;211;p15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12" name="Google Shape;212;p15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213" name="Google Shape;213;p15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214" name="Google Shape;214;p15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215" name="Google Shape;215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16" name="Google Shape;216;p15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217" name="Google Shape;217;p15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218" name="Google Shape;218;p15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15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15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15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15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15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15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15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15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15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15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15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15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15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15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15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15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15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15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15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15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15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15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15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15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15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15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15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15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15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15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15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15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15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15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" name="Google Shape;259;p15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15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15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15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15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15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15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15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7" name="Google Shape;267;p15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Google Shape;268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5"/>
          <p:cNvSpPr/>
          <p:nvPr>
            <p:ph idx="2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| Grau" showMasterSp="0">
  <p:cSld name="Nur Titel | Grau">
    <p:bg>
      <p:bgPr>
        <a:solidFill>
          <a:schemeClr val="dk2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6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2" name="Google Shape;272;p16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3" name="Google Shape;273;p16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4" name="Google Shape;274;p16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5" name="Google Shape;275;p16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6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6"/>
          <p:cNvSpPr txBox="1"/>
          <p:nvPr>
            <p:ph idx="1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None/>
              <a:defRPr sz="1200"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278" name="Google Shape;278;p16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9" name="Google Shape;279;p16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280" name="Google Shape;280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81" name="Google Shape;281;p16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282" name="Google Shape;282;p16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283" name="Google Shape;283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84" name="Google Shape;284;p1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285" name="Google Shape;285;p16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286" name="Google Shape;286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87" name="Google Shape;287;p1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288" name="Google Shape;288;p16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289" name="Google Shape;289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0" name="Google Shape;290;p1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291" name="Google Shape;291;p16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292" name="Google Shape;292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3" name="Google Shape;293;p16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294" name="Google Shape;294;p16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295" name="Google Shape;295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6" name="Google Shape;296;p16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297" name="Google Shape;297;p16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298" name="Google Shape;298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9" name="Google Shape;299;p16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300" name="Google Shape;300;p16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301" name="Google Shape;301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02" name="Google Shape;302;p16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303" name="Google Shape;303;p16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304" name="Google Shape;304;p16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05" name="Google Shape;305;p16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306" name="Google Shape;306;p16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307" name="Google Shape;307;p16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308" name="Google Shape;308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09" name="Google Shape;309;p16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310" name="Google Shape;310;p16"/>
          <p:cNvSpPr/>
          <p:nvPr>
            <p:ph idx="2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311" name="Google Shape;311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chlussfolie" showMasterSp="0">
  <p:cSld name="Schlussfolie">
    <p:bg>
      <p:bgPr>
        <a:solidFill>
          <a:schemeClr val="dk2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7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314" name="Google Shape;314;p17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15" name="Google Shape;315;p17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7"/>
          <p:cNvSpPr txBox="1"/>
          <p:nvPr>
            <p:ph idx="3" type="body"/>
          </p:nvPr>
        </p:nvSpPr>
        <p:spPr>
          <a:xfrm>
            <a:off x="388738" y="1985989"/>
            <a:ext cx="8368309" cy="117152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grpSp>
        <p:nvGrpSpPr>
          <p:cNvPr id="317" name="Google Shape;317;p17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318" name="Google Shape;318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19" name="Google Shape;319;p17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320" name="Google Shape;320;p17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321" name="Google Shape;321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22" name="Google Shape;322;p1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323" name="Google Shape;323;p17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324" name="Google Shape;324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25" name="Google Shape;325;p1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326" name="Google Shape;326;p17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327" name="Google Shape;327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28" name="Google Shape;328;p1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329" name="Google Shape;329;p17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330" name="Google Shape;330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31" name="Google Shape;331;p17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332" name="Google Shape;332;p17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333" name="Google Shape;333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34" name="Google Shape;334;p17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335" name="Google Shape;335;p17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336" name="Google Shape;336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37" name="Google Shape;337;p17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338" name="Google Shape;338;p17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339" name="Google Shape;339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40" name="Google Shape;340;p17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341" name="Google Shape;341;p17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342" name="Google Shape;342;p17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43" name="Google Shape;343;p17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344" name="Google Shape;344;p17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345" name="Google Shape;345;p17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346" name="Google Shape;346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47" name="Google Shape;347;p17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348" name="Google Shape;348;p17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349" name="Google Shape;349;p17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17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17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17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17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17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17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17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17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7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17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17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7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17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17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17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17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17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7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17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17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7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17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17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17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17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p17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17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17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17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17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17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17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17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17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17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17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17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17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17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17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17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17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17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17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17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17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17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17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8" name="Google Shape;398;p17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17"/>
          <p:cNvSpPr/>
          <p:nvPr>
            <p:ph idx="4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19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3" name="Google Shape;443;p19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4" name="Google Shape;444;p19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5" name="Google Shape;445;p19"/>
          <p:cNvSpPr txBox="1"/>
          <p:nvPr>
            <p:ph idx="1" type="body"/>
          </p:nvPr>
        </p:nvSpPr>
        <p:spPr>
          <a:xfrm>
            <a:off x="711045" y="1766033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6" name="Google Shape;446;p19"/>
          <p:cNvSpPr txBox="1"/>
          <p:nvPr>
            <p:ph idx="2" type="body"/>
          </p:nvPr>
        </p:nvSpPr>
        <p:spPr>
          <a:xfrm>
            <a:off x="388739" y="1766033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7" name="Google Shape;447;p19"/>
          <p:cNvSpPr txBox="1"/>
          <p:nvPr>
            <p:ph idx="3" type="body"/>
          </p:nvPr>
        </p:nvSpPr>
        <p:spPr>
          <a:xfrm>
            <a:off x="711045" y="3394032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8" name="Google Shape;448;p19"/>
          <p:cNvSpPr txBox="1"/>
          <p:nvPr>
            <p:ph idx="4" type="body"/>
          </p:nvPr>
        </p:nvSpPr>
        <p:spPr>
          <a:xfrm>
            <a:off x="388739" y="3394032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9" name="Google Shape;449;p19"/>
          <p:cNvSpPr txBox="1"/>
          <p:nvPr>
            <p:ph idx="5" type="body"/>
          </p:nvPr>
        </p:nvSpPr>
        <p:spPr>
          <a:xfrm>
            <a:off x="711045" y="2308700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0" name="Google Shape;450;p19"/>
          <p:cNvSpPr txBox="1"/>
          <p:nvPr>
            <p:ph idx="6" type="body"/>
          </p:nvPr>
        </p:nvSpPr>
        <p:spPr>
          <a:xfrm>
            <a:off x="388739" y="2308700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1" name="Google Shape;451;p19"/>
          <p:cNvSpPr txBox="1"/>
          <p:nvPr>
            <p:ph idx="7" type="body"/>
          </p:nvPr>
        </p:nvSpPr>
        <p:spPr>
          <a:xfrm>
            <a:off x="711045" y="2851366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2" name="Google Shape;452;p19"/>
          <p:cNvSpPr txBox="1"/>
          <p:nvPr>
            <p:ph idx="8" type="body"/>
          </p:nvPr>
        </p:nvSpPr>
        <p:spPr>
          <a:xfrm>
            <a:off x="388739" y="2851366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3" name="Google Shape;453;p19"/>
          <p:cNvSpPr txBox="1"/>
          <p:nvPr>
            <p:ph idx="9" type="body"/>
          </p:nvPr>
        </p:nvSpPr>
        <p:spPr>
          <a:xfrm>
            <a:off x="711045" y="3936698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4" name="Google Shape;454;p19"/>
          <p:cNvSpPr txBox="1"/>
          <p:nvPr>
            <p:ph idx="13" type="body"/>
          </p:nvPr>
        </p:nvSpPr>
        <p:spPr>
          <a:xfrm>
            <a:off x="388739" y="393669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5" name="Google Shape;455;p19"/>
          <p:cNvSpPr txBox="1"/>
          <p:nvPr>
            <p:ph idx="14" type="body"/>
          </p:nvPr>
        </p:nvSpPr>
        <p:spPr>
          <a:xfrm>
            <a:off x="4977142" y="1224138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6" name="Google Shape;456;p19"/>
          <p:cNvSpPr txBox="1"/>
          <p:nvPr>
            <p:ph idx="15" type="body"/>
          </p:nvPr>
        </p:nvSpPr>
        <p:spPr>
          <a:xfrm>
            <a:off x="4654749" y="122413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7" name="Google Shape;457;p19"/>
          <p:cNvSpPr txBox="1"/>
          <p:nvPr>
            <p:ph idx="16" type="body"/>
          </p:nvPr>
        </p:nvSpPr>
        <p:spPr>
          <a:xfrm>
            <a:off x="4977142" y="1766650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8" name="Google Shape;458;p19"/>
          <p:cNvSpPr txBox="1"/>
          <p:nvPr>
            <p:ph idx="17" type="body"/>
          </p:nvPr>
        </p:nvSpPr>
        <p:spPr>
          <a:xfrm>
            <a:off x="4654749" y="1766650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9" name="Google Shape;459;p19"/>
          <p:cNvSpPr txBox="1"/>
          <p:nvPr>
            <p:ph idx="18" type="body"/>
          </p:nvPr>
        </p:nvSpPr>
        <p:spPr>
          <a:xfrm>
            <a:off x="4977142" y="3394185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0" name="Google Shape;460;p19"/>
          <p:cNvSpPr txBox="1"/>
          <p:nvPr>
            <p:ph idx="19" type="body"/>
          </p:nvPr>
        </p:nvSpPr>
        <p:spPr>
          <a:xfrm>
            <a:off x="4654749" y="3394185"/>
            <a:ext cx="23088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1" name="Google Shape;461;p19"/>
          <p:cNvSpPr txBox="1"/>
          <p:nvPr>
            <p:ph idx="20" type="body"/>
          </p:nvPr>
        </p:nvSpPr>
        <p:spPr>
          <a:xfrm>
            <a:off x="4977142" y="2309162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2" name="Google Shape;462;p19"/>
          <p:cNvSpPr txBox="1"/>
          <p:nvPr>
            <p:ph idx="21" type="body"/>
          </p:nvPr>
        </p:nvSpPr>
        <p:spPr>
          <a:xfrm>
            <a:off x="4654749" y="2309162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3" name="Google Shape;463;p19"/>
          <p:cNvSpPr txBox="1"/>
          <p:nvPr>
            <p:ph idx="22" type="body"/>
          </p:nvPr>
        </p:nvSpPr>
        <p:spPr>
          <a:xfrm>
            <a:off x="4977142" y="2851673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4" name="Google Shape;464;p19"/>
          <p:cNvSpPr txBox="1"/>
          <p:nvPr>
            <p:ph idx="23" type="body"/>
          </p:nvPr>
        </p:nvSpPr>
        <p:spPr>
          <a:xfrm>
            <a:off x="4654749" y="2851673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5" name="Google Shape;465;p19"/>
          <p:cNvSpPr txBox="1"/>
          <p:nvPr>
            <p:ph idx="24" type="body"/>
          </p:nvPr>
        </p:nvSpPr>
        <p:spPr>
          <a:xfrm>
            <a:off x="4977142" y="3936698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6" name="Google Shape;466;p19"/>
          <p:cNvSpPr txBox="1"/>
          <p:nvPr>
            <p:ph idx="25" type="body"/>
          </p:nvPr>
        </p:nvSpPr>
        <p:spPr>
          <a:xfrm>
            <a:off x="4654749" y="393669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7" name="Google Shape;467;p19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68" name="Google Shape;468;p19"/>
          <p:cNvSpPr txBox="1"/>
          <p:nvPr>
            <p:ph idx="26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9" name="Google Shape;469;p19"/>
          <p:cNvSpPr txBox="1"/>
          <p:nvPr>
            <p:ph idx="27" type="body"/>
          </p:nvPr>
        </p:nvSpPr>
        <p:spPr>
          <a:xfrm>
            <a:off x="711045" y="1223367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70" name="Google Shape;470;p19"/>
          <p:cNvSpPr txBox="1"/>
          <p:nvPr>
            <p:ph idx="28" type="body"/>
          </p:nvPr>
        </p:nvSpPr>
        <p:spPr>
          <a:xfrm>
            <a:off x="388739" y="1223367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71" name="Google Shape;471;p19"/>
          <p:cNvSpPr/>
          <p:nvPr>
            <p:ph idx="29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472" name="Google Shape;4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folie">
  <p:cSld name="Textfolie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20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5" name="Google Shape;475;p20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6" name="Google Shape;476;p20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7" name="Google Shape;477;p20"/>
          <p:cNvSpPr txBox="1"/>
          <p:nvPr>
            <p:ph idx="1" type="body"/>
          </p:nvPr>
        </p:nvSpPr>
        <p:spPr>
          <a:xfrm>
            <a:off x="388738" y="1223367"/>
            <a:ext cx="836830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78" name="Google Shape;478;p20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9" name="Google Shape;479;p20"/>
          <p:cNvSpPr txBox="1"/>
          <p:nvPr>
            <p:ph idx="2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80" name="Google Shape;480;p20"/>
          <p:cNvSpPr/>
          <p:nvPr>
            <p:ph idx="3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481" name="Google Shape;481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folie | zweispaltig">
  <p:cSld name="Textfolie | zweispaltig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1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4" name="Google Shape;484;p21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5" name="Google Shape;485;p21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6" name="Google Shape;486;p21"/>
          <p:cNvSpPr txBox="1"/>
          <p:nvPr>
            <p:ph idx="1" type="body"/>
          </p:nvPr>
        </p:nvSpPr>
        <p:spPr>
          <a:xfrm>
            <a:off x="388739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87" name="Google Shape;487;p21"/>
          <p:cNvSpPr txBox="1"/>
          <p:nvPr>
            <p:ph idx="2" type="body"/>
          </p:nvPr>
        </p:nvSpPr>
        <p:spPr>
          <a:xfrm>
            <a:off x="4654747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88" name="Google Shape;488;p21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9" name="Google Shape;489;p21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90" name="Google Shape;490;p21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491" name="Google Shape;49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folie | dreispaltig">
  <p:cSld name="Textfolie | dreispaltig"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2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4" name="Google Shape;494;p22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5" name="Google Shape;495;p22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96" name="Google Shape;496;p22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7" name="Google Shape;497;p22"/>
          <p:cNvSpPr txBox="1"/>
          <p:nvPr>
            <p:ph idx="1" type="body"/>
          </p:nvPr>
        </p:nvSpPr>
        <p:spPr>
          <a:xfrm>
            <a:off x="388739" y="1223368"/>
            <a:ext cx="2676616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98" name="Google Shape;498;p22"/>
          <p:cNvSpPr txBox="1"/>
          <p:nvPr>
            <p:ph idx="2" type="body"/>
          </p:nvPr>
        </p:nvSpPr>
        <p:spPr>
          <a:xfrm>
            <a:off x="6080432" y="1223368"/>
            <a:ext cx="2676616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99" name="Google Shape;499;p22"/>
          <p:cNvSpPr txBox="1"/>
          <p:nvPr>
            <p:ph idx="3" type="body"/>
          </p:nvPr>
        </p:nvSpPr>
        <p:spPr>
          <a:xfrm>
            <a:off x="3234585" y="1223368"/>
            <a:ext cx="2676616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00" name="Google Shape;500;p22"/>
          <p:cNvSpPr txBox="1"/>
          <p:nvPr>
            <p:ph idx="4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01" name="Google Shape;501;p22"/>
          <p:cNvSpPr/>
          <p:nvPr>
            <p:ph idx="5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02" name="Google Shape;50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- Bildfolie">
  <p:cSld name="Text- Bildfolie"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23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5" name="Google Shape;505;p23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6" name="Google Shape;506;p23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07" name="Google Shape;507;p23"/>
          <p:cNvSpPr txBox="1"/>
          <p:nvPr>
            <p:ph idx="1" type="body"/>
          </p:nvPr>
        </p:nvSpPr>
        <p:spPr>
          <a:xfrm>
            <a:off x="388739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08" name="Google Shape;508;p23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9" name="Google Shape;509;p23"/>
          <p:cNvSpPr/>
          <p:nvPr>
            <p:ph idx="2" type="pic"/>
          </p:nvPr>
        </p:nvSpPr>
        <p:spPr>
          <a:xfrm>
            <a:off x="4654747" y="1223366"/>
            <a:ext cx="4102299" cy="34272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0" name="Google Shape;510;p23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11" name="Google Shape;511;p23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12" name="Google Shape;512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- Textfolie">
  <p:cSld name="Bild- Textfolie"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4"/>
          <p:cNvSpPr/>
          <p:nvPr>
            <p:ph idx="2" type="pic"/>
          </p:nvPr>
        </p:nvSpPr>
        <p:spPr>
          <a:xfrm>
            <a:off x="388739" y="1223366"/>
            <a:ext cx="4102299" cy="34272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5" name="Google Shape;515;p24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6" name="Google Shape;516;p24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7" name="Google Shape;517;p24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18" name="Google Shape;518;p24"/>
          <p:cNvSpPr txBox="1"/>
          <p:nvPr>
            <p:ph idx="1" type="body"/>
          </p:nvPr>
        </p:nvSpPr>
        <p:spPr>
          <a:xfrm>
            <a:off x="4654748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19" name="Google Shape;519;p24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0" name="Google Shape;520;p24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21" name="Google Shape;521;p24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22" name="Google Shape;522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mit Störer" showMasterSp="0">
  <p:cSld name="Bildfolie | mit Störer"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25" name="Google Shape;525;p25"/>
          <p:cNvSpPr txBox="1"/>
          <p:nvPr>
            <p:ph idx="1" type="body"/>
          </p:nvPr>
        </p:nvSpPr>
        <p:spPr>
          <a:xfrm>
            <a:off x="388739" y="2573536"/>
            <a:ext cx="2678400" cy="207704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135000" lIns="135000" spcFirstLastPara="1" rIns="270000" wrap="square" tIns="135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grpSp>
        <p:nvGrpSpPr>
          <p:cNvPr id="526" name="Google Shape;526;p25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527" name="Google Shape;527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28" name="Google Shape;528;p25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529" name="Google Shape;529;p25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530" name="Google Shape;530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31" name="Google Shape;531;p2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532" name="Google Shape;532;p25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533" name="Google Shape;533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34" name="Google Shape;534;p2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535" name="Google Shape;535;p25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536" name="Google Shape;536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37" name="Google Shape;537;p2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538" name="Google Shape;538;p25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539" name="Google Shape;539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0" name="Google Shape;540;p25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541" name="Google Shape;541;p25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542" name="Google Shape;542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3" name="Google Shape;543;p25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544" name="Google Shape;544;p25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545" name="Google Shape;545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6" name="Google Shape;546;p25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547" name="Google Shape;547;p25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548" name="Google Shape;548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9" name="Google Shape;549;p25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550" name="Google Shape;550;p25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551" name="Google Shape;551;p25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52" name="Google Shape;552;p25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553" name="Google Shape;553;p25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554" name="Google Shape;554;p25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555" name="Google Shape;555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56" name="Google Shape;556;p25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1x">
  <p:cSld name="Bildfolie | 1x"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26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59" name="Google Shape;559;p26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0" name="Google Shape;560;p26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1" name="Google Shape;561;p26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2" name="Google Shape;562;p26"/>
          <p:cNvSpPr/>
          <p:nvPr>
            <p:ph idx="2" type="pic"/>
          </p:nvPr>
        </p:nvSpPr>
        <p:spPr>
          <a:xfrm>
            <a:off x="388738" y="1223367"/>
            <a:ext cx="8368310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63" name="Google Shape;563;p26"/>
          <p:cNvSpPr txBox="1"/>
          <p:nvPr>
            <p:ph idx="1" type="body"/>
          </p:nvPr>
        </p:nvSpPr>
        <p:spPr>
          <a:xfrm>
            <a:off x="388738" y="4267703"/>
            <a:ext cx="8368310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64" name="Google Shape;564;p26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65" name="Google Shape;565;p26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66" name="Google Shape;566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2x">
  <p:cSld name="Bildfolie | 2x"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27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9" name="Google Shape;569;p27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0" name="Google Shape;570;p27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71" name="Google Shape;571;p27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2" name="Google Shape;572;p27"/>
          <p:cNvSpPr/>
          <p:nvPr>
            <p:ph idx="2" type="pic"/>
          </p:nvPr>
        </p:nvSpPr>
        <p:spPr>
          <a:xfrm>
            <a:off x="388738" y="1223367"/>
            <a:ext cx="410229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73" name="Google Shape;573;p27"/>
          <p:cNvSpPr txBox="1"/>
          <p:nvPr>
            <p:ph idx="1" type="body"/>
          </p:nvPr>
        </p:nvSpPr>
        <p:spPr>
          <a:xfrm>
            <a:off x="388738" y="4267703"/>
            <a:ext cx="410229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74" name="Google Shape;574;p27"/>
          <p:cNvSpPr/>
          <p:nvPr>
            <p:ph idx="3" type="pic"/>
          </p:nvPr>
        </p:nvSpPr>
        <p:spPr>
          <a:xfrm>
            <a:off x="4654748" y="1223367"/>
            <a:ext cx="410229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75" name="Google Shape;575;p27"/>
          <p:cNvSpPr txBox="1"/>
          <p:nvPr>
            <p:ph idx="4" type="body"/>
          </p:nvPr>
        </p:nvSpPr>
        <p:spPr>
          <a:xfrm>
            <a:off x="4654748" y="4267703"/>
            <a:ext cx="410229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76" name="Google Shape;576;p27"/>
          <p:cNvSpPr txBox="1"/>
          <p:nvPr>
            <p:ph idx="5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77" name="Google Shape;577;p27"/>
          <p:cNvSpPr/>
          <p:nvPr>
            <p:ph idx="6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78" name="Google Shape;578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3x">
  <p:cSld name="Bildfolie | 3x"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28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1" name="Google Shape;581;p28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2" name="Google Shape;582;p28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28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4" name="Google Shape;584;p28"/>
          <p:cNvSpPr/>
          <p:nvPr>
            <p:ph idx="2" type="pic"/>
          </p:nvPr>
        </p:nvSpPr>
        <p:spPr>
          <a:xfrm>
            <a:off x="388738" y="1223367"/>
            <a:ext cx="267731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85" name="Google Shape;585;p28"/>
          <p:cNvSpPr txBox="1"/>
          <p:nvPr>
            <p:ph idx="1" type="body"/>
          </p:nvPr>
        </p:nvSpPr>
        <p:spPr>
          <a:xfrm>
            <a:off x="388738" y="4267703"/>
            <a:ext cx="267731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86" name="Google Shape;586;p28"/>
          <p:cNvSpPr/>
          <p:nvPr>
            <p:ph idx="3" type="pic"/>
          </p:nvPr>
        </p:nvSpPr>
        <p:spPr>
          <a:xfrm>
            <a:off x="6079729" y="1223367"/>
            <a:ext cx="2677318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87" name="Google Shape;587;p28"/>
          <p:cNvSpPr txBox="1"/>
          <p:nvPr>
            <p:ph idx="4" type="body"/>
          </p:nvPr>
        </p:nvSpPr>
        <p:spPr>
          <a:xfrm>
            <a:off x="6079729" y="4267703"/>
            <a:ext cx="2677318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88" name="Google Shape;588;p28"/>
          <p:cNvSpPr/>
          <p:nvPr>
            <p:ph idx="5" type="pic"/>
          </p:nvPr>
        </p:nvSpPr>
        <p:spPr>
          <a:xfrm>
            <a:off x="3234233" y="1223367"/>
            <a:ext cx="267731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89" name="Google Shape;589;p28"/>
          <p:cNvSpPr txBox="1"/>
          <p:nvPr>
            <p:ph idx="6" type="body"/>
          </p:nvPr>
        </p:nvSpPr>
        <p:spPr>
          <a:xfrm>
            <a:off x="3234233" y="4267703"/>
            <a:ext cx="267731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90" name="Google Shape;590;p28"/>
          <p:cNvSpPr txBox="1"/>
          <p:nvPr>
            <p:ph idx="7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91" name="Google Shape;591;p28"/>
          <p:cNvSpPr/>
          <p:nvPr>
            <p:ph idx="8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92" name="Google Shape;592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altsfolie">
  <p:cSld name="Inhaltsfolie"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29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5" name="Google Shape;595;p29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6" name="Google Shape;596;p29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97" name="Google Shape;597;p29"/>
          <p:cNvSpPr txBox="1"/>
          <p:nvPr>
            <p:ph idx="1" type="body"/>
          </p:nvPr>
        </p:nvSpPr>
        <p:spPr>
          <a:xfrm>
            <a:off x="388738" y="1223367"/>
            <a:ext cx="8366525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98" name="Google Shape;598;p29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9" name="Google Shape;599;p29"/>
          <p:cNvSpPr txBox="1"/>
          <p:nvPr>
            <p:ph idx="2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00" name="Google Shape;600;p29"/>
          <p:cNvSpPr/>
          <p:nvPr>
            <p:ph idx="3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01" name="Google Shape;60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altsfolie | mit Text">
  <p:cSld name="Inhaltsfolie | mit Text"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30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4" name="Google Shape;604;p30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5" name="Google Shape;605;p30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6" name="Google Shape;606;p30"/>
          <p:cNvSpPr txBox="1"/>
          <p:nvPr>
            <p:ph idx="1" type="body"/>
          </p:nvPr>
        </p:nvSpPr>
        <p:spPr>
          <a:xfrm>
            <a:off x="6078646" y="1223367"/>
            <a:ext cx="2678400" cy="34272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07" name="Google Shape;607;p30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8" name="Google Shape;608;p30"/>
          <p:cNvSpPr txBox="1"/>
          <p:nvPr>
            <p:ph idx="2" type="body"/>
          </p:nvPr>
        </p:nvSpPr>
        <p:spPr>
          <a:xfrm>
            <a:off x="388738" y="1223368"/>
            <a:ext cx="5522814" cy="34272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09" name="Google Shape;609;p30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10" name="Google Shape;610;p30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11" name="Google Shape;611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altsfolie | zweispaltig">
  <p:cSld name="Inhaltsfolie | zweispaltig"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31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4" name="Google Shape;614;p31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5" name="Google Shape;615;p31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6" name="Google Shape;616;p31"/>
          <p:cNvSpPr txBox="1"/>
          <p:nvPr>
            <p:ph idx="1" type="body"/>
          </p:nvPr>
        </p:nvSpPr>
        <p:spPr>
          <a:xfrm>
            <a:off x="388738" y="1223367"/>
            <a:ext cx="4102300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17" name="Google Shape;617;p31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8" name="Google Shape;618;p31"/>
          <p:cNvSpPr txBox="1"/>
          <p:nvPr>
            <p:ph idx="2" type="body"/>
          </p:nvPr>
        </p:nvSpPr>
        <p:spPr>
          <a:xfrm>
            <a:off x="4654748" y="1223367"/>
            <a:ext cx="4102300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19" name="Google Shape;619;p31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20" name="Google Shape;620;p31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21" name="Google Shape;621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| weiß">
  <p:cSld name="Nur Titel | weiß"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2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4" name="Google Shape;624;p32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5" name="Google Shape;625;p32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6" name="Google Shape;626;p32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27" name="Google Shape;627;p32"/>
          <p:cNvSpPr txBox="1"/>
          <p:nvPr>
            <p:ph idx="1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28" name="Google Shape;628;p32"/>
          <p:cNvSpPr/>
          <p:nvPr>
            <p:ph idx="2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29" name="Google Shape;629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Zitatfolie">
  <p:cSld name="Zitatfolie"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33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2" name="Google Shape;632;p33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3" name="Google Shape;633;p33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4" name="Google Shape;634;p33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5" name="Google Shape;635;p33"/>
          <p:cNvSpPr/>
          <p:nvPr/>
        </p:nvSpPr>
        <p:spPr>
          <a:xfrm>
            <a:off x="388738" y="1223366"/>
            <a:ext cx="8368310" cy="342721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135000" lIns="135000" spcFirstLastPara="1" rIns="135000" wrap="square" tIns="1350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41E4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33"/>
          <p:cNvSpPr txBox="1"/>
          <p:nvPr>
            <p:ph idx="1" type="body"/>
          </p:nvPr>
        </p:nvSpPr>
        <p:spPr>
          <a:xfrm>
            <a:off x="1872893" y="2126973"/>
            <a:ext cx="5400000" cy="16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500"/>
              <a:buNone/>
              <a:defRPr i="1" sz="1500">
                <a:solidFill>
                  <a:srgbClr val="041E42"/>
                </a:solidFill>
              </a:defRPr>
            </a:lvl1pPr>
            <a:lvl2pPr indent="-2286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37" name="Google Shape;637;p33"/>
          <p:cNvSpPr txBox="1"/>
          <p:nvPr>
            <p:ph idx="2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38" name="Google Shape;638;p33"/>
          <p:cNvSpPr/>
          <p:nvPr>
            <p:ph idx="3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39" name="Google Shape;639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bild" showMasterSp="0">
  <p:cSld name="Titelbild">
    <p:bg>
      <p:bgPr>
        <a:solidFill>
          <a:schemeClr val="dk2"/>
        </a:solidFill>
      </p:bgPr>
    </p:bg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34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42" name="Google Shape;642;p34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43" name="Google Shape;643;p34"/>
          <p:cNvSpPr txBox="1"/>
          <p:nvPr>
            <p:ph type="title"/>
          </p:nvPr>
        </p:nvSpPr>
        <p:spPr>
          <a:xfrm>
            <a:off x="390122" y="2185298"/>
            <a:ext cx="3734629" cy="7729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sz="5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4" name="Google Shape;644;p34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5" name="Google Shape;645;p34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646" name="Google Shape;646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47" name="Google Shape;647;p34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648" name="Google Shape;648;p34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649" name="Google Shape;649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0" name="Google Shape;650;p3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651" name="Google Shape;651;p34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652" name="Google Shape;652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3" name="Google Shape;653;p3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654" name="Google Shape;654;p34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655" name="Google Shape;655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6" name="Google Shape;656;p3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657" name="Google Shape;657;p34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658" name="Google Shape;658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9" name="Google Shape;659;p34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660" name="Google Shape;660;p34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661" name="Google Shape;661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2" name="Google Shape;662;p34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663" name="Google Shape;663;p34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664" name="Google Shape;664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5" name="Google Shape;665;p34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666" name="Google Shape;666;p34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667" name="Google Shape;667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8" name="Google Shape;668;p34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669" name="Google Shape;669;p34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670" name="Google Shape;670;p34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71" name="Google Shape;671;p34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672" name="Google Shape;672;p34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673" name="Google Shape;673;p34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674" name="Google Shape;674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75" name="Google Shape;675;p34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676" name="Google Shape;676;p34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677" name="Google Shape;677;p34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p34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34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34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p34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p34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34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34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34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34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34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34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34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p34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34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34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34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34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34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p34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p34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34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p34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" name="Google Shape;700;p34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" name="Google Shape;701;p34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p34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34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p34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34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" name="Google Shape;706;p34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" name="Google Shape;707;p34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34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34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34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34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34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34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34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34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34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34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34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34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34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34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34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34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34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34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6" name="Google Shape;726;p34"/>
          <p:cNvSpPr/>
          <p:nvPr/>
        </p:nvSpPr>
        <p:spPr>
          <a:xfrm>
            <a:off x="7753302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7" name="Google Shape;727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728" name="Google Shape;728;p34"/>
          <p:cNvSpPr/>
          <p:nvPr>
            <p:ph idx="3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| mit Bild">
  <p:cSld name="Agenda | mit Bild"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35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1" name="Google Shape;731;p35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2" name="Google Shape;732;p35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3" name="Google Shape;733;p35"/>
          <p:cNvSpPr/>
          <p:nvPr>
            <p:ph idx="2" type="pic"/>
          </p:nvPr>
        </p:nvSpPr>
        <p:spPr>
          <a:xfrm>
            <a:off x="4654747" y="1223367"/>
            <a:ext cx="410229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34" name="Google Shape;734;p35"/>
          <p:cNvSpPr txBox="1"/>
          <p:nvPr>
            <p:ph idx="1" type="body"/>
          </p:nvPr>
        </p:nvSpPr>
        <p:spPr>
          <a:xfrm>
            <a:off x="4654747" y="4267703"/>
            <a:ext cx="410229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5" name="Google Shape;735;p35"/>
          <p:cNvSpPr txBox="1"/>
          <p:nvPr>
            <p:ph idx="3" type="body"/>
          </p:nvPr>
        </p:nvSpPr>
        <p:spPr>
          <a:xfrm>
            <a:off x="711045" y="1766033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6" name="Google Shape;736;p35"/>
          <p:cNvSpPr txBox="1"/>
          <p:nvPr>
            <p:ph idx="4" type="body"/>
          </p:nvPr>
        </p:nvSpPr>
        <p:spPr>
          <a:xfrm>
            <a:off x="388739" y="1766033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7" name="Google Shape;737;p35"/>
          <p:cNvSpPr txBox="1"/>
          <p:nvPr>
            <p:ph idx="5" type="body"/>
          </p:nvPr>
        </p:nvSpPr>
        <p:spPr>
          <a:xfrm>
            <a:off x="711045" y="3394032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8" name="Google Shape;738;p35"/>
          <p:cNvSpPr txBox="1"/>
          <p:nvPr>
            <p:ph idx="6" type="body"/>
          </p:nvPr>
        </p:nvSpPr>
        <p:spPr>
          <a:xfrm>
            <a:off x="388739" y="3394032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9" name="Google Shape;739;p35"/>
          <p:cNvSpPr txBox="1"/>
          <p:nvPr>
            <p:ph idx="7" type="body"/>
          </p:nvPr>
        </p:nvSpPr>
        <p:spPr>
          <a:xfrm>
            <a:off x="711045" y="2308700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0" name="Google Shape;740;p35"/>
          <p:cNvSpPr txBox="1"/>
          <p:nvPr>
            <p:ph idx="8" type="body"/>
          </p:nvPr>
        </p:nvSpPr>
        <p:spPr>
          <a:xfrm>
            <a:off x="388739" y="2308700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1" name="Google Shape;741;p35"/>
          <p:cNvSpPr txBox="1"/>
          <p:nvPr>
            <p:ph idx="9" type="body"/>
          </p:nvPr>
        </p:nvSpPr>
        <p:spPr>
          <a:xfrm>
            <a:off x="711045" y="2851366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2" name="Google Shape;742;p35"/>
          <p:cNvSpPr txBox="1"/>
          <p:nvPr>
            <p:ph idx="13" type="body"/>
          </p:nvPr>
        </p:nvSpPr>
        <p:spPr>
          <a:xfrm>
            <a:off x="388739" y="2851366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3" name="Google Shape;743;p35"/>
          <p:cNvSpPr txBox="1"/>
          <p:nvPr>
            <p:ph idx="14" type="body"/>
          </p:nvPr>
        </p:nvSpPr>
        <p:spPr>
          <a:xfrm>
            <a:off x="711045" y="3936698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4" name="Google Shape;744;p35"/>
          <p:cNvSpPr txBox="1"/>
          <p:nvPr>
            <p:ph idx="15" type="body"/>
          </p:nvPr>
        </p:nvSpPr>
        <p:spPr>
          <a:xfrm>
            <a:off x="388739" y="393669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5" name="Google Shape;745;p35"/>
          <p:cNvSpPr txBox="1"/>
          <p:nvPr>
            <p:ph idx="16" type="body"/>
          </p:nvPr>
        </p:nvSpPr>
        <p:spPr>
          <a:xfrm>
            <a:off x="711045" y="1223367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6" name="Google Shape;746;p35"/>
          <p:cNvSpPr txBox="1"/>
          <p:nvPr>
            <p:ph idx="17" type="body"/>
          </p:nvPr>
        </p:nvSpPr>
        <p:spPr>
          <a:xfrm>
            <a:off x="388739" y="1223367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7" name="Google Shape;747;p35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8" name="Google Shape;748;p35"/>
          <p:cNvSpPr txBox="1"/>
          <p:nvPr>
            <p:ph idx="18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9" name="Google Shape;749;p35"/>
          <p:cNvSpPr/>
          <p:nvPr>
            <p:ph idx="19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750" name="Google Shape;750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apiteltrenner" showMasterSp="0">
  <p:cSld name="Kapiteltrenner">
    <p:bg>
      <p:bgPr>
        <a:solidFill>
          <a:schemeClr val="dk2"/>
        </a:solidFill>
      </p:bgPr>
    </p:bg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36"/>
          <p:cNvSpPr txBox="1"/>
          <p:nvPr>
            <p:ph type="title"/>
          </p:nvPr>
        </p:nvSpPr>
        <p:spPr>
          <a:xfrm>
            <a:off x="388739" y="2156252"/>
            <a:ext cx="8368307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3" name="Google Shape;753;p36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4" name="Google Shape;754;p36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5" name="Google Shape;755;p36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6" name="Google Shape;756;p36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36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58" name="Google Shape;758;p36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759" name="Google Shape;759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0" name="Google Shape;760;p36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761" name="Google Shape;761;p36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762" name="Google Shape;762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3" name="Google Shape;763;p3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764" name="Google Shape;764;p36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765" name="Google Shape;765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6" name="Google Shape;766;p3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767" name="Google Shape;767;p36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768" name="Google Shape;768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9" name="Google Shape;769;p3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770" name="Google Shape;770;p36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771" name="Google Shape;771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72" name="Google Shape;772;p36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773" name="Google Shape;773;p36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774" name="Google Shape;774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75" name="Google Shape;775;p36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776" name="Google Shape;776;p36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777" name="Google Shape;777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78" name="Google Shape;778;p36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779" name="Google Shape;779;p36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780" name="Google Shape;780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1" name="Google Shape;781;p36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782" name="Google Shape;782;p36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783" name="Google Shape;783;p36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4" name="Google Shape;784;p36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785" name="Google Shape;785;p36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786" name="Google Shape;786;p36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787" name="Google Shape;787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8" name="Google Shape;788;p36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789" name="Google Shape;789;p36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790" name="Google Shape;790;p36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36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36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" name="Google Shape;793;p36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" name="Google Shape;794;p36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" name="Google Shape;795;p36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" name="Google Shape;796;p36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" name="Google Shape;797;p36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" name="Google Shape;798;p36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36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36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36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36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36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36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36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36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36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36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36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36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36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36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" name="Google Shape;813;p36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36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36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36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36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36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36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36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36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36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36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36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36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36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" name="Google Shape;827;p36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36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36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36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36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36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36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36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" name="Google Shape;835;p36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" name="Google Shape;836;p36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36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" name="Google Shape;838;p36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39" name="Google Shape;839;p36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0" name="Google Shape;840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p36"/>
          <p:cNvSpPr/>
          <p:nvPr>
            <p:ph idx="2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| Grau" showMasterSp="0">
  <p:cSld name="Nur Titel | Grau">
    <p:bg>
      <p:bgPr>
        <a:solidFill>
          <a:schemeClr val="dk2"/>
        </a:solidFill>
      </p:bgPr>
    </p:bg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37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4" name="Google Shape;844;p37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5" name="Google Shape;845;p37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6" name="Google Shape;846;p37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7" name="Google Shape;847;p37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37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37"/>
          <p:cNvSpPr txBox="1"/>
          <p:nvPr>
            <p:ph idx="1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None/>
              <a:defRPr sz="1200"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850" name="Google Shape;850;p37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1" name="Google Shape;851;p37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852" name="Google Shape;852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53" name="Google Shape;853;p37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854" name="Google Shape;854;p37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855" name="Google Shape;855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56" name="Google Shape;856;p3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857" name="Google Shape;857;p37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858" name="Google Shape;858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59" name="Google Shape;859;p3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860" name="Google Shape;860;p37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861" name="Google Shape;861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62" name="Google Shape;862;p3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863" name="Google Shape;863;p37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864" name="Google Shape;864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65" name="Google Shape;865;p37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866" name="Google Shape;866;p37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867" name="Google Shape;867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68" name="Google Shape;868;p37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869" name="Google Shape;869;p37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870" name="Google Shape;870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71" name="Google Shape;871;p37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872" name="Google Shape;872;p37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873" name="Google Shape;873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74" name="Google Shape;874;p37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875" name="Google Shape;875;p37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876" name="Google Shape;876;p37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77" name="Google Shape;877;p37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878" name="Google Shape;878;p37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879" name="Google Shape;879;p37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880" name="Google Shape;880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81" name="Google Shape;881;p37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882" name="Google Shape;882;p37"/>
          <p:cNvSpPr/>
          <p:nvPr>
            <p:ph idx="2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883" name="Google Shape;883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chlussfolie" showMasterSp="0">
  <p:cSld name="Schlussfolie">
    <p:bg>
      <p:bgPr>
        <a:solidFill>
          <a:schemeClr val="dk2"/>
        </a:solidFill>
      </p:bgPr>
    </p:bg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38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886" name="Google Shape;886;p38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87" name="Google Shape;887;p38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38"/>
          <p:cNvSpPr txBox="1"/>
          <p:nvPr>
            <p:ph idx="3" type="body"/>
          </p:nvPr>
        </p:nvSpPr>
        <p:spPr>
          <a:xfrm>
            <a:off x="388738" y="1985989"/>
            <a:ext cx="8368309" cy="117152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grpSp>
        <p:nvGrpSpPr>
          <p:cNvPr id="889" name="Google Shape;889;p38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890" name="Google Shape;890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91" name="Google Shape;891;p38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892" name="Google Shape;892;p38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893" name="Google Shape;893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94" name="Google Shape;894;p3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895" name="Google Shape;895;p38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896" name="Google Shape;896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97" name="Google Shape;897;p3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898" name="Google Shape;898;p38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899" name="Google Shape;899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0" name="Google Shape;900;p3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901" name="Google Shape;901;p38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902" name="Google Shape;902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3" name="Google Shape;903;p38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904" name="Google Shape;904;p38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905" name="Google Shape;905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6" name="Google Shape;906;p38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907" name="Google Shape;907;p38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908" name="Google Shape;908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9" name="Google Shape;909;p38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910" name="Google Shape;910;p38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911" name="Google Shape;911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12" name="Google Shape;912;p38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913" name="Google Shape;913;p38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914" name="Google Shape;914;p38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15" name="Google Shape;915;p38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916" name="Google Shape;916;p38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917" name="Google Shape;917;p38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918" name="Google Shape;918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19" name="Google Shape;919;p38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920" name="Google Shape;920;p38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921" name="Google Shape;921;p38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38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38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38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38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38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38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p38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38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" name="Google Shape;930;p38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38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" name="Google Shape;932;p38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" name="Google Shape;933;p38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" name="Google Shape;934;p38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38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" name="Google Shape;936;p38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" name="Google Shape;937;p38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" name="Google Shape;938;p38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" name="Google Shape;939;p38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" name="Google Shape;940;p38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" name="Google Shape;941;p38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" name="Google Shape;942;p38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38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38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" name="Google Shape;945;p38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" name="Google Shape;946;p38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38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38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" name="Google Shape;949;p38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" name="Google Shape;950;p38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38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38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" name="Google Shape;953;p38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38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" name="Google Shape;955;p38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" name="Google Shape;956;p38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38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38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" name="Google Shape;959;p38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38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38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p38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" name="Google Shape;963;p38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" name="Google Shape;964;p38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" name="Google Shape;965;p38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" name="Google Shape;966;p38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" name="Google Shape;967;p38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p38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38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70" name="Google Shape;970;p38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1" name="Google Shape;971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972" name="Google Shape;972;p38"/>
          <p:cNvSpPr/>
          <p:nvPr>
            <p:ph idx="4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5" name="Google Shape;975;p3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indent="-304800" lvl="1" marL="914400">
              <a:spcBef>
                <a:spcPts val="900"/>
              </a:spcBef>
              <a:spcAft>
                <a:spcPts val="0"/>
              </a:spcAft>
              <a:buSzPts val="1200"/>
              <a:buChar char="−"/>
              <a:defRPr/>
            </a:lvl2pPr>
            <a:lvl3pPr indent="-298450" lvl="2" marL="1371600">
              <a:spcBef>
                <a:spcPts val="900"/>
              </a:spcBef>
              <a:spcAft>
                <a:spcPts val="0"/>
              </a:spcAft>
              <a:buSzPts val="1100"/>
              <a:buChar char="−"/>
              <a:defRPr/>
            </a:lvl3pPr>
            <a:lvl4pPr indent="-298450" lvl="3" marL="1828800">
              <a:spcBef>
                <a:spcPts val="900"/>
              </a:spcBef>
              <a:spcAft>
                <a:spcPts val="0"/>
              </a:spcAft>
              <a:buSzPts val="1100"/>
              <a:buChar char="−"/>
              <a:defRPr/>
            </a:lvl4pPr>
            <a:lvl5pPr indent="-285750" lvl="4" marL="2286000">
              <a:spcBef>
                <a:spcPts val="900"/>
              </a:spcBef>
              <a:spcAft>
                <a:spcPts val="0"/>
              </a:spcAft>
              <a:buSzPts val="900"/>
              <a:buChar char="−"/>
              <a:defRPr/>
            </a:lvl5pPr>
            <a:lvl6pPr indent="-285750" lvl="5" marL="2743200">
              <a:spcBef>
                <a:spcPts val="900"/>
              </a:spcBef>
              <a:spcAft>
                <a:spcPts val="0"/>
              </a:spcAft>
              <a:buSzPts val="900"/>
              <a:buChar char="−"/>
              <a:defRPr/>
            </a:lvl6pPr>
            <a:lvl7pPr indent="-285750" lvl="6" marL="3200400">
              <a:spcBef>
                <a:spcPts val="900"/>
              </a:spcBef>
              <a:spcAft>
                <a:spcPts val="0"/>
              </a:spcAft>
              <a:buSzPts val="900"/>
              <a:buChar char="−"/>
              <a:defRPr/>
            </a:lvl7pPr>
            <a:lvl8pPr indent="-285750" lvl="7" marL="3657600">
              <a:spcBef>
                <a:spcPts val="900"/>
              </a:spcBef>
              <a:spcAft>
                <a:spcPts val="0"/>
              </a:spcAft>
              <a:buSzPts val="900"/>
              <a:buChar char="−"/>
              <a:defRPr/>
            </a:lvl8pPr>
            <a:lvl9pPr indent="-285750" lvl="8" marL="4114800">
              <a:spcBef>
                <a:spcPts val="900"/>
              </a:spcBef>
              <a:spcAft>
                <a:spcPts val="900"/>
              </a:spcAft>
              <a:buSzPts val="900"/>
              <a:buChar char="−"/>
              <a:defRPr/>
            </a:lvl9pPr>
          </a:lstStyle>
          <a:p/>
        </p:txBody>
      </p:sp>
      <p:sp>
        <p:nvSpPr>
          <p:cNvPr id="976" name="Google Shape;976;p39"/>
          <p:cNvSpPr txBox="1"/>
          <p:nvPr>
            <p:ph idx="12" type="sldNum"/>
          </p:nvPr>
        </p:nvSpPr>
        <p:spPr>
          <a:xfrm>
            <a:off x="8472458" y="4663217"/>
            <a:ext cx="548700" cy="92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977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theme" Target="../theme/theme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25.xml"/><Relationship Id="rId21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7.xml"/><Relationship Id="rId23" Type="http://schemas.openxmlformats.org/officeDocument/2006/relationships/theme" Target="../theme/theme4.xml"/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34.xml"/><Relationship Id="rId6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33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88739" y="1223367"/>
            <a:ext cx="8368308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Symbols"/>
              <a:buChar char="−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85750" lvl="5" marL="27432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85750" lvl="6" marL="3200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85750" lvl="7" marL="3657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85750" lvl="8" marL="4114800" marR="0" rtl="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13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" name="Google Shape;58;p13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59" name="Google Shape;59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0" name="Google Shape;60;p13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61" name="Google Shape;61;p13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62" name="Google Shape;62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3" name="Google Shape;63;p13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64" name="Google Shape;64;p13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65" name="Google Shape;65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" name="Google Shape;66;p13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67" name="Google Shape;67;p13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68" name="Google Shape;68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9" name="Google Shape;69;p13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70" name="Google Shape;70;p13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71" name="Google Shape;71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2" name="Google Shape;72;p13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73" name="Google Shape;73;p13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74" name="Google Shape;74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5" name="Google Shape;75;p13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76" name="Google Shape;76;p13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77" name="Google Shape;77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" name="Google Shape;78;p13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79" name="Google Shape;79;p13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80" name="Google Shape;80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1" name="Google Shape;81;p13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82" name="Google Shape;82;p13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83" name="Google Shape;83;p13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4" name="Google Shape;84;p13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85" name="Google Shape;85;p13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86" name="Google Shape;86;p13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87" name="Google Shape;87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8" name="Google Shape;88;p13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89" name="Google Shape;89;p13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44">
          <p15:clr>
            <a:srgbClr val="F26B43"/>
          </p15:clr>
        </p15:guide>
        <p15:guide id="4" pos="5516">
          <p15:clr>
            <a:srgbClr val="F26B43"/>
          </p15:clr>
        </p15:guide>
        <p15:guide id="5" orient="horz" pos="140">
          <p15:clr>
            <a:srgbClr val="F26B43"/>
          </p15:clr>
        </p15:guide>
        <p15:guide id="6" orient="horz" pos="599">
          <p15:clr>
            <a:srgbClr val="F26B43"/>
          </p15:clr>
        </p15:guide>
        <p15:guide id="7" orient="horz" pos="769">
          <p15:clr>
            <a:srgbClr val="F26B43"/>
          </p15:clr>
        </p15:guide>
        <p15:guide id="8" orient="horz" pos="2929">
          <p15:clr>
            <a:srgbClr val="F26B43"/>
          </p15:clr>
        </p15:guide>
        <p15:guide id="9" orient="horz" pos="3133">
          <p15:clr>
            <a:srgbClr val="F26B43"/>
          </p15:clr>
        </p15:guide>
        <p15:guide id="10" pos="2931">
          <p15:clr>
            <a:srgbClr val="F26B43"/>
          </p15:clr>
        </p15:guide>
        <p15:guide id="11" pos="282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8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03" name="Google Shape;403;p18"/>
          <p:cNvSpPr txBox="1"/>
          <p:nvPr>
            <p:ph idx="1" type="body"/>
          </p:nvPr>
        </p:nvSpPr>
        <p:spPr>
          <a:xfrm>
            <a:off x="388739" y="1223367"/>
            <a:ext cx="8368308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Symbols"/>
              <a:buChar char="−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85750" lvl="5" marL="27432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85750" lvl="6" marL="3200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85750" lvl="7" marL="3657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85750" lvl="8" marL="4114800" marR="0" rtl="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4" name="Google Shape;404;p18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5" name="Google Shape;405;p18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6" name="Google Shape;406;p18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7" name="Google Shape;407;p18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8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9" name="Google Shape;409;p18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410" name="Google Shape;410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11" name="Google Shape;411;p18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412" name="Google Shape;412;p18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413" name="Google Shape;413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14" name="Google Shape;414;p1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415" name="Google Shape;415;p18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416" name="Google Shape;416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17" name="Google Shape;417;p1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418" name="Google Shape;418;p18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419" name="Google Shape;419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0" name="Google Shape;420;p1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421" name="Google Shape;421;p18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422" name="Google Shape;422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3" name="Google Shape;423;p18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424" name="Google Shape;424;p18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425" name="Google Shape;425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6" name="Google Shape;426;p18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427" name="Google Shape;427;p18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428" name="Google Shape;428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9" name="Google Shape;429;p18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430" name="Google Shape;430;p18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431" name="Google Shape;431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32" name="Google Shape;432;p18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433" name="Google Shape;433;p18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434" name="Google Shape;434;p18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35" name="Google Shape;435;p18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436" name="Google Shape;436;p18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437" name="Google Shape;437;p18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438" name="Google Shape;438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39" name="Google Shape;439;p18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440" name="Google Shape;440;p18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  <p:sldLayoutId id="2147483679" r:id="rId17"/>
    <p:sldLayoutId id="2147483680" r:id="rId18"/>
    <p:sldLayoutId id="2147483681" r:id="rId19"/>
    <p:sldLayoutId id="2147483682" r:id="rId20"/>
    <p:sldLayoutId id="2147483683" r:id="rId21"/>
    <p:sldLayoutId id="2147483684" r:id="rId2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44">
          <p15:clr>
            <a:srgbClr val="F26B43"/>
          </p15:clr>
        </p15:guide>
        <p15:guide id="4" pos="5516">
          <p15:clr>
            <a:srgbClr val="F26B43"/>
          </p15:clr>
        </p15:guide>
        <p15:guide id="5" orient="horz" pos="140">
          <p15:clr>
            <a:srgbClr val="F26B43"/>
          </p15:clr>
        </p15:guide>
        <p15:guide id="6" orient="horz" pos="599">
          <p15:clr>
            <a:srgbClr val="F26B43"/>
          </p15:clr>
        </p15:guide>
        <p15:guide id="7" orient="horz" pos="769">
          <p15:clr>
            <a:srgbClr val="F26B43"/>
          </p15:clr>
        </p15:guide>
        <p15:guide id="8" orient="horz" pos="2929">
          <p15:clr>
            <a:srgbClr val="F26B43"/>
          </p15:clr>
        </p15:guide>
        <p15:guide id="9" orient="horz" pos="3133">
          <p15:clr>
            <a:srgbClr val="F26B43"/>
          </p15:clr>
        </p15:guide>
        <p15:guide id="10" pos="2931">
          <p15:clr>
            <a:srgbClr val="F26B43"/>
          </p15:clr>
        </p15:guide>
        <p15:guide id="11" pos="282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4.png"/><Relationship Id="rId4" Type="http://schemas.openxmlformats.org/officeDocument/2006/relationships/image" Target="../media/image26.png"/><Relationship Id="rId5" Type="http://schemas.openxmlformats.org/officeDocument/2006/relationships/image" Target="../media/image2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jp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41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/>
          </a:p>
        </p:txBody>
      </p:sp>
      <p:pic>
        <p:nvPicPr>
          <p:cNvPr descr="Ein Bild, das Text, Geschirr enthält.&#10;&#10;Automatisch generierte Beschreibung" id="983" name="Google Shape;983;p41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1875" l="0" r="0" t="11875"/>
          <a:stretch/>
        </p:blipFill>
        <p:spPr>
          <a:xfrm>
            <a:off x="0" y="940699"/>
            <a:ext cx="9144000" cy="420280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84" name="Google Shape;984;p41"/>
          <p:cNvSpPr txBox="1"/>
          <p:nvPr>
            <p:ph type="title"/>
          </p:nvPr>
        </p:nvSpPr>
        <p:spPr>
          <a:xfrm>
            <a:off x="351043" y="1938119"/>
            <a:ext cx="84060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</a:pPr>
            <a:r>
              <a:rPr lang="en" sz="2700"/>
              <a:t>Automatic Detection of Parkinson’s Disease </a:t>
            </a:r>
            <a:br>
              <a:rPr lang="en" sz="2700"/>
            </a:br>
            <a:r>
              <a:rPr lang="en" sz="2700"/>
              <a:t>Using Gait Signals</a:t>
            </a:r>
            <a:endParaRPr sz="2700"/>
          </a:p>
        </p:txBody>
      </p:sp>
      <p:sp>
        <p:nvSpPr>
          <p:cNvPr id="985" name="Google Shape;985;p41"/>
          <p:cNvSpPr txBox="1"/>
          <p:nvPr/>
        </p:nvSpPr>
        <p:spPr>
          <a:xfrm>
            <a:off x="3307963" y="2626027"/>
            <a:ext cx="4302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41"/>
          <p:cNvSpPr txBox="1"/>
          <p:nvPr/>
        </p:nvSpPr>
        <p:spPr>
          <a:xfrm>
            <a:off x="88475" y="3996750"/>
            <a:ext cx="4564500" cy="92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Saranya Bhattacharjee</a:t>
            </a:r>
            <a:r>
              <a:rPr lang="en">
                <a:solidFill>
                  <a:schemeClr val="lt1"/>
                </a:solidFill>
              </a:rPr>
              <a:t> (</a:t>
            </a: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aj81owid</a:t>
            </a:r>
            <a:r>
              <a:rPr lang="en">
                <a:solidFill>
                  <a:schemeClr val="lt1"/>
                </a:solidFill>
              </a:rPr>
              <a:t>)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MSc Artificial Intelligence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 Time Series, 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Pattern Recognition La</a:t>
            </a:r>
            <a:r>
              <a:rPr lang="en">
                <a:solidFill>
                  <a:schemeClr val="lt1"/>
                </a:solidFill>
              </a:rPr>
              <a:t>b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Supervisor: 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Dr.-Ing. Tomás Arias-Vergara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0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3020">
                <a:solidFill>
                  <a:srgbClr val="1C4587"/>
                </a:solidFill>
              </a:rPr>
              <a:t>Talk Overview: </a:t>
            </a:r>
            <a:endParaRPr b="1" sz="3020">
              <a:solidFill>
                <a:srgbClr val="1C4587"/>
              </a:solidFill>
            </a:endParaRPr>
          </a:p>
        </p:txBody>
      </p:sp>
      <p:sp>
        <p:nvSpPr>
          <p:cNvPr id="992" name="Google Shape;992;p42"/>
          <p:cNvSpPr txBox="1"/>
          <p:nvPr>
            <p:ph idx="1" type="body"/>
          </p:nvPr>
        </p:nvSpPr>
        <p:spPr>
          <a:xfrm>
            <a:off x="311700" y="1303350"/>
            <a:ext cx="8520600" cy="36387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/>
          </a:bodyPr>
          <a:lstStyle/>
          <a:p>
            <a:pPr indent="-355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Introduction &amp; Motivation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Related Work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Dataset Overview and Analysis: PhysioNet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TSFresh-</a:t>
            </a:r>
            <a:r>
              <a:rPr i="1" lang="en" sz="2000"/>
              <a:t>Feature Extraction and PCA Preparation Pipeline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PCA Visualization of Extracted Gait Features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Machine Learning Framework</a:t>
            </a:r>
            <a:r>
              <a:rPr i="1" lang="en" sz="2000"/>
              <a:t> 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Results &amp; Key Findings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Conclusions, Limitations &amp; Future Work</a:t>
            </a:r>
            <a:r>
              <a:rPr i="1" lang="en" sz="2000"/>
              <a:t> 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SzPts val="2000"/>
              <a:buAutoNum type="arabicPeriod"/>
            </a:pPr>
            <a:r>
              <a:rPr i="1" lang="en" sz="2000"/>
              <a:t>Q&amp;A</a:t>
            </a:r>
            <a:endParaRPr i="1"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6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p43"/>
          <p:cNvSpPr txBox="1"/>
          <p:nvPr>
            <p:ph type="title"/>
          </p:nvPr>
        </p:nvSpPr>
        <p:spPr>
          <a:xfrm>
            <a:off x="388739" y="225889"/>
            <a:ext cx="51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and Motivation</a:t>
            </a:r>
            <a:endParaRPr/>
          </a:p>
        </p:txBody>
      </p:sp>
      <p:sp>
        <p:nvSpPr>
          <p:cNvPr id="998" name="Google Shape;998;p43"/>
          <p:cNvSpPr txBox="1"/>
          <p:nvPr>
            <p:ph idx="2" type="body"/>
          </p:nvPr>
        </p:nvSpPr>
        <p:spPr>
          <a:xfrm>
            <a:off x="640272" y="1978592"/>
            <a:ext cx="4102200" cy="34272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097A7"/>
                </a:solidFill>
              </a:rPr>
              <a:t>WHY AUTOMATE PD DETECTION?</a:t>
            </a:r>
            <a:endParaRPr b="1" sz="1300">
              <a:solidFill>
                <a:srgbClr val="0097A7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lang="en">
                <a:solidFill>
                  <a:srgbClr val="041E42"/>
                </a:solidFill>
              </a:rPr>
              <a:t>Motor symptoms are measurable</a:t>
            </a:r>
            <a:endParaRPr b="1" sz="1300">
              <a:solidFill>
                <a:srgbClr val="0097A7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45566"/>
                </a:solidFill>
              </a:rPr>
              <a:t>Tremor, bradykinesia &amp; instability directly alter gait force patterns</a:t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41E42"/>
                </a:solidFill>
              </a:rPr>
              <a:t>Clinical assessment is subjective</a:t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45566"/>
                </a:solidFill>
              </a:rPr>
              <a:t>UPDRS scores vary by examiner — automated biomarkers reduce variability</a:t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lang="en">
                <a:solidFill>
                  <a:srgbClr val="041E42"/>
                </a:solidFill>
              </a:rPr>
              <a:t>vGRF signals are accessible</a:t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445566"/>
                </a:solidFill>
              </a:rPr>
              <a:t>Force plates &amp; wearables enable scalable, non-invasive PD screening</a:t>
            </a:r>
            <a:endParaRPr sz="1050">
              <a:solidFill>
                <a:srgbClr val="445566"/>
              </a:solidFill>
            </a:endParaRPr>
          </a:p>
        </p:txBody>
      </p:sp>
      <p:sp>
        <p:nvSpPr>
          <p:cNvPr id="999" name="Google Shape;999;p43"/>
          <p:cNvSpPr txBox="1"/>
          <p:nvPr>
            <p:ph idx="3" type="body"/>
          </p:nvPr>
        </p:nvSpPr>
        <p:spPr>
          <a:xfrm>
            <a:off x="388738" y="515699"/>
            <a:ext cx="51333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"/>
              <a:t>Parkinson's Disease · Automated Gait Analysis</a:t>
            </a:r>
            <a:endParaRPr/>
          </a:p>
        </p:txBody>
      </p:sp>
      <p:grpSp>
        <p:nvGrpSpPr>
          <p:cNvPr id="1000" name="Google Shape;1000;p43"/>
          <p:cNvGrpSpPr/>
          <p:nvPr/>
        </p:nvGrpSpPr>
        <p:grpSpPr>
          <a:xfrm>
            <a:off x="410625" y="1099525"/>
            <a:ext cx="9019275" cy="738675"/>
            <a:chOff x="410625" y="1099525"/>
            <a:chExt cx="9019275" cy="738675"/>
          </a:xfrm>
        </p:grpSpPr>
        <p:sp>
          <p:nvSpPr>
            <p:cNvPr id="1001" name="Google Shape;1001;p43"/>
            <p:cNvSpPr/>
            <p:nvPr/>
          </p:nvSpPr>
          <p:spPr>
            <a:xfrm>
              <a:off x="2576550" y="1124150"/>
              <a:ext cx="2051100" cy="682800"/>
            </a:xfrm>
            <a:prstGeom prst="roundRect">
              <a:avLst>
                <a:gd fmla="val 36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2" name="Google Shape;1002;p43"/>
            <p:cNvSpPr/>
            <p:nvPr/>
          </p:nvSpPr>
          <p:spPr>
            <a:xfrm>
              <a:off x="4742475" y="1099525"/>
              <a:ext cx="2051100" cy="707400"/>
            </a:xfrm>
            <a:prstGeom prst="roundRect">
              <a:avLst>
                <a:gd fmla="val 36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03" name="Google Shape;1003;p43"/>
            <p:cNvGrpSpPr/>
            <p:nvPr/>
          </p:nvGrpSpPr>
          <p:grpSpPr>
            <a:xfrm>
              <a:off x="410625" y="1099525"/>
              <a:ext cx="9019275" cy="738675"/>
              <a:chOff x="410625" y="1099525"/>
              <a:chExt cx="9019275" cy="738675"/>
            </a:xfrm>
          </p:grpSpPr>
          <p:sp>
            <p:nvSpPr>
              <p:cNvPr id="1004" name="Google Shape;1004;p43"/>
              <p:cNvSpPr/>
              <p:nvPr/>
            </p:nvSpPr>
            <p:spPr>
              <a:xfrm>
                <a:off x="410625" y="1099525"/>
                <a:ext cx="2051100" cy="682800"/>
              </a:xfrm>
              <a:prstGeom prst="roundRect">
                <a:avLst>
                  <a:gd fmla="val 36000" name="adj"/>
                </a:avLst>
              </a:prstGeom>
              <a:solidFill>
                <a:srgbClr val="041E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5" name="Google Shape;1005;p43"/>
              <p:cNvSpPr txBox="1"/>
              <p:nvPr/>
            </p:nvSpPr>
            <p:spPr>
              <a:xfrm>
                <a:off x="663525" y="1510025"/>
                <a:ext cx="17982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People affected worldwide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6" name="Google Shape;1006;p43"/>
              <p:cNvSpPr txBox="1"/>
              <p:nvPr/>
            </p:nvSpPr>
            <p:spPr>
              <a:xfrm>
                <a:off x="2642075" y="1468900"/>
                <a:ext cx="20109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Most common </a:t>
                </a:r>
                <a:r>
                  <a:rPr lang="en" sz="900">
                    <a:solidFill>
                      <a:srgbClr val="AACCEE"/>
                    </a:solidFill>
                    <a:highlight>
                      <a:srgbClr val="1F1F1F"/>
                    </a:highlight>
                  </a:rPr>
                  <a:t>neurodegenerative</a:t>
                </a: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 disorder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7" name="Google Shape;1007;p43"/>
              <p:cNvSpPr txBox="1"/>
              <p:nvPr/>
            </p:nvSpPr>
            <p:spPr>
              <a:xfrm>
                <a:off x="4946900" y="1538200"/>
                <a:ext cx="20109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Subjective clinical rating scale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8" name="Google Shape;1008;p43"/>
              <p:cNvSpPr/>
              <p:nvPr/>
            </p:nvSpPr>
            <p:spPr>
              <a:xfrm>
                <a:off x="6908400" y="1099525"/>
                <a:ext cx="2051100" cy="707400"/>
              </a:xfrm>
              <a:prstGeom prst="roundRect">
                <a:avLst>
                  <a:gd fmla="val 36000" name="adj"/>
                </a:avLst>
              </a:prstGeom>
              <a:solidFill>
                <a:srgbClr val="041E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9" name="Google Shape;1009;p43"/>
              <p:cNvSpPr txBox="1"/>
              <p:nvPr/>
            </p:nvSpPr>
            <p:spPr>
              <a:xfrm>
                <a:off x="957150" y="1099525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10M+</a:t>
                </a:r>
                <a:endParaRPr b="0" i="0" sz="1400" u="none" cap="none" strike="noStrike">
                  <a:solidFill>
                    <a:srgbClr val="0097A7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0" name="Google Shape;1010;p43"/>
              <p:cNvSpPr txBox="1"/>
              <p:nvPr/>
            </p:nvSpPr>
            <p:spPr>
              <a:xfrm>
                <a:off x="3223575" y="1124150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2nd</a:t>
                </a:r>
                <a:endParaRPr b="0" i="0" sz="1400" u="none" cap="none" strike="noStrike">
                  <a:solidFill>
                    <a:srgbClr val="0097A7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1" name="Google Shape;1011;p43"/>
              <p:cNvSpPr txBox="1"/>
              <p:nvPr/>
            </p:nvSpPr>
            <p:spPr>
              <a:xfrm>
                <a:off x="5185075" y="1099525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UPDRS</a:t>
                </a:r>
                <a:endParaRPr b="0" i="0" sz="1400" cap="none" strike="noStrike">
                  <a:solidFill>
                    <a:srgbClr val="0097A7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2" name="Google Shape;1012;p43"/>
              <p:cNvSpPr txBox="1"/>
              <p:nvPr/>
            </p:nvSpPr>
            <p:spPr>
              <a:xfrm>
                <a:off x="7419000" y="1124150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vGRF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3" name="Google Shape;1013;p43"/>
              <p:cNvSpPr txBox="1"/>
              <p:nvPr/>
            </p:nvSpPr>
            <p:spPr>
              <a:xfrm>
                <a:off x="7251725" y="1510025"/>
                <a:ext cx="20109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Objective gait biomarker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1014" name="Google Shape;101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500" y="4059525"/>
            <a:ext cx="8434949" cy="562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5" name="Google Shape;1015;p43"/>
          <p:cNvGrpSpPr/>
          <p:nvPr/>
        </p:nvGrpSpPr>
        <p:grpSpPr>
          <a:xfrm>
            <a:off x="4797600" y="2024575"/>
            <a:ext cx="4161900" cy="1551125"/>
            <a:chOff x="4797600" y="2024575"/>
            <a:chExt cx="4161900" cy="1551125"/>
          </a:xfrm>
        </p:grpSpPr>
        <p:sp>
          <p:nvSpPr>
            <p:cNvPr id="1016" name="Google Shape;1016;p43"/>
            <p:cNvSpPr/>
            <p:nvPr/>
          </p:nvSpPr>
          <p:spPr>
            <a:xfrm>
              <a:off x="4797600" y="2349300"/>
              <a:ext cx="4161900" cy="1226400"/>
            </a:xfrm>
            <a:prstGeom prst="roundRect">
              <a:avLst>
                <a:gd fmla="val 28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i="1" lang="en">
                  <a:solidFill>
                    <a:schemeClr val="lt1"/>
                  </a:solidFill>
                </a:rPr>
                <a:t>"Can TSFresh-derived bilateral gait features reliably distinguish PD patients from healthy controls using classical ML classifiers?"</a:t>
              </a:r>
              <a:endParaRPr sz="1800"/>
            </a:p>
          </p:txBody>
        </p:sp>
        <p:sp>
          <p:nvSpPr>
            <p:cNvPr id="1017" name="Google Shape;1017;p43"/>
            <p:cNvSpPr txBox="1"/>
            <p:nvPr/>
          </p:nvSpPr>
          <p:spPr>
            <a:xfrm>
              <a:off x="4907025" y="2024575"/>
              <a:ext cx="28968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en" sz="1300">
                  <a:solidFill>
                    <a:schemeClr val="accent2"/>
                  </a:solidFill>
                </a:rPr>
                <a:t>Research Question </a:t>
              </a:r>
              <a:endParaRPr sz="1200">
                <a:solidFill>
                  <a:schemeClr val="dk1"/>
                </a:solidFill>
              </a:endParaRPr>
            </a:p>
          </p:txBody>
        </p:sp>
      </p:grpSp>
      <p:sp>
        <p:nvSpPr>
          <p:cNvPr id="1018" name="Google Shape;1018;p43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  <p:sp>
        <p:nvSpPr>
          <p:cNvPr id="1019" name="Google Shape;1019;p43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3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p44"/>
          <p:cNvSpPr/>
          <p:nvPr/>
        </p:nvSpPr>
        <p:spPr>
          <a:xfrm>
            <a:off x="3274025" y="1046675"/>
            <a:ext cx="2757900" cy="354000"/>
          </a:xfrm>
          <a:prstGeom prst="roundRect">
            <a:avLst>
              <a:gd fmla="val 28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5" name="Google Shape;1025;p44"/>
          <p:cNvSpPr txBox="1"/>
          <p:nvPr>
            <p:ph type="title"/>
          </p:nvPr>
        </p:nvSpPr>
        <p:spPr>
          <a:xfrm>
            <a:off x="388739" y="225889"/>
            <a:ext cx="51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Related Work</a:t>
            </a:r>
            <a:endParaRPr/>
          </a:p>
        </p:txBody>
      </p:sp>
      <p:sp>
        <p:nvSpPr>
          <p:cNvPr id="1026" name="Google Shape;1026;p44"/>
          <p:cNvSpPr txBox="1"/>
          <p:nvPr>
            <p:ph idx="3" type="body"/>
          </p:nvPr>
        </p:nvSpPr>
        <p:spPr>
          <a:xfrm>
            <a:off x="388738" y="515699"/>
            <a:ext cx="51333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"/>
              <a:t>Existing Approaches to PD Detection from Gait</a:t>
            </a:r>
            <a:endParaRPr/>
          </a:p>
        </p:txBody>
      </p:sp>
      <p:sp>
        <p:nvSpPr>
          <p:cNvPr id="1027" name="Google Shape;1027;p44"/>
          <p:cNvSpPr txBox="1"/>
          <p:nvPr/>
        </p:nvSpPr>
        <p:spPr>
          <a:xfrm>
            <a:off x="583800" y="4314575"/>
            <a:ext cx="8313300" cy="2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[1] Trabassi, D. et al. (2022). "Machine Learning Approach to Support the Detection of Parkinson's Disease in IMU-Based Gait Analysis." Sensors, 22(10), 3700.  </a:t>
            </a:r>
            <a:endParaRPr i="1" sz="700">
              <a:solidFill>
                <a:srgbClr val="6B7C9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[2] Tsakanikas, V. et al. (2023). "Evaluating Gait Impairment in Parkinson's Disease from Instrumented Insole and IMU Sensor Data." Sensors, 23(8), 3902..   </a:t>
            </a:r>
            <a:endParaRPr i="1" sz="700">
              <a:solidFill>
                <a:srgbClr val="6B7C9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</a:pPr>
            <a:r>
              <a:rPr i="1" lang="en" sz="700">
                <a:solidFill>
                  <a:srgbClr val="6B7C93"/>
                </a:solidFill>
              </a:rPr>
              <a:t>[3] Navita et al. (2025). "Gait-Based Parkinson's Disease Diagnosis and Severity Classification Using Force Sensors and Machine Learning." Scientific Reports.</a:t>
            </a:r>
            <a:endParaRPr sz="1200">
              <a:solidFill>
                <a:schemeClr val="dk1"/>
              </a:solidFill>
            </a:endParaRPr>
          </a:p>
        </p:txBody>
      </p:sp>
      <p:grpSp>
        <p:nvGrpSpPr>
          <p:cNvPr id="1028" name="Google Shape;1028;p44"/>
          <p:cNvGrpSpPr/>
          <p:nvPr/>
        </p:nvGrpSpPr>
        <p:grpSpPr>
          <a:xfrm>
            <a:off x="388750" y="1037938"/>
            <a:ext cx="3183075" cy="2538985"/>
            <a:chOff x="388750" y="1037938"/>
            <a:chExt cx="3183075" cy="2538985"/>
          </a:xfrm>
        </p:grpSpPr>
        <p:sp>
          <p:nvSpPr>
            <p:cNvPr id="1029" name="Google Shape;1029;p44"/>
            <p:cNvSpPr/>
            <p:nvPr/>
          </p:nvSpPr>
          <p:spPr>
            <a:xfrm>
              <a:off x="402700" y="1037938"/>
              <a:ext cx="2757900" cy="354000"/>
            </a:xfrm>
            <a:prstGeom prst="roundRect">
              <a:avLst>
                <a:gd fmla="val 28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t/>
              </a:r>
              <a:endParaRPr/>
            </a:p>
          </p:txBody>
        </p:sp>
        <p:sp>
          <p:nvSpPr>
            <p:cNvPr id="1030" name="Google Shape;1030;p44"/>
            <p:cNvSpPr/>
            <p:nvPr/>
          </p:nvSpPr>
          <p:spPr>
            <a:xfrm>
              <a:off x="388750" y="1283123"/>
              <a:ext cx="2757900" cy="2293800"/>
            </a:xfrm>
            <a:prstGeom prst="roundRect">
              <a:avLst>
                <a:gd fmla="val 28000" name="adj"/>
              </a:avLst>
            </a:prstGeom>
            <a:solidFill>
              <a:schemeClr val="lt2"/>
            </a:solidFill>
            <a:ln cap="flat" cmpd="sng" w="9525">
              <a:solidFill>
                <a:srgbClr val="D8E4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" name="Google Shape;1031;p44"/>
            <p:cNvSpPr txBox="1"/>
            <p:nvPr/>
          </p:nvSpPr>
          <p:spPr>
            <a:xfrm>
              <a:off x="489250" y="1648700"/>
              <a:ext cx="891000" cy="30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8899AA"/>
                  </a:solidFill>
                </a:rPr>
                <a:t>SIGNAL</a:t>
              </a:r>
              <a:endParaRPr/>
            </a:p>
          </p:txBody>
        </p:sp>
        <p:sp>
          <p:nvSpPr>
            <p:cNvPr id="1032" name="Google Shape;1032;p44"/>
            <p:cNvSpPr txBox="1"/>
            <p:nvPr/>
          </p:nvSpPr>
          <p:spPr>
            <a:xfrm>
              <a:off x="1131825" y="1679450"/>
              <a:ext cx="2378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lang="en" sz="950">
                  <a:solidFill>
                    <a:srgbClr val="445566"/>
                  </a:solidFill>
                </a:rPr>
                <a:t>Single trunk IMU (lower back, L5)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44"/>
            <p:cNvSpPr txBox="1"/>
            <p:nvPr/>
          </p:nvSpPr>
          <p:spPr>
            <a:xfrm>
              <a:off x="1131825" y="1849025"/>
              <a:ext cx="2378100" cy="5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lang="en" sz="950">
                  <a:solidFill>
                    <a:srgbClr val="445566"/>
                  </a:solidFill>
                </a:rPr>
                <a:t>7 hand-picked — stride time, </a:t>
              </a:r>
              <a:endParaRPr sz="950">
                <a:solidFill>
                  <a:srgbClr val="445566"/>
                </a:solidFill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lang="en" sz="950">
                  <a:solidFill>
                    <a:srgbClr val="445566"/>
                  </a:solidFill>
                </a:rPr>
                <a:t>cadence, pelvic kinematics, stability indexes.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44"/>
            <p:cNvSpPr txBox="1"/>
            <p:nvPr/>
          </p:nvSpPr>
          <p:spPr>
            <a:xfrm>
              <a:off x="474600" y="1902300"/>
              <a:ext cx="11364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50"/>
                <a:buFont typeface="Arial"/>
                <a:buNone/>
              </a:pPr>
              <a:r>
                <a:rPr b="1" i="0" lang="en" sz="750" u="none" cap="none" strike="noStrike">
                  <a:solidFill>
                    <a:srgbClr val="8899AA"/>
                  </a:solidFill>
                  <a:latin typeface="Arial"/>
                  <a:ea typeface="Arial"/>
                  <a:cs typeface="Arial"/>
                  <a:sym typeface="Arial"/>
                </a:rPr>
                <a:t>FEATURES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44"/>
            <p:cNvSpPr txBox="1"/>
            <p:nvPr/>
          </p:nvSpPr>
          <p:spPr>
            <a:xfrm>
              <a:off x="446250" y="2375825"/>
              <a:ext cx="1193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50"/>
                <a:buFont typeface="Arial"/>
                <a:buNone/>
              </a:pPr>
              <a:r>
                <a:rPr b="1" i="0" lang="en" sz="750" u="none" cap="none" strike="noStrike">
                  <a:solidFill>
                    <a:srgbClr val="8899AA"/>
                  </a:solidFill>
                  <a:latin typeface="Arial"/>
                  <a:ea typeface="Arial"/>
                  <a:cs typeface="Arial"/>
                  <a:sym typeface="Arial"/>
                </a:rPr>
                <a:t>ACCURACY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44"/>
            <p:cNvSpPr txBox="1"/>
            <p:nvPr/>
          </p:nvSpPr>
          <p:spPr>
            <a:xfrm>
              <a:off x="1193725" y="2333250"/>
              <a:ext cx="2378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1" lang="en" sz="950">
                  <a:solidFill>
                    <a:srgbClr val="041E42"/>
                  </a:solidFill>
                </a:rPr>
                <a:t>&gt;80% RF — single sensor only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44"/>
            <p:cNvSpPr txBox="1"/>
            <p:nvPr/>
          </p:nvSpPr>
          <p:spPr>
            <a:xfrm>
              <a:off x="509450" y="2691000"/>
              <a:ext cx="2433600" cy="6078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875"/>
                <a:buFont typeface="Arial"/>
                <a:buNone/>
              </a:pPr>
              <a:r>
                <a:rPr lang="en" sz="850">
                  <a:solidFill>
                    <a:srgbClr val="7D4D0E"/>
                  </a:solidFill>
                </a:rPr>
                <a:t>Manual feature selection — no bilateral foot signal; multicollinearity risk; not reproducible across datasets</a:t>
              </a:r>
              <a:endParaRPr sz="85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1" sz="700">
                <a:solidFill>
                  <a:srgbClr val="6B7C93"/>
                </a:solidFill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t/>
              </a:r>
              <a:endParaRPr i="1" sz="700">
                <a:solidFill>
                  <a:srgbClr val="6B7C93"/>
                </a:solidFill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i="1" lang="en" sz="700">
                  <a:solidFill>
                    <a:srgbClr val="6B7C93"/>
                  </a:solidFill>
                </a:rPr>
                <a:t> </a:t>
              </a:r>
              <a:r>
                <a:rPr i="1" lang="en" sz="700">
                  <a:solidFill>
                    <a:srgbClr val="6B7C93"/>
                  </a:solidFill>
                </a:rPr>
                <a:t>[1] Trabassi et al. (Sensors, 2022).  </a:t>
              </a:r>
              <a:endParaRPr sz="1200">
                <a:solidFill>
                  <a:schemeClr val="dk1"/>
                </a:solidFill>
              </a:endParaRPr>
            </a:p>
          </p:txBody>
        </p:sp>
      </p:grpSp>
      <p:sp>
        <p:nvSpPr>
          <p:cNvPr id="1038" name="Google Shape;1038;p44"/>
          <p:cNvSpPr txBox="1"/>
          <p:nvPr/>
        </p:nvSpPr>
        <p:spPr>
          <a:xfrm>
            <a:off x="551125" y="985200"/>
            <a:ext cx="2541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lang="en" sz="1000">
                <a:solidFill>
                  <a:schemeClr val="lt1"/>
                </a:solidFill>
              </a:rPr>
              <a:t>Handcrafted Features + Classical ML</a:t>
            </a:r>
            <a:endParaRPr sz="1200">
              <a:solidFill>
                <a:schemeClr val="dk1"/>
              </a:solidFill>
            </a:endParaRPr>
          </a:p>
        </p:txBody>
      </p:sp>
      <p:grpSp>
        <p:nvGrpSpPr>
          <p:cNvPr id="1039" name="Google Shape;1039;p44"/>
          <p:cNvGrpSpPr/>
          <p:nvPr/>
        </p:nvGrpSpPr>
        <p:grpSpPr>
          <a:xfrm>
            <a:off x="492475" y="3730538"/>
            <a:ext cx="8384100" cy="541800"/>
            <a:chOff x="492475" y="3730538"/>
            <a:chExt cx="8384100" cy="541800"/>
          </a:xfrm>
        </p:grpSpPr>
        <p:sp>
          <p:nvSpPr>
            <p:cNvPr id="1040" name="Google Shape;1040;p44"/>
            <p:cNvSpPr/>
            <p:nvPr/>
          </p:nvSpPr>
          <p:spPr>
            <a:xfrm>
              <a:off x="492475" y="3730538"/>
              <a:ext cx="8384100" cy="541800"/>
            </a:xfrm>
            <a:prstGeom prst="roundRect">
              <a:avLst>
                <a:gd fmla="val 28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41" name="Google Shape;1041;p44"/>
            <p:cNvGrpSpPr/>
            <p:nvPr/>
          </p:nvGrpSpPr>
          <p:grpSpPr>
            <a:xfrm>
              <a:off x="543175" y="3730550"/>
              <a:ext cx="8245050" cy="457800"/>
              <a:chOff x="543175" y="3730550"/>
              <a:chExt cx="8245050" cy="457800"/>
            </a:xfrm>
          </p:grpSpPr>
          <p:sp>
            <p:nvSpPr>
              <p:cNvPr id="1042" name="Google Shape;1042;p44"/>
              <p:cNvSpPr txBox="1"/>
              <p:nvPr/>
            </p:nvSpPr>
            <p:spPr>
              <a:xfrm>
                <a:off x="1193725" y="3730550"/>
                <a:ext cx="7594500" cy="45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43589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75"/>
                  <a:buFont typeface="Arial"/>
                  <a:buNone/>
                </a:pPr>
                <a:r>
                  <a:rPr b="0" i="0" lang="en" sz="975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TSFresh comprehensive features on bilateral vGRF  →  automated descriptors (autocorrelation, entropy, energy, RMS)  →  RF &amp; SVM classifiers with nested CV  →  rigorous, interpretable baseline for future Mamba / SSM comparison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3" name="Google Shape;1043;p44"/>
              <p:cNvSpPr txBox="1"/>
              <p:nvPr/>
            </p:nvSpPr>
            <p:spPr>
              <a:xfrm>
                <a:off x="543175" y="3774300"/>
                <a:ext cx="5373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50"/>
                  <a:buFont typeface="Arial"/>
                  <a:buNone/>
                </a:pPr>
                <a:r>
                  <a:rPr b="1" i="0" lang="en" sz="85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THIS WORK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044" name="Google Shape;1044;p44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  <p:sp>
        <p:nvSpPr>
          <p:cNvPr id="1045" name="Google Shape;1045;p44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6" name="Google Shape;1046;p44"/>
          <p:cNvSpPr/>
          <p:nvPr/>
        </p:nvSpPr>
        <p:spPr>
          <a:xfrm>
            <a:off x="6145350" y="1046675"/>
            <a:ext cx="2757900" cy="354000"/>
          </a:xfrm>
          <a:prstGeom prst="roundRect">
            <a:avLst>
              <a:gd fmla="val 28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Google Shape;1047;p44"/>
          <p:cNvSpPr/>
          <p:nvPr/>
        </p:nvSpPr>
        <p:spPr>
          <a:xfrm>
            <a:off x="6145350" y="1324250"/>
            <a:ext cx="2757900" cy="22938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p44"/>
          <p:cNvSpPr txBox="1"/>
          <p:nvPr/>
        </p:nvSpPr>
        <p:spPr>
          <a:xfrm>
            <a:off x="6337375" y="1010675"/>
            <a:ext cx="3000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</a:rPr>
              <a:t>Ensemble ML, No Rigorous Validation</a:t>
            </a:r>
            <a:endParaRPr/>
          </a:p>
        </p:txBody>
      </p:sp>
      <p:sp>
        <p:nvSpPr>
          <p:cNvPr id="1049" name="Google Shape;1049;p44"/>
          <p:cNvSpPr txBox="1"/>
          <p:nvPr/>
        </p:nvSpPr>
        <p:spPr>
          <a:xfrm>
            <a:off x="6260875" y="1648700"/>
            <a:ext cx="891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50">
                <a:solidFill>
                  <a:srgbClr val="8899AA"/>
                </a:solidFill>
              </a:rPr>
              <a:t>SIGNAL</a:t>
            </a:r>
            <a:endParaRPr/>
          </a:p>
        </p:txBody>
      </p:sp>
      <p:sp>
        <p:nvSpPr>
          <p:cNvPr id="1050" name="Google Shape;1050;p44"/>
          <p:cNvSpPr txBox="1"/>
          <p:nvPr/>
        </p:nvSpPr>
        <p:spPr>
          <a:xfrm>
            <a:off x="6765900" y="1689900"/>
            <a:ext cx="237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PhysioNet vGRF — same dataset </a:t>
            </a:r>
            <a:endParaRPr sz="950">
              <a:solidFill>
                <a:srgbClr val="445566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(166 subjects)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44"/>
          <p:cNvSpPr txBox="1"/>
          <p:nvPr/>
        </p:nvSpPr>
        <p:spPr>
          <a:xfrm>
            <a:off x="6819575" y="2037113"/>
            <a:ext cx="23781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Hypertuned RF + Ensemble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44"/>
          <p:cNvSpPr txBox="1"/>
          <p:nvPr/>
        </p:nvSpPr>
        <p:spPr>
          <a:xfrm>
            <a:off x="6209150" y="2052400"/>
            <a:ext cx="1136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3" name="Google Shape;1053;p44"/>
          <p:cNvSpPr txBox="1"/>
          <p:nvPr/>
        </p:nvSpPr>
        <p:spPr>
          <a:xfrm>
            <a:off x="6871775" y="2304275"/>
            <a:ext cx="23781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86% — but no nested CV; </a:t>
            </a:r>
            <a:endParaRPr b="1" sz="950">
              <a:solidFill>
                <a:srgbClr val="041E4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conflates binary classification </a:t>
            </a:r>
            <a:endParaRPr b="1" sz="950">
              <a:solidFill>
                <a:srgbClr val="041E4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with severity regression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44"/>
          <p:cNvSpPr/>
          <p:nvPr/>
        </p:nvSpPr>
        <p:spPr>
          <a:xfrm>
            <a:off x="3274025" y="1303375"/>
            <a:ext cx="2757900" cy="22938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5" name="Google Shape;1055;p44"/>
          <p:cNvSpPr txBox="1"/>
          <p:nvPr/>
        </p:nvSpPr>
        <p:spPr>
          <a:xfrm>
            <a:off x="3481738" y="1020188"/>
            <a:ext cx="2274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</a:rPr>
              <a:t>Unilateral / Per-Sensor Analysis</a:t>
            </a:r>
            <a:endParaRPr/>
          </a:p>
        </p:txBody>
      </p:sp>
      <p:sp>
        <p:nvSpPr>
          <p:cNvPr id="1056" name="Google Shape;1056;p44"/>
          <p:cNvSpPr txBox="1"/>
          <p:nvPr/>
        </p:nvSpPr>
        <p:spPr>
          <a:xfrm>
            <a:off x="3905813" y="1694738"/>
            <a:ext cx="21009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Pressure insole + IMU, evaluated per sensor independently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57" name="Google Shape;1057;p44"/>
          <p:cNvSpPr txBox="1"/>
          <p:nvPr/>
        </p:nvSpPr>
        <p:spPr>
          <a:xfrm>
            <a:off x="3324275" y="1678575"/>
            <a:ext cx="891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50">
                <a:solidFill>
                  <a:srgbClr val="8899AA"/>
                </a:solidFill>
              </a:rPr>
              <a:t>SIGNAL</a:t>
            </a:r>
            <a:endParaRPr/>
          </a:p>
        </p:txBody>
      </p:sp>
      <p:sp>
        <p:nvSpPr>
          <p:cNvPr id="1058" name="Google Shape;1058;p44"/>
          <p:cNvSpPr txBox="1"/>
          <p:nvPr/>
        </p:nvSpPr>
        <p:spPr>
          <a:xfrm>
            <a:off x="3316950" y="2079413"/>
            <a:ext cx="1136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44"/>
          <p:cNvSpPr txBox="1"/>
          <p:nvPr/>
        </p:nvSpPr>
        <p:spPr>
          <a:xfrm>
            <a:off x="3302775" y="2443050"/>
            <a:ext cx="1193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44"/>
          <p:cNvSpPr txBox="1"/>
          <p:nvPr/>
        </p:nvSpPr>
        <p:spPr>
          <a:xfrm>
            <a:off x="3913425" y="2045813"/>
            <a:ext cx="237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Spatiotemporal gait parameters per </a:t>
            </a:r>
            <a:endParaRPr sz="950">
              <a:solidFill>
                <a:srgbClr val="445566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leg separately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44"/>
          <p:cNvSpPr txBox="1"/>
          <p:nvPr/>
        </p:nvSpPr>
        <p:spPr>
          <a:xfrm>
            <a:off x="3882775" y="2430725"/>
            <a:ext cx="237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 Not directly reported for binary </a:t>
            </a:r>
            <a:endParaRPr b="1" sz="950">
              <a:solidFill>
                <a:srgbClr val="041E4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 PD vs HC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2" name="Google Shape;1062;p44"/>
          <p:cNvSpPr txBox="1"/>
          <p:nvPr/>
        </p:nvSpPr>
        <p:spPr>
          <a:xfrm>
            <a:off x="3502800" y="2770725"/>
            <a:ext cx="2339700" cy="6099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7D4D0E"/>
                </a:solidFill>
              </a:rPr>
              <a:t>Bilateral gait asymmetry not captured — sensors evaluated independently, no cross-foot coordination modelled</a:t>
            </a:r>
            <a:r>
              <a:rPr lang="en" sz="850">
                <a:solidFill>
                  <a:schemeClr val="dk1"/>
                </a:solidFill>
              </a:rPr>
              <a:t>.</a:t>
            </a:r>
            <a:endParaRPr sz="85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                </a:t>
            </a:r>
            <a:endParaRPr i="1" sz="700">
              <a:solidFill>
                <a:srgbClr val="6B7C93"/>
              </a:solidFill>
            </a:endParaRPr>
          </a:p>
          <a:p>
            <a:pPr indent="0" lvl="0" marL="0" rtl="0" algn="l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              [2] Tsakanikas et al. (Sensors, 2023). 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63" name="Google Shape;1063;p44"/>
          <p:cNvSpPr txBox="1"/>
          <p:nvPr/>
        </p:nvSpPr>
        <p:spPr>
          <a:xfrm>
            <a:off x="6286650" y="2797948"/>
            <a:ext cx="2475300" cy="6165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7D4D0E"/>
                </a:solidFill>
              </a:rPr>
              <a:t>Results not comparable to subject-level binary classification; optimistic estimate without unbiased validation</a:t>
            </a:r>
            <a:endParaRPr>
              <a:solidFill>
                <a:srgbClr val="7D4D0E"/>
              </a:solidFill>
            </a:endParaRPr>
          </a:p>
        </p:txBody>
      </p:sp>
      <p:sp>
        <p:nvSpPr>
          <p:cNvPr id="1064" name="Google Shape;1064;p44"/>
          <p:cNvSpPr txBox="1"/>
          <p:nvPr/>
        </p:nvSpPr>
        <p:spPr>
          <a:xfrm>
            <a:off x="6563725" y="3380625"/>
            <a:ext cx="1957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[3] Navita et al. (Scientific Reports, 2025).</a:t>
            </a:r>
            <a:endParaRPr i="1" sz="700">
              <a:solidFill>
                <a:srgbClr val="6B7C93"/>
              </a:solidFill>
            </a:endParaRPr>
          </a:p>
        </p:txBody>
      </p:sp>
      <p:sp>
        <p:nvSpPr>
          <p:cNvPr id="1065" name="Google Shape;1065;p44"/>
          <p:cNvSpPr txBox="1"/>
          <p:nvPr/>
        </p:nvSpPr>
        <p:spPr>
          <a:xfrm>
            <a:off x="6209150" y="2365425"/>
            <a:ext cx="754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9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45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071" name="Google Shape;1071;p45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72" name="Google Shape;1072;p45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</a:pPr>
            <a:r>
              <a:rPr lang="en"/>
              <a:t>Dataset Overview: PhysioNet</a:t>
            </a:r>
            <a:endParaRPr/>
          </a:p>
        </p:txBody>
      </p:sp>
      <p:sp>
        <p:nvSpPr>
          <p:cNvPr id="1073" name="Google Shape;1073;p45"/>
          <p:cNvSpPr txBox="1"/>
          <p:nvPr/>
        </p:nvSpPr>
        <p:spPr>
          <a:xfrm>
            <a:off x="443750" y="1122825"/>
            <a:ext cx="8313300" cy="21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1"/>
                </a:solidFill>
              </a:rPr>
              <a:t>Conta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 </a:t>
            </a: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vertical ground reaction force (vGRF)</a:t>
            </a:r>
            <a:r>
              <a:rPr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signals from 8 sensors per foot (16 total channels).</a:t>
            </a:r>
            <a:endParaRPr sz="1500"/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Recording duration</a:t>
            </a: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~2 minutes of natural walking on an 8-force-plate walkway.</a:t>
            </a:r>
            <a:endParaRPr sz="1500"/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Sampling frequency</a:t>
            </a: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100 Hz (</a:t>
            </a:r>
            <a:r>
              <a:rPr lang="en" sz="1500">
                <a:solidFill>
                  <a:schemeClr val="dk1"/>
                </a:solidFill>
              </a:rPr>
              <a:t>≈ 12 000 samples per foot, ≈ 24 000 total per subject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</a:t>
            </a:r>
            <a:endParaRPr sz="1500"/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Clinical evaluation</a:t>
            </a: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Unified Parkinson’s Disease Rating Scale (UPDRS) for PD subjects.</a:t>
            </a:r>
            <a:endParaRPr sz="1500">
              <a:solidFill>
                <a:schemeClr val="dk1"/>
              </a:solidFill>
            </a:endParaRPr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1"/>
                </a:solidFill>
              </a:rPr>
              <a:t>Higher UPDRS scores indicate greater motor symptom severity.</a:t>
            </a:r>
            <a:endParaRPr sz="1500">
              <a:solidFill>
                <a:schemeClr val="dk1"/>
              </a:solidFill>
            </a:endParaRPr>
          </a:p>
          <a:p>
            <a:pPr indent="-7620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500">
                <a:solidFill>
                  <a:schemeClr val="dk1"/>
                </a:solidFill>
              </a:rPr>
              <a:t>Only usual-walking trials (‘01’) were used to ensure consistent gait conditions.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45"/>
          <p:cNvSpPr txBox="1"/>
          <p:nvPr>
            <p:ph idx="3" type="body"/>
          </p:nvPr>
        </p:nvSpPr>
        <p:spPr>
          <a:xfrm>
            <a:off x="388750" y="515700"/>
            <a:ext cx="58992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Gait in Parkinson’s Disease Database (</a:t>
            </a:r>
            <a:r>
              <a:rPr i="1" lang="en">
                <a:solidFill>
                  <a:schemeClr val="dk1"/>
                </a:solidFill>
              </a:rPr>
              <a:t>166 subjects — 93 PD, 73 healthy controls)</a:t>
            </a:r>
            <a:endParaRPr/>
          </a:p>
        </p:txBody>
      </p:sp>
      <p:pic>
        <p:nvPicPr>
          <p:cNvPr id="1075" name="Google Shape;1075;p45" title="descriptive_stats_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8863" y="2949300"/>
            <a:ext cx="8064374" cy="1701274"/>
          </a:xfrm>
          <a:prstGeom prst="rect">
            <a:avLst/>
          </a:prstGeom>
          <a:noFill/>
          <a:ln>
            <a:noFill/>
          </a:ln>
        </p:spPr>
      </p:pic>
      <p:sp>
        <p:nvSpPr>
          <p:cNvPr id="1076" name="Google Shape;1076;p45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0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46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082" name="Google Shape;1082;p46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83" name="Google Shape;1083;p46"/>
          <p:cNvSpPr txBox="1"/>
          <p:nvPr>
            <p:ph type="title"/>
          </p:nvPr>
        </p:nvSpPr>
        <p:spPr>
          <a:xfrm>
            <a:off x="388739" y="225889"/>
            <a:ext cx="5133300" cy="2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</a:pPr>
            <a:r>
              <a:rPr lang="en"/>
              <a:t>Dataset Overview: PhysioNet</a:t>
            </a:r>
            <a:endParaRPr/>
          </a:p>
        </p:txBody>
      </p:sp>
      <p:sp>
        <p:nvSpPr>
          <p:cNvPr id="1084" name="Google Shape;1084;p46"/>
          <p:cNvSpPr txBox="1"/>
          <p:nvPr>
            <p:ph idx="3" type="body"/>
          </p:nvPr>
        </p:nvSpPr>
        <p:spPr>
          <a:xfrm>
            <a:off x="388750" y="515700"/>
            <a:ext cx="58992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Gait in Parkinson’s Disease Database (</a:t>
            </a:r>
            <a:r>
              <a:rPr i="1" lang="en">
                <a:solidFill>
                  <a:schemeClr val="dk1"/>
                </a:solidFill>
              </a:rPr>
              <a:t>166 subjects — 93 PD, 73 healthy controls)</a:t>
            </a:r>
            <a:endParaRPr/>
          </a:p>
        </p:txBody>
      </p:sp>
      <p:sp>
        <p:nvSpPr>
          <p:cNvPr id="1085" name="Google Shape;1085;p46"/>
          <p:cNvSpPr txBox="1"/>
          <p:nvPr/>
        </p:nvSpPr>
        <p:spPr>
          <a:xfrm>
            <a:off x="246375" y="3491350"/>
            <a:ext cx="3276900" cy="1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Male PD patients show slightly higher UPDRS scores and greater variability than females (p = 0.049; Cliff’s δ = 0.25, small effect), </a:t>
            </a:r>
            <a:r>
              <a:rPr lang="en">
                <a:solidFill>
                  <a:schemeClr val="dk1"/>
                </a:solidFill>
              </a:rPr>
              <a:t>indicating marginally stronger motor impairment.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86" name="Google Shape;1086;p46"/>
          <p:cNvSpPr txBox="1"/>
          <p:nvPr/>
        </p:nvSpPr>
        <p:spPr>
          <a:xfrm>
            <a:off x="3464050" y="3221150"/>
            <a:ext cx="2823900" cy="8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Balanced dataset with slightly higher representation of male PD participants.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87" name="Google Shape;1087;p46"/>
          <p:cNvSpPr txBox="1"/>
          <p:nvPr/>
        </p:nvSpPr>
        <p:spPr>
          <a:xfrm>
            <a:off x="6586975" y="3273900"/>
            <a:ext cx="2470500" cy="8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PD and HC groups are closely age-matched, minimizing demographic confounds.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088" name="Google Shape;1088;p46" title="sex_distribu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82375" y="1054425"/>
            <a:ext cx="3179249" cy="2219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9" name="Google Shape;1089;p46" title="age_distribu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42000" y="1221575"/>
            <a:ext cx="3101998" cy="1999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0" name="Google Shape;1090;p46" title="updrs_boxplot_pd_statsbelow.png"/>
          <p:cNvPicPr preferRelativeResize="0"/>
          <p:nvPr/>
        </p:nvPicPr>
        <p:blipFill rotWithShape="1">
          <a:blip r:embed="rId5">
            <a:alphaModFix/>
          </a:blip>
          <a:srcRect b="961" l="0" r="0" t="961"/>
          <a:stretch/>
        </p:blipFill>
        <p:spPr>
          <a:xfrm>
            <a:off x="92550" y="1098050"/>
            <a:ext cx="2961500" cy="2443524"/>
          </a:xfrm>
          <a:prstGeom prst="rect">
            <a:avLst/>
          </a:prstGeom>
          <a:noFill/>
          <a:ln>
            <a:noFill/>
          </a:ln>
        </p:spPr>
      </p:pic>
      <p:sp>
        <p:nvSpPr>
          <p:cNvPr id="1091" name="Google Shape;1091;p46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5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7"/>
          <p:cNvSpPr txBox="1"/>
          <p:nvPr>
            <p:ph type="title"/>
          </p:nvPr>
        </p:nvSpPr>
        <p:spPr>
          <a:xfrm>
            <a:off x="386975" y="102800"/>
            <a:ext cx="65763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</a:t>
            </a:r>
            <a:r>
              <a:rPr lang="en"/>
              <a:t>Vertical Ground Reaction Forces (</a:t>
            </a:r>
            <a:r>
              <a:rPr lang="en"/>
              <a:t>vGRF) Cycles : Parkinson’s Disease vs Healthy Control</a:t>
            </a:r>
            <a:endParaRPr/>
          </a:p>
        </p:txBody>
      </p:sp>
      <p:sp>
        <p:nvSpPr>
          <p:cNvPr id="1097" name="Google Shape;1097;p47"/>
          <p:cNvSpPr txBox="1"/>
          <p:nvPr/>
        </p:nvSpPr>
        <p:spPr>
          <a:xfrm>
            <a:off x="276613" y="4324100"/>
            <a:ext cx="8802300" cy="54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accent2"/>
                </a:solidFill>
              </a:rPr>
              <a:t>PD gait shows lower peak force, greater inter-limb asymmetry and less stable stance than HC.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</a:rPr>
              <a:t>        </a:t>
            </a:r>
            <a:endParaRPr sz="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98" name="Google Shape;1098;p47"/>
          <p:cNvSpPr txBox="1"/>
          <p:nvPr/>
        </p:nvSpPr>
        <p:spPr>
          <a:xfrm>
            <a:off x="386975" y="601400"/>
            <a:ext cx="6666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5-seconds segment sampled at 100 Hz (8 sensors per foot) - Usual walking (walk 01)</a:t>
            </a:r>
            <a:endParaRPr/>
          </a:p>
        </p:txBody>
      </p:sp>
      <p:sp>
        <p:nvSpPr>
          <p:cNvPr id="1099" name="Google Shape;1099;p47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00" name="Google Shape;1100;p47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  <p:sp>
        <p:nvSpPr>
          <p:cNvPr id="1101" name="Google Shape;1101;p47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pic>
        <p:nvPicPr>
          <p:cNvPr id="1102" name="Google Shape;1102;p47" title="vgrf_PD_vs_HC_5s_usualwalk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1550" y="986300"/>
            <a:ext cx="8700877" cy="33690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6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p48"/>
          <p:cNvSpPr txBox="1"/>
          <p:nvPr>
            <p:ph type="title"/>
          </p:nvPr>
        </p:nvSpPr>
        <p:spPr>
          <a:xfrm>
            <a:off x="388739" y="121489"/>
            <a:ext cx="51333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 Normalized vGRF Stride Comparison: Parkinson’s Disease vs Healthy Control</a:t>
            </a:r>
            <a:endParaRPr/>
          </a:p>
        </p:txBody>
      </p:sp>
      <p:sp>
        <p:nvSpPr>
          <p:cNvPr id="1108" name="Google Shape;1108;p48"/>
          <p:cNvSpPr txBox="1"/>
          <p:nvPr/>
        </p:nvSpPr>
        <p:spPr>
          <a:xfrm>
            <a:off x="316650" y="566425"/>
            <a:ext cx="6666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Normalized across 0–100% gait cycle, </a:t>
            </a:r>
            <a:r>
              <a:rPr b="1" lang="en" sz="1300">
                <a:solidFill>
                  <a:schemeClr val="dk1"/>
                </a:solidFill>
              </a:rPr>
              <a:t>right foot </a:t>
            </a:r>
            <a:r>
              <a:rPr lang="en" sz="1300">
                <a:solidFill>
                  <a:schemeClr val="dk1"/>
                </a:solidFill>
              </a:rPr>
              <a:t>(</a:t>
            </a:r>
            <a:r>
              <a:rPr i="1" lang="en" sz="1300">
                <a:solidFill>
                  <a:schemeClr val="dk1"/>
                </a:solidFill>
              </a:rPr>
              <a:t>SiPt29 vs JuCo17</a:t>
            </a:r>
            <a:r>
              <a:rPr lang="en" sz="1300">
                <a:solidFill>
                  <a:schemeClr val="dk1"/>
                </a:solidFill>
              </a:rPr>
              <a:t>)</a:t>
            </a:r>
            <a:endParaRPr/>
          </a:p>
        </p:txBody>
      </p:sp>
      <p:sp>
        <p:nvSpPr>
          <p:cNvPr id="1109" name="Google Shape;1109;p48"/>
          <p:cNvSpPr txBox="1"/>
          <p:nvPr>
            <p:ph idx="2" type="body"/>
          </p:nvPr>
        </p:nvSpPr>
        <p:spPr>
          <a:xfrm>
            <a:off x="5885850" y="1002050"/>
            <a:ext cx="3418800" cy="38193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 fontScale="25000" lnSpcReduction="20000"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en" sz="5200"/>
              <a:t>PD subject</a:t>
            </a:r>
            <a:r>
              <a:rPr lang="en" sz="5200"/>
              <a:t> (</a:t>
            </a:r>
            <a:r>
              <a:rPr i="1" lang="en" sz="5200"/>
              <a:t>SiPt29</a:t>
            </a:r>
            <a:r>
              <a:rPr lang="en" sz="5200"/>
              <a:t>) shows lower and flatter vGRF throughout the stride → reduced loading and propulsion.</a:t>
            </a:r>
            <a:endParaRPr sz="5200"/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5200"/>
          </a:p>
          <a:p>
            <a:pPr indent="-311150" lvl="0" marL="457200" rtl="0" algn="l">
              <a:spcBef>
                <a:spcPts val="900"/>
              </a:spcBef>
              <a:spcAft>
                <a:spcPts val="0"/>
              </a:spcAft>
              <a:buSzPct val="100000"/>
              <a:buChar char="●"/>
            </a:pPr>
            <a:r>
              <a:rPr b="1" lang="en" sz="5200"/>
              <a:t>Healthy Control</a:t>
            </a:r>
            <a:r>
              <a:rPr lang="en" sz="5200"/>
              <a:t> (</a:t>
            </a:r>
            <a:r>
              <a:rPr i="1" lang="en" sz="5200"/>
              <a:t>JuCo17</a:t>
            </a:r>
            <a:r>
              <a:rPr lang="en" sz="5200"/>
              <a:t>) retains the two-peak pattern (heel strike + push-off) → rhythmic, symmetric gait.</a:t>
            </a:r>
            <a:endParaRPr sz="5200"/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5200"/>
          </a:p>
          <a:p>
            <a:pPr indent="-311150" lvl="0" marL="457200" rtl="0" algn="l">
              <a:spcBef>
                <a:spcPts val="900"/>
              </a:spcBef>
              <a:spcAft>
                <a:spcPts val="0"/>
              </a:spcAft>
              <a:buSzPct val="100000"/>
              <a:buChar char="●"/>
            </a:pPr>
            <a:r>
              <a:rPr lang="en" sz="5200"/>
              <a:t>PD displays merged peaks and greater variability (20–80 %) → unstable stance control.</a:t>
            </a:r>
            <a:endParaRPr sz="5200"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5200"/>
          </a:p>
          <a:p>
            <a:pPr indent="-311150" lvl="0" marL="457200" rtl="0" algn="l">
              <a:spcBef>
                <a:spcPts val="900"/>
              </a:spcBef>
              <a:spcAft>
                <a:spcPts val="0"/>
              </a:spcAft>
              <a:buSzPct val="100000"/>
              <a:buChar char="●"/>
            </a:pPr>
            <a:r>
              <a:rPr b="1" lang="en" sz="5200"/>
              <a:t>Overall: PD gait = less amplitude, less symmetry, less efficiency.</a:t>
            </a:r>
            <a:endParaRPr b="1" sz="5200"/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sz="1100"/>
          </a:p>
          <a:p>
            <a:pPr indent="0" lvl="0" marL="0" rtl="0" algn="l">
              <a:spcBef>
                <a:spcPts val="900"/>
              </a:spcBef>
              <a:spcAft>
                <a:spcPts val="900"/>
              </a:spcAft>
              <a:buNone/>
            </a:pPr>
            <a:r>
              <a:t/>
            </a:r>
            <a:endParaRPr/>
          </a:p>
        </p:txBody>
      </p:sp>
      <p:sp>
        <p:nvSpPr>
          <p:cNvPr id="1110" name="Google Shape;1110;p48"/>
          <p:cNvSpPr txBox="1"/>
          <p:nvPr/>
        </p:nvSpPr>
        <p:spPr>
          <a:xfrm>
            <a:off x="0" y="4151975"/>
            <a:ext cx="58857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i="1" lang="en" sz="1100">
                <a:solidFill>
                  <a:schemeClr val="dk1"/>
                </a:solidFill>
              </a:rPr>
              <a:t>Mean ± 1 SD across detected cycles per subject.</a:t>
            </a:r>
            <a:endParaRPr i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i="1" lang="en" sz="1100">
                <a:solidFill>
                  <a:schemeClr val="dk1"/>
                </a:solidFill>
              </a:rPr>
              <a:t>n denotes the number of detected gait cycles per subject used to compute the mean ± 1 SD curves.</a:t>
            </a:r>
            <a:endParaRPr i="1" sz="1200">
              <a:solidFill>
                <a:schemeClr val="dk1"/>
              </a:solidFill>
            </a:endParaRPr>
          </a:p>
        </p:txBody>
      </p:sp>
      <p:sp>
        <p:nvSpPr>
          <p:cNvPr id="1111" name="Google Shape;1111;p48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12" name="Google Shape;1112;p48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13" name="Google Shape;1113;p48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  <p:pic>
        <p:nvPicPr>
          <p:cNvPr id="1114" name="Google Shape;1114;p48" title="mean_normalized_stride_PD_vs_H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03725"/>
            <a:ext cx="5733299" cy="2945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8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49"/>
          <p:cNvSpPr txBox="1"/>
          <p:nvPr>
            <p:ph type="title"/>
          </p:nvPr>
        </p:nvSpPr>
        <p:spPr>
          <a:xfrm>
            <a:off x="388751" y="225900"/>
            <a:ext cx="54537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Feature Extraction and PCA Preparation Pipeline</a:t>
            </a:r>
            <a:endParaRPr/>
          </a:p>
        </p:txBody>
      </p:sp>
      <p:sp>
        <p:nvSpPr>
          <p:cNvPr id="1120" name="Google Shape;1120;p49"/>
          <p:cNvSpPr txBox="1"/>
          <p:nvPr>
            <p:ph idx="3" type="body"/>
          </p:nvPr>
        </p:nvSpPr>
        <p:spPr>
          <a:xfrm>
            <a:off x="388750" y="515700"/>
            <a:ext cx="5630400" cy="6609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Transforming raw vGRF signals into normalized, subject-level feature representations suitable for dimensionality-reduction analysis.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00"/>
              </a:spcBef>
              <a:spcAft>
                <a:spcPts val="900"/>
              </a:spcAft>
              <a:buNone/>
            </a:pPr>
            <a:r>
              <a:t/>
            </a:r>
            <a:endParaRPr/>
          </a:p>
        </p:txBody>
      </p:sp>
      <p:sp>
        <p:nvSpPr>
          <p:cNvPr id="1121" name="Google Shape;1121;p49"/>
          <p:cNvSpPr/>
          <p:nvPr/>
        </p:nvSpPr>
        <p:spPr>
          <a:xfrm>
            <a:off x="1407200" y="1135875"/>
            <a:ext cx="987900" cy="478800"/>
          </a:xfrm>
          <a:prstGeom prst="rect">
            <a:avLst/>
          </a:prstGeom>
          <a:solidFill>
            <a:srgbClr val="041E42"/>
          </a:solidFill>
          <a:ln cap="flat" cmpd="sng" w="10725">
            <a:solidFill>
              <a:srgbClr val="041E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2" name="Google Shape;1122;p49"/>
          <p:cNvSpPr/>
          <p:nvPr/>
        </p:nvSpPr>
        <p:spPr>
          <a:xfrm>
            <a:off x="1407200" y="1135875"/>
            <a:ext cx="987900" cy="47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  Signal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Composition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3" name="Google Shape;1123;p49"/>
          <p:cNvSpPr/>
          <p:nvPr/>
        </p:nvSpPr>
        <p:spPr>
          <a:xfrm>
            <a:off x="2403039" y="1274830"/>
            <a:ext cx="200700" cy="200700"/>
          </a:xfrm>
          <a:prstGeom prst="ellipse">
            <a:avLst/>
          </a:prstGeom>
          <a:solidFill>
            <a:srgbClr val="FFFFFF"/>
          </a:solidFill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4" name="Google Shape;1124;p49"/>
          <p:cNvSpPr/>
          <p:nvPr/>
        </p:nvSpPr>
        <p:spPr>
          <a:xfrm>
            <a:off x="2403039" y="1274830"/>
            <a:ext cx="2007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675"/>
              <a:buFont typeface="Arial"/>
              <a:buNone/>
            </a:pPr>
            <a:r>
              <a:rPr b="1" i="0" lang="en" sz="675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6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5" name="Google Shape;1125;p49"/>
          <p:cNvSpPr/>
          <p:nvPr/>
        </p:nvSpPr>
        <p:spPr>
          <a:xfrm>
            <a:off x="2410759" y="1135875"/>
            <a:ext cx="4670400" cy="478800"/>
          </a:xfrm>
          <a:prstGeom prst="rect">
            <a:avLst/>
          </a:prstGeom>
          <a:solidFill>
            <a:srgbClr val="FFFFFF"/>
          </a:solidFill>
          <a:ln cap="flat" cmpd="sng" w="8050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6" name="Google Shape;1126;p49"/>
          <p:cNvSpPr/>
          <p:nvPr/>
        </p:nvSpPr>
        <p:spPr>
          <a:xfrm>
            <a:off x="2503395" y="1174474"/>
            <a:ext cx="4516200" cy="4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575" lIns="77175" spcFirstLastPara="1" rIns="77175" wrap="square" tIns="38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16-channel vGRF file reduced to 2 signals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8 load-cell sensors per foot summed → total vGRF per foot (N)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Low-pass Butterworth filter at 6 Hz (filtfilt) — preserves gait harmonics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7" name="Google Shape;1127;p49"/>
          <p:cNvCxnSpPr/>
          <p:nvPr/>
        </p:nvCxnSpPr>
        <p:spPr>
          <a:xfrm>
            <a:off x="1893540" y="1614499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28" name="Google Shape;1128;p49"/>
          <p:cNvCxnSpPr/>
          <p:nvPr/>
        </p:nvCxnSpPr>
        <p:spPr>
          <a:xfrm>
            <a:off x="4745964" y="1614499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129" name="Google Shape;1129;p49"/>
          <p:cNvSpPr/>
          <p:nvPr/>
        </p:nvSpPr>
        <p:spPr>
          <a:xfrm>
            <a:off x="1407200" y="1707136"/>
            <a:ext cx="987900" cy="478800"/>
          </a:xfrm>
          <a:prstGeom prst="rect">
            <a:avLst/>
          </a:prstGeom>
          <a:solidFill>
            <a:srgbClr val="143589"/>
          </a:solidFill>
          <a:ln cap="flat" cmpd="sng" w="10725">
            <a:solidFill>
              <a:srgbClr val="1435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0" name="Google Shape;1130;p49"/>
          <p:cNvSpPr/>
          <p:nvPr/>
        </p:nvSpPr>
        <p:spPr>
          <a:xfrm>
            <a:off x="1407200" y="1707136"/>
            <a:ext cx="987900" cy="47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  Windowing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1" name="Google Shape;1131;p49"/>
          <p:cNvSpPr/>
          <p:nvPr/>
        </p:nvSpPr>
        <p:spPr>
          <a:xfrm>
            <a:off x="2403039" y="1846091"/>
            <a:ext cx="200700" cy="200700"/>
          </a:xfrm>
          <a:prstGeom prst="ellipse">
            <a:avLst/>
          </a:prstGeom>
          <a:solidFill>
            <a:srgbClr val="FFFFFF"/>
          </a:solidFill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2" name="Google Shape;1132;p49"/>
          <p:cNvSpPr/>
          <p:nvPr/>
        </p:nvSpPr>
        <p:spPr>
          <a:xfrm>
            <a:off x="2403039" y="1846091"/>
            <a:ext cx="2007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675"/>
              <a:buFont typeface="Arial"/>
              <a:buNone/>
            </a:pPr>
            <a:r>
              <a:rPr b="1" i="0" lang="en" sz="675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6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49"/>
          <p:cNvSpPr/>
          <p:nvPr/>
        </p:nvSpPr>
        <p:spPr>
          <a:xfrm>
            <a:off x="2410759" y="1707136"/>
            <a:ext cx="4670400" cy="478800"/>
          </a:xfrm>
          <a:prstGeom prst="rect">
            <a:avLst/>
          </a:prstGeom>
          <a:solidFill>
            <a:srgbClr val="FFFFFF"/>
          </a:solidFill>
          <a:ln cap="flat" cmpd="sng" w="8050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4" name="Google Shape;1134;p49"/>
          <p:cNvSpPr/>
          <p:nvPr/>
        </p:nvSpPr>
        <p:spPr>
          <a:xfrm>
            <a:off x="2503395" y="1745734"/>
            <a:ext cx="4516200" cy="4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575" lIns="77175" spcFirstLastPara="1" rIns="77175" wrap="square" tIns="38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Sliding window segmentation per signal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300 ms window (30 samples at 100 Hz) · 150 ms step 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35" name="Google Shape;1135;p49"/>
          <p:cNvCxnSpPr/>
          <p:nvPr/>
        </p:nvCxnSpPr>
        <p:spPr>
          <a:xfrm>
            <a:off x="1893540" y="2185760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36" name="Google Shape;1136;p49"/>
          <p:cNvCxnSpPr/>
          <p:nvPr/>
        </p:nvCxnSpPr>
        <p:spPr>
          <a:xfrm>
            <a:off x="4745964" y="2185760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137" name="Google Shape;1137;p49"/>
          <p:cNvSpPr/>
          <p:nvPr/>
        </p:nvSpPr>
        <p:spPr>
          <a:xfrm>
            <a:off x="1407200" y="2278396"/>
            <a:ext cx="987900" cy="478800"/>
          </a:xfrm>
          <a:prstGeom prst="rect">
            <a:avLst/>
          </a:prstGeom>
          <a:solidFill>
            <a:srgbClr val="143589"/>
          </a:solidFill>
          <a:ln cap="flat" cmpd="sng" w="10725">
            <a:solidFill>
              <a:srgbClr val="1435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8" name="Google Shape;1138;p49"/>
          <p:cNvSpPr/>
          <p:nvPr/>
        </p:nvSpPr>
        <p:spPr>
          <a:xfrm>
            <a:off x="1407200" y="2278396"/>
            <a:ext cx="987900" cy="47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  Feature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Extraction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9" name="Google Shape;1139;p49"/>
          <p:cNvSpPr/>
          <p:nvPr/>
        </p:nvSpPr>
        <p:spPr>
          <a:xfrm>
            <a:off x="2403039" y="2417352"/>
            <a:ext cx="200700" cy="200700"/>
          </a:xfrm>
          <a:prstGeom prst="ellipse">
            <a:avLst/>
          </a:prstGeom>
          <a:solidFill>
            <a:srgbClr val="FFFFFF"/>
          </a:solidFill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0" name="Google Shape;1140;p49"/>
          <p:cNvSpPr/>
          <p:nvPr/>
        </p:nvSpPr>
        <p:spPr>
          <a:xfrm>
            <a:off x="2403039" y="2417352"/>
            <a:ext cx="2007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675"/>
              <a:buFont typeface="Arial"/>
              <a:buNone/>
            </a:pPr>
            <a:r>
              <a:rPr b="1" i="0" lang="en" sz="675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6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1" name="Google Shape;1141;p49"/>
          <p:cNvSpPr/>
          <p:nvPr/>
        </p:nvSpPr>
        <p:spPr>
          <a:xfrm>
            <a:off x="2410759" y="2278396"/>
            <a:ext cx="4670400" cy="478800"/>
          </a:xfrm>
          <a:prstGeom prst="rect">
            <a:avLst/>
          </a:prstGeom>
          <a:solidFill>
            <a:srgbClr val="FFFFFF"/>
          </a:solidFill>
          <a:ln cap="flat" cmpd="sng" w="8050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2" name="Google Shape;1142;p49"/>
          <p:cNvSpPr/>
          <p:nvPr/>
        </p:nvSpPr>
        <p:spPr>
          <a:xfrm>
            <a:off x="2503395" y="2316995"/>
            <a:ext cx="4516200" cy="4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575" lIns="77175" spcFirstLastPara="1" rIns="77175" wrap="square" tIns="38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TSFresh ComprehensiveFCParameters per window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Descriptors: autocorrelation, energy, entropy, RMS, FFT peaks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Applied separately for Left foot and Right foot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43" name="Google Shape;1143;p49"/>
          <p:cNvCxnSpPr/>
          <p:nvPr/>
        </p:nvCxnSpPr>
        <p:spPr>
          <a:xfrm>
            <a:off x="1893540" y="2757020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44" name="Google Shape;1144;p49"/>
          <p:cNvCxnSpPr/>
          <p:nvPr/>
        </p:nvCxnSpPr>
        <p:spPr>
          <a:xfrm>
            <a:off x="4745964" y="2757020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145" name="Google Shape;1145;p49"/>
          <p:cNvSpPr/>
          <p:nvPr/>
        </p:nvSpPr>
        <p:spPr>
          <a:xfrm>
            <a:off x="1407200" y="2849657"/>
            <a:ext cx="987900" cy="478800"/>
          </a:xfrm>
          <a:prstGeom prst="rect">
            <a:avLst/>
          </a:prstGeom>
          <a:solidFill>
            <a:srgbClr val="005F6B"/>
          </a:solidFill>
          <a:ln cap="flat" cmpd="sng" w="10725">
            <a:solidFill>
              <a:srgbClr val="005F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6" name="Google Shape;1146;p49"/>
          <p:cNvSpPr/>
          <p:nvPr/>
        </p:nvSpPr>
        <p:spPr>
          <a:xfrm>
            <a:off x="1407200" y="2849657"/>
            <a:ext cx="987900" cy="47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 Statistical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Aggregation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7" name="Google Shape;1147;p49"/>
          <p:cNvSpPr/>
          <p:nvPr/>
        </p:nvSpPr>
        <p:spPr>
          <a:xfrm>
            <a:off x="2403039" y="2988613"/>
            <a:ext cx="200700" cy="200700"/>
          </a:xfrm>
          <a:prstGeom prst="ellipse">
            <a:avLst/>
          </a:prstGeom>
          <a:solidFill>
            <a:srgbClr val="FFFFFF"/>
          </a:solidFill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8" name="Google Shape;1148;p49"/>
          <p:cNvSpPr/>
          <p:nvPr/>
        </p:nvSpPr>
        <p:spPr>
          <a:xfrm>
            <a:off x="2403039" y="2988613"/>
            <a:ext cx="2007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675"/>
              <a:buFont typeface="Arial"/>
              <a:buNone/>
            </a:pPr>
            <a:r>
              <a:rPr b="1" i="0" lang="en" sz="675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6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9" name="Google Shape;1149;p49"/>
          <p:cNvSpPr/>
          <p:nvPr/>
        </p:nvSpPr>
        <p:spPr>
          <a:xfrm>
            <a:off x="2410759" y="2849657"/>
            <a:ext cx="4670400" cy="478800"/>
          </a:xfrm>
          <a:prstGeom prst="rect">
            <a:avLst/>
          </a:prstGeom>
          <a:solidFill>
            <a:srgbClr val="FFFFFF"/>
          </a:solidFill>
          <a:ln cap="flat" cmpd="sng" w="8050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0" name="Google Shape;1150;p49"/>
          <p:cNvSpPr/>
          <p:nvPr/>
        </p:nvSpPr>
        <p:spPr>
          <a:xfrm>
            <a:off x="2503395" y="2888256"/>
            <a:ext cx="4516200" cy="4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575" lIns="77175" spcFirstLastPara="1" rIns="77175" wrap="square" tIns="38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Per subject × foot across all windows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Mean · Std Dev · Skewness · Kurtosis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Produces one feature vector per subject per foot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51" name="Google Shape;1151;p49"/>
          <p:cNvCxnSpPr/>
          <p:nvPr/>
        </p:nvCxnSpPr>
        <p:spPr>
          <a:xfrm>
            <a:off x="1893540" y="3328281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52" name="Google Shape;1152;p49"/>
          <p:cNvCxnSpPr/>
          <p:nvPr/>
        </p:nvCxnSpPr>
        <p:spPr>
          <a:xfrm>
            <a:off x="4745964" y="3328281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153" name="Google Shape;1153;p49"/>
          <p:cNvSpPr/>
          <p:nvPr/>
        </p:nvSpPr>
        <p:spPr>
          <a:xfrm>
            <a:off x="1407200" y="3420918"/>
            <a:ext cx="987900" cy="478800"/>
          </a:xfrm>
          <a:prstGeom prst="rect">
            <a:avLst/>
          </a:prstGeom>
          <a:solidFill>
            <a:srgbClr val="005F6B"/>
          </a:solidFill>
          <a:ln cap="flat" cmpd="sng" w="10725">
            <a:solidFill>
              <a:srgbClr val="005F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4" name="Google Shape;1154;p49"/>
          <p:cNvSpPr/>
          <p:nvPr/>
        </p:nvSpPr>
        <p:spPr>
          <a:xfrm>
            <a:off x="1407200" y="3420918"/>
            <a:ext cx="987900" cy="47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  Normalisation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5" name="Google Shape;1155;p49"/>
          <p:cNvSpPr/>
          <p:nvPr/>
        </p:nvSpPr>
        <p:spPr>
          <a:xfrm>
            <a:off x="2403039" y="3559873"/>
            <a:ext cx="200700" cy="200700"/>
          </a:xfrm>
          <a:prstGeom prst="ellipse">
            <a:avLst/>
          </a:prstGeom>
          <a:solidFill>
            <a:srgbClr val="FFFFFF"/>
          </a:solidFill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6" name="Google Shape;1156;p49"/>
          <p:cNvSpPr/>
          <p:nvPr/>
        </p:nvSpPr>
        <p:spPr>
          <a:xfrm>
            <a:off x="2403039" y="3559873"/>
            <a:ext cx="2007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675"/>
              <a:buFont typeface="Arial"/>
              <a:buNone/>
            </a:pPr>
            <a:r>
              <a:rPr b="1" i="0" lang="en" sz="675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6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7" name="Google Shape;1157;p49"/>
          <p:cNvSpPr/>
          <p:nvPr/>
        </p:nvSpPr>
        <p:spPr>
          <a:xfrm>
            <a:off x="2410759" y="3420918"/>
            <a:ext cx="4670400" cy="478800"/>
          </a:xfrm>
          <a:prstGeom prst="rect">
            <a:avLst/>
          </a:prstGeom>
          <a:solidFill>
            <a:srgbClr val="FFFFFF"/>
          </a:solidFill>
          <a:ln cap="flat" cmpd="sng" w="8050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8" name="Google Shape;1158;p49"/>
          <p:cNvSpPr/>
          <p:nvPr/>
        </p:nvSpPr>
        <p:spPr>
          <a:xfrm>
            <a:off x="2503395" y="3459517"/>
            <a:ext cx="4516200" cy="4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575" lIns="77175" spcFirstLastPara="1" rIns="77175" wrap="square" tIns="38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Z-score normalisation column-wise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Removes scaling bias before PCA 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59" name="Google Shape;1159;p49"/>
          <p:cNvCxnSpPr/>
          <p:nvPr/>
        </p:nvCxnSpPr>
        <p:spPr>
          <a:xfrm>
            <a:off x="1893540" y="3899542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1160" name="Google Shape;1160;p49"/>
          <p:cNvCxnSpPr/>
          <p:nvPr/>
        </p:nvCxnSpPr>
        <p:spPr>
          <a:xfrm>
            <a:off x="4745964" y="3899542"/>
            <a:ext cx="0" cy="92700"/>
          </a:xfrm>
          <a:prstGeom prst="straightConnector1">
            <a:avLst/>
          </a:prstGeom>
          <a:noFill/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1161" name="Google Shape;1161;p49"/>
          <p:cNvSpPr/>
          <p:nvPr/>
        </p:nvSpPr>
        <p:spPr>
          <a:xfrm>
            <a:off x="1407200" y="3992179"/>
            <a:ext cx="987900" cy="478800"/>
          </a:xfrm>
          <a:prstGeom prst="rect">
            <a:avLst/>
          </a:prstGeom>
          <a:solidFill>
            <a:srgbClr val="0097A7"/>
          </a:solidFill>
          <a:ln cap="flat" cmpd="sng" w="1072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2" name="Google Shape;1162;p49"/>
          <p:cNvSpPr/>
          <p:nvPr/>
        </p:nvSpPr>
        <p:spPr>
          <a:xfrm>
            <a:off x="1407200" y="3992179"/>
            <a:ext cx="987900" cy="47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  Feature Set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2"/>
              <a:buFont typeface="Arial"/>
              <a:buNone/>
            </a:pPr>
            <a:r>
              <a:rPr b="1" i="0" lang="en" sz="80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Variants</a:t>
            </a:r>
            <a:endParaRPr b="0" i="0" sz="8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3" name="Google Shape;1163;p49"/>
          <p:cNvSpPr/>
          <p:nvPr/>
        </p:nvSpPr>
        <p:spPr>
          <a:xfrm>
            <a:off x="2403039" y="4131134"/>
            <a:ext cx="200700" cy="200700"/>
          </a:xfrm>
          <a:prstGeom prst="ellipse">
            <a:avLst/>
          </a:prstGeom>
          <a:solidFill>
            <a:srgbClr val="FFFFFF"/>
          </a:solidFill>
          <a:ln cap="flat" cmpd="sng" w="16075">
            <a:solidFill>
              <a:srgbClr val="0097A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4" name="Google Shape;1164;p49"/>
          <p:cNvSpPr/>
          <p:nvPr/>
        </p:nvSpPr>
        <p:spPr>
          <a:xfrm>
            <a:off x="2403039" y="4131134"/>
            <a:ext cx="2007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675"/>
              <a:buFont typeface="Arial"/>
              <a:buNone/>
            </a:pPr>
            <a:r>
              <a:rPr b="1" i="0" lang="en" sz="675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6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5" name="Google Shape;1165;p49"/>
          <p:cNvSpPr/>
          <p:nvPr/>
        </p:nvSpPr>
        <p:spPr>
          <a:xfrm>
            <a:off x="2410759" y="3992179"/>
            <a:ext cx="4670400" cy="478800"/>
          </a:xfrm>
          <a:prstGeom prst="rect">
            <a:avLst/>
          </a:prstGeom>
          <a:solidFill>
            <a:srgbClr val="FFFFFF"/>
          </a:solidFill>
          <a:ln cap="flat" cmpd="sng" w="8050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6" name="Google Shape;1166;p49"/>
          <p:cNvSpPr/>
          <p:nvPr/>
        </p:nvSpPr>
        <p:spPr>
          <a:xfrm>
            <a:off x="2503395" y="4030777"/>
            <a:ext cx="4516200" cy="4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8575" lIns="77175" spcFirstLastPara="1" rIns="77175" wrap="square" tIns="385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Three feature matrices built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4"/>
              </a:spcBef>
              <a:spcAft>
                <a:spcPts val="0"/>
              </a:spcAft>
              <a:buClr>
                <a:srgbClr val="334466"/>
              </a:buClr>
              <a:buSzPts val="802"/>
              <a:buFont typeface="Arial"/>
              <a:buNone/>
            </a:pPr>
            <a:r>
              <a:rPr b="0" i="0" lang="en" sz="802" u="none" cap="none" strike="noStrike">
                <a:solidFill>
                  <a:srgbClr val="334466"/>
                </a:solidFill>
                <a:latin typeface="Arial"/>
                <a:ea typeface="Arial"/>
                <a:cs typeface="Arial"/>
                <a:sym typeface="Arial"/>
              </a:rPr>
              <a:t>Left foot only · Right foot only · Combined (L + R concatenated)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7" name="Google Shape;1167;p49"/>
          <p:cNvSpPr/>
          <p:nvPr/>
        </p:nvSpPr>
        <p:spPr>
          <a:xfrm>
            <a:off x="1407200" y="4517121"/>
            <a:ext cx="5867100" cy="324000"/>
          </a:xfrm>
          <a:prstGeom prst="rect">
            <a:avLst/>
          </a:prstGeom>
          <a:solidFill>
            <a:srgbClr val="041E42"/>
          </a:solidFill>
          <a:ln cap="flat" cmpd="sng" w="10725">
            <a:solidFill>
              <a:srgbClr val="041E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175" lIns="77175" spcFirstLastPara="1" rIns="77175" wrap="square" tIns="77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8" name="Google Shape;1168;p49"/>
          <p:cNvSpPr/>
          <p:nvPr/>
        </p:nvSpPr>
        <p:spPr>
          <a:xfrm>
            <a:off x="1407200" y="4517121"/>
            <a:ext cx="58671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2900" lIns="42900" spcFirstLastPara="1" rIns="42900" wrap="square" tIns="42900">
            <a:noAutofit/>
          </a:bodyPr>
          <a:lstStyle/>
          <a:p>
            <a:pPr indent="45720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7A7"/>
              </a:buClr>
              <a:buSzPts val="844"/>
              <a:buFont typeface="Arial"/>
              <a:buNone/>
            </a:pPr>
            <a:r>
              <a:rPr b="1" i="0" lang="en" sz="844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Output  </a:t>
            </a:r>
            <a:r>
              <a:rPr b="0" i="0" lang="en" sz="802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Subject-level feature matrices (Left / Right / Combined)  →  PCA visualisation + classification</a:t>
            </a:r>
            <a:endParaRPr b="0" i="0" sz="8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9" name="Google Shape;1169;p49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  <p:sp>
        <p:nvSpPr>
          <p:cNvPr id="1170" name="Google Shape;1170;p49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4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p50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76" name="Google Shape;1176;p50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7" name="Google Shape;1177;p50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</a:pPr>
            <a:r>
              <a:rPr lang="en"/>
              <a:t>PCA Visualization of Extracted Gait Features</a:t>
            </a:r>
            <a:endParaRPr/>
          </a:p>
        </p:txBody>
      </p:sp>
      <p:sp>
        <p:nvSpPr>
          <p:cNvPr id="1178" name="Google Shape;1178;p50"/>
          <p:cNvSpPr txBox="1"/>
          <p:nvPr>
            <p:ph idx="4" type="body"/>
          </p:nvPr>
        </p:nvSpPr>
        <p:spPr>
          <a:xfrm>
            <a:off x="388752" y="515700"/>
            <a:ext cx="6105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</a:pPr>
            <a:r>
              <a:rPr lang="en"/>
              <a:t>Evaluating the variance structure of TSFresh features based on vGRF signals.</a:t>
            </a:r>
            <a:endParaRPr/>
          </a:p>
        </p:txBody>
      </p:sp>
      <p:pic>
        <p:nvPicPr>
          <p:cNvPr id="1179" name="Google Shape;1179;p50" title="Left_Foot_pca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6825" y="1143026"/>
            <a:ext cx="3126523" cy="24319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0" name="Google Shape;1180;p50" title="Right_Foot_pca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08737" y="1172562"/>
            <a:ext cx="3126523" cy="2431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1" name="Google Shape;1181;p50" title="Combined_LR_pca.png"/>
          <p:cNvPicPr preferRelativeResize="0"/>
          <p:nvPr/>
        </p:nvPicPr>
        <p:blipFill rotWithShape="1">
          <a:blip r:embed="rId5">
            <a:alphaModFix/>
          </a:blip>
          <a:srcRect b="2453" l="0" r="0" t="2453"/>
          <a:stretch/>
        </p:blipFill>
        <p:spPr>
          <a:xfrm>
            <a:off x="5870825" y="1172550"/>
            <a:ext cx="3197251" cy="2364952"/>
          </a:xfrm>
          <a:prstGeom prst="rect">
            <a:avLst/>
          </a:prstGeom>
          <a:noFill/>
          <a:ln>
            <a:noFill/>
          </a:ln>
        </p:spPr>
      </p:pic>
      <p:sp>
        <p:nvSpPr>
          <p:cNvPr id="1182" name="Google Shape;1182;p50"/>
          <p:cNvSpPr txBox="1"/>
          <p:nvPr/>
        </p:nvSpPr>
        <p:spPr>
          <a:xfrm>
            <a:off x="388750" y="3537500"/>
            <a:ext cx="2818800" cy="123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PD subjects are more spread out than controls → showing </a:t>
            </a:r>
            <a:r>
              <a:rPr b="1" lang="en" sz="1100">
                <a:solidFill>
                  <a:schemeClr val="dk1"/>
                </a:solidFill>
              </a:rPr>
              <a:t>higher variability</a:t>
            </a:r>
            <a:r>
              <a:rPr lang="en" sz="1100">
                <a:solidFill>
                  <a:schemeClr val="dk1"/>
                </a:solidFill>
              </a:rPr>
              <a:t> and less stable force control.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This could be linked to differences in how the affected side supports weight.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183" name="Google Shape;1183;p50"/>
          <p:cNvSpPr txBox="1"/>
          <p:nvPr/>
        </p:nvSpPr>
        <p:spPr>
          <a:xfrm>
            <a:off x="3386650" y="3561250"/>
            <a:ext cx="2886900" cy="10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Here, both groups overlap quite a bit.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The </a:t>
            </a:r>
            <a:r>
              <a:rPr b="1" lang="en" sz="1100">
                <a:solidFill>
                  <a:schemeClr val="dk1"/>
                </a:solidFill>
              </a:rPr>
              <a:t>right-foot features don’t show a clear difference</a:t>
            </a:r>
            <a:r>
              <a:rPr lang="en" sz="1100">
                <a:solidFill>
                  <a:schemeClr val="dk1"/>
                </a:solidFill>
              </a:rPr>
              <a:t>, maybe because some PD participants use this side to compensate while walking.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184" name="Google Shape;1184;p50"/>
          <p:cNvSpPr txBox="1"/>
          <p:nvPr/>
        </p:nvSpPr>
        <p:spPr>
          <a:xfrm>
            <a:off x="6314275" y="3581650"/>
            <a:ext cx="2753700" cy="9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When both feet are combined, the groups separate more clearly → capturing </a:t>
            </a:r>
            <a:r>
              <a:rPr b="1" lang="en" sz="1100">
                <a:solidFill>
                  <a:schemeClr val="dk1"/>
                </a:solidFill>
              </a:rPr>
              <a:t>left–right coordination differences</a:t>
            </a:r>
            <a:r>
              <a:rPr lang="en" sz="1100">
                <a:solidFill>
                  <a:schemeClr val="dk1"/>
                </a:solidFill>
              </a:rPr>
              <a:t> and overall gait asymmetry.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185" name="Google Shape;1185;p50"/>
          <p:cNvSpPr txBox="1"/>
          <p:nvPr/>
        </p:nvSpPr>
        <p:spPr>
          <a:xfrm>
            <a:off x="368050" y="4488200"/>
            <a:ext cx="8924100" cy="4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Takeaway: </a:t>
            </a:r>
            <a:r>
              <a:rPr lang="en" sz="1100">
                <a:solidFill>
                  <a:schemeClr val="dk1"/>
                </a:solidFill>
              </a:rPr>
              <a:t>Left shows variability, right shows compensation, and combining both sides best highlights Parkinsonian gait asymmetry.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186" name="Google Shape;1186;p50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0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Google Shape;1191;p51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192" name="Google Shape;1192;p51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93" name="Google Shape;1193;p51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4" name="Google Shape;1194;p51"/>
          <p:cNvSpPr txBox="1"/>
          <p:nvPr>
            <p:ph type="title"/>
          </p:nvPr>
        </p:nvSpPr>
        <p:spPr>
          <a:xfrm>
            <a:off x="388739" y="135589"/>
            <a:ext cx="5133300" cy="2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Baseline Machine Learning Pipeline</a:t>
            </a:r>
            <a:endParaRPr/>
          </a:p>
        </p:txBody>
      </p:sp>
      <p:sp>
        <p:nvSpPr>
          <p:cNvPr id="1195" name="Google Shape;1195;p51"/>
          <p:cNvSpPr txBox="1"/>
          <p:nvPr>
            <p:ph idx="3" type="body"/>
          </p:nvPr>
        </p:nvSpPr>
        <p:spPr>
          <a:xfrm>
            <a:off x="93301" y="384900"/>
            <a:ext cx="5656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/>
          <a:p>
            <a:pPr indent="-2286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Feature Matrix → StandardScaler → PCA → GridSearchCV → Evaluation</a:t>
            </a:r>
            <a:endParaRPr/>
          </a:p>
        </p:txBody>
      </p:sp>
      <p:sp>
        <p:nvSpPr>
          <p:cNvPr id="1196" name="Google Shape;1196;p51"/>
          <p:cNvSpPr/>
          <p:nvPr/>
        </p:nvSpPr>
        <p:spPr>
          <a:xfrm>
            <a:off x="280000" y="66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05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7" name="Google Shape;1197;p51"/>
          <p:cNvSpPr txBox="1"/>
          <p:nvPr/>
        </p:nvSpPr>
        <p:spPr>
          <a:xfrm>
            <a:off x="305000" y="660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  INPUT</a:t>
            </a:r>
            <a:endParaRPr/>
          </a:p>
        </p:txBody>
      </p:sp>
      <p:sp>
        <p:nvSpPr>
          <p:cNvPr id="1198" name="Google Shape;1198;p51"/>
          <p:cNvSpPr txBox="1"/>
          <p:nvPr/>
        </p:nvSpPr>
        <p:spPr>
          <a:xfrm>
            <a:off x="1620000" y="740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9" name="Google Shape;1199;p51"/>
          <p:cNvSpPr txBox="1"/>
          <p:nvPr/>
        </p:nvSpPr>
        <p:spPr>
          <a:xfrm>
            <a:off x="1670000" y="66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TSFresh features — Left / Right / Combined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Already aggregated at subject level</a:t>
            </a:r>
            <a:endParaRPr/>
          </a:p>
        </p:txBody>
      </p:sp>
      <p:sp>
        <p:nvSpPr>
          <p:cNvPr id="1200" name="Google Shape;1200;p51"/>
          <p:cNvSpPr/>
          <p:nvPr/>
        </p:nvSpPr>
        <p:spPr>
          <a:xfrm>
            <a:off x="2803000" y="1120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51"/>
          <p:cNvSpPr/>
          <p:nvPr/>
        </p:nvSpPr>
        <p:spPr>
          <a:xfrm>
            <a:off x="280000" y="1315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51"/>
          <p:cNvSpPr txBox="1"/>
          <p:nvPr/>
        </p:nvSpPr>
        <p:spPr>
          <a:xfrm>
            <a:off x="305000" y="1315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2  STRATIFIED CV</a:t>
            </a:r>
            <a:endParaRPr/>
          </a:p>
        </p:txBody>
      </p:sp>
      <p:sp>
        <p:nvSpPr>
          <p:cNvPr id="1203" name="Google Shape;1203;p51"/>
          <p:cNvSpPr txBox="1"/>
          <p:nvPr/>
        </p:nvSpPr>
        <p:spPr>
          <a:xfrm>
            <a:off x="1620000" y="1395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51"/>
          <p:cNvSpPr txBox="1"/>
          <p:nvPr/>
        </p:nvSpPr>
        <p:spPr>
          <a:xfrm>
            <a:off x="1670000" y="1315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Outer: 5-fold — balanced PD / HC per fold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Inner: 3-fold GridSearchCV per fold</a:t>
            </a:r>
            <a:endParaRPr/>
          </a:p>
        </p:txBody>
      </p:sp>
      <p:sp>
        <p:nvSpPr>
          <p:cNvPr id="1205" name="Google Shape;1205;p51"/>
          <p:cNvSpPr/>
          <p:nvPr/>
        </p:nvSpPr>
        <p:spPr>
          <a:xfrm>
            <a:off x="2803000" y="1775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51"/>
          <p:cNvSpPr/>
          <p:nvPr/>
        </p:nvSpPr>
        <p:spPr>
          <a:xfrm>
            <a:off x="280000" y="197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51"/>
          <p:cNvSpPr txBox="1"/>
          <p:nvPr/>
        </p:nvSpPr>
        <p:spPr>
          <a:xfrm>
            <a:off x="305000" y="1970000"/>
            <a:ext cx="14340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3    STANDARDSCALER</a:t>
            </a:r>
            <a:endParaRPr sz="900"/>
          </a:p>
        </p:txBody>
      </p:sp>
      <p:sp>
        <p:nvSpPr>
          <p:cNvPr id="1208" name="Google Shape;1208;p51"/>
          <p:cNvSpPr txBox="1"/>
          <p:nvPr/>
        </p:nvSpPr>
        <p:spPr>
          <a:xfrm>
            <a:off x="1620000" y="2050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51"/>
          <p:cNvSpPr txBox="1"/>
          <p:nvPr/>
        </p:nvSpPr>
        <p:spPr>
          <a:xfrm>
            <a:off x="1670000" y="197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Z-score normalisation fitted on train fold only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Prevents information leakage to test fold</a:t>
            </a:r>
            <a:endParaRPr/>
          </a:p>
        </p:txBody>
      </p:sp>
      <p:sp>
        <p:nvSpPr>
          <p:cNvPr id="1210" name="Google Shape;1210;p51"/>
          <p:cNvSpPr/>
          <p:nvPr/>
        </p:nvSpPr>
        <p:spPr>
          <a:xfrm>
            <a:off x="2803000" y="2430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51"/>
          <p:cNvSpPr/>
          <p:nvPr/>
        </p:nvSpPr>
        <p:spPr>
          <a:xfrm>
            <a:off x="280000" y="2625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51"/>
          <p:cNvSpPr txBox="1"/>
          <p:nvPr/>
        </p:nvSpPr>
        <p:spPr>
          <a:xfrm>
            <a:off x="305000" y="2625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4  PCA</a:t>
            </a:r>
            <a:endParaRPr/>
          </a:p>
        </p:txBody>
      </p:sp>
      <p:sp>
        <p:nvSpPr>
          <p:cNvPr id="1213" name="Google Shape;1213;p51"/>
          <p:cNvSpPr txBox="1"/>
          <p:nvPr/>
        </p:nvSpPr>
        <p:spPr>
          <a:xfrm>
            <a:off x="1620000" y="2705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51"/>
          <p:cNvSpPr txBox="1"/>
          <p:nvPr/>
        </p:nvSpPr>
        <p:spPr>
          <a:xfrm>
            <a:off x="1670000" y="2625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Fitted per fold on training data only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Retains components explaining ~95% variance</a:t>
            </a:r>
            <a:endParaRPr/>
          </a:p>
        </p:txBody>
      </p:sp>
      <p:sp>
        <p:nvSpPr>
          <p:cNvPr id="1215" name="Google Shape;1215;p51"/>
          <p:cNvSpPr/>
          <p:nvPr/>
        </p:nvSpPr>
        <p:spPr>
          <a:xfrm>
            <a:off x="2803000" y="3085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51"/>
          <p:cNvSpPr/>
          <p:nvPr/>
        </p:nvSpPr>
        <p:spPr>
          <a:xfrm>
            <a:off x="280000" y="328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51"/>
          <p:cNvSpPr txBox="1"/>
          <p:nvPr/>
        </p:nvSpPr>
        <p:spPr>
          <a:xfrm>
            <a:off x="305000" y="3280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5  MODEL TRAINING</a:t>
            </a:r>
            <a:endParaRPr/>
          </a:p>
        </p:txBody>
      </p:sp>
      <p:sp>
        <p:nvSpPr>
          <p:cNvPr id="1218" name="Google Shape;1218;p51"/>
          <p:cNvSpPr txBox="1"/>
          <p:nvPr/>
        </p:nvSpPr>
        <p:spPr>
          <a:xfrm>
            <a:off x="1620000" y="3360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51"/>
          <p:cNvSpPr txBox="1"/>
          <p:nvPr/>
        </p:nvSpPr>
        <p:spPr>
          <a:xfrm>
            <a:off x="1670000" y="328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Random Forest  ·  SVM-Linear  ·  SVM-RBF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Grid search selects best hyperparameters via ROC-AUC</a:t>
            </a:r>
            <a:endParaRPr/>
          </a:p>
        </p:txBody>
      </p:sp>
      <p:sp>
        <p:nvSpPr>
          <p:cNvPr id="1220" name="Google Shape;1220;p51"/>
          <p:cNvSpPr/>
          <p:nvPr/>
        </p:nvSpPr>
        <p:spPr>
          <a:xfrm>
            <a:off x="2803000" y="3740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51"/>
          <p:cNvSpPr/>
          <p:nvPr/>
        </p:nvSpPr>
        <p:spPr>
          <a:xfrm>
            <a:off x="280000" y="3935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05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51"/>
          <p:cNvSpPr txBox="1"/>
          <p:nvPr/>
        </p:nvSpPr>
        <p:spPr>
          <a:xfrm>
            <a:off x="305000" y="3935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6  EVALUATION</a:t>
            </a:r>
            <a:endParaRPr/>
          </a:p>
        </p:txBody>
      </p:sp>
      <p:sp>
        <p:nvSpPr>
          <p:cNvPr id="1223" name="Google Shape;1223;p51"/>
          <p:cNvSpPr txBox="1"/>
          <p:nvPr/>
        </p:nvSpPr>
        <p:spPr>
          <a:xfrm>
            <a:off x="1620000" y="4015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51"/>
          <p:cNvSpPr txBox="1"/>
          <p:nvPr/>
        </p:nvSpPr>
        <p:spPr>
          <a:xfrm>
            <a:off x="1670000" y="3935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 fold: Accuracy · Sensitivity · Specificity · AUC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Reported as Mean ± STD across 5 folds</a:t>
            </a:r>
            <a:endParaRPr/>
          </a:p>
        </p:txBody>
      </p:sp>
      <p:sp>
        <p:nvSpPr>
          <p:cNvPr id="1225" name="Google Shape;1225;p51"/>
          <p:cNvSpPr/>
          <p:nvPr/>
        </p:nvSpPr>
        <p:spPr>
          <a:xfrm>
            <a:off x="2803000" y="4395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6" name="Google Shape;1226;p51"/>
          <p:cNvSpPr/>
          <p:nvPr/>
        </p:nvSpPr>
        <p:spPr>
          <a:xfrm>
            <a:off x="280000" y="459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7" name="Google Shape;1227;p51"/>
          <p:cNvSpPr txBox="1"/>
          <p:nvPr/>
        </p:nvSpPr>
        <p:spPr>
          <a:xfrm>
            <a:off x="305000" y="4590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CCFFEE"/>
                </a:solidFill>
                <a:latin typeface="Arial"/>
                <a:ea typeface="Arial"/>
                <a:cs typeface="Arial"/>
                <a:sym typeface="Arial"/>
              </a:rPr>
              <a:t>7  FINAL OUTPUT</a:t>
            </a:r>
            <a:endParaRPr/>
          </a:p>
        </p:txBody>
      </p:sp>
      <p:sp>
        <p:nvSpPr>
          <p:cNvPr id="1228" name="Google Shape;1228;p51"/>
          <p:cNvSpPr txBox="1"/>
          <p:nvPr/>
        </p:nvSpPr>
        <p:spPr>
          <a:xfrm>
            <a:off x="1620000" y="4670000"/>
            <a:ext cx="18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9" name="Google Shape;1229;p51"/>
          <p:cNvSpPr txBox="1"/>
          <p:nvPr/>
        </p:nvSpPr>
        <p:spPr>
          <a:xfrm>
            <a:off x="1670000" y="459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lang="en" sz="925">
                <a:solidFill>
                  <a:srgbClr val="FFFFFF"/>
                </a:solidFill>
              </a:rPr>
              <a:t>Out-of-fold predictions aggregated across all 5 outer folds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CCFFEE"/>
                </a:solidFill>
              </a:rPr>
              <a:t>Confusion matrices computed from pooled held-out predictions</a:t>
            </a:r>
            <a:endParaRPr/>
          </a:p>
        </p:txBody>
      </p:sp>
      <p:sp>
        <p:nvSpPr>
          <p:cNvPr id="1230" name="Google Shape;1230;p51"/>
          <p:cNvSpPr/>
          <p:nvPr/>
        </p:nvSpPr>
        <p:spPr>
          <a:xfrm>
            <a:off x="5530000" y="660000"/>
            <a:ext cx="3414000" cy="4389900"/>
          </a:xfrm>
          <a:prstGeom prst="roundRect">
            <a:avLst>
              <a:gd fmla="val 24000" name="adj"/>
            </a:avLst>
          </a:prstGeom>
          <a:solidFill>
            <a:srgbClr val="F0F4F8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1" name="Google Shape;1231;p51"/>
          <p:cNvSpPr/>
          <p:nvPr/>
        </p:nvSpPr>
        <p:spPr>
          <a:xfrm>
            <a:off x="5530000" y="660000"/>
            <a:ext cx="3414000" cy="150000"/>
          </a:xfrm>
          <a:prstGeom prst="roundRect">
            <a:avLst>
              <a:gd fmla="val 24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2" name="Google Shape;1232;p51"/>
          <p:cNvSpPr txBox="1"/>
          <p:nvPr/>
        </p:nvSpPr>
        <p:spPr>
          <a:xfrm>
            <a:off x="5550000" y="660000"/>
            <a:ext cx="33741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 fontScale="625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lang="en" sz="1000">
                <a:solidFill>
                  <a:srgbClr val="0097A7"/>
                </a:solidFill>
              </a:rPr>
              <a:t>DESIGN DECISIONS AND WHY</a:t>
            </a:r>
            <a:endParaRPr/>
          </a:p>
        </p:txBody>
      </p:sp>
      <p:sp>
        <p:nvSpPr>
          <p:cNvPr id="1233" name="Google Shape;1233;p51"/>
          <p:cNvSpPr/>
          <p:nvPr/>
        </p:nvSpPr>
        <p:spPr>
          <a:xfrm>
            <a:off x="5550000" y="825000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51"/>
          <p:cNvSpPr/>
          <p:nvPr/>
        </p:nvSpPr>
        <p:spPr>
          <a:xfrm>
            <a:off x="5550000" y="825000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5" name="Google Shape;1235;p51"/>
          <p:cNvSpPr txBox="1"/>
          <p:nvPr/>
        </p:nvSpPr>
        <p:spPr>
          <a:xfrm>
            <a:off x="5765000" y="845000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Nested CV (not simple holdout)</a:t>
            </a:r>
            <a:endParaRPr/>
          </a:p>
        </p:txBody>
      </p:sp>
      <p:sp>
        <p:nvSpPr>
          <p:cNvPr id="1236" name="Google Shape;1236;p51"/>
          <p:cNvSpPr txBox="1"/>
          <p:nvPr/>
        </p:nvSpPr>
        <p:spPr>
          <a:xfrm>
            <a:off x="5765000" y="1127799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n=166 is too small. Simple CV gives optimistic estimates; nested separates tuning from evaluation.</a:t>
            </a:r>
            <a:endParaRPr/>
          </a:p>
        </p:txBody>
      </p:sp>
      <p:sp>
        <p:nvSpPr>
          <p:cNvPr id="1237" name="Google Shape;1237;p51"/>
          <p:cNvSpPr/>
          <p:nvPr/>
        </p:nvSpPr>
        <p:spPr>
          <a:xfrm>
            <a:off x="5550000" y="1538333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8" name="Google Shape;1238;p51"/>
          <p:cNvSpPr/>
          <p:nvPr/>
        </p:nvSpPr>
        <p:spPr>
          <a:xfrm>
            <a:off x="5550000" y="1538333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9" name="Google Shape;1239;p51"/>
          <p:cNvSpPr txBox="1"/>
          <p:nvPr/>
        </p:nvSpPr>
        <p:spPr>
          <a:xfrm>
            <a:off x="5765000" y="1558333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StandardScaler inside each fold</a:t>
            </a:r>
            <a:endParaRPr/>
          </a:p>
        </p:txBody>
      </p:sp>
      <p:sp>
        <p:nvSpPr>
          <p:cNvPr id="1240" name="Google Shape;1240;p51"/>
          <p:cNvSpPr txBox="1"/>
          <p:nvPr/>
        </p:nvSpPr>
        <p:spPr>
          <a:xfrm>
            <a:off x="5765000" y="1841132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Fitting on full data before split leaks test statistics into training.</a:t>
            </a:r>
            <a:endParaRPr/>
          </a:p>
        </p:txBody>
      </p:sp>
      <p:sp>
        <p:nvSpPr>
          <p:cNvPr id="1241" name="Google Shape;1241;p51"/>
          <p:cNvSpPr/>
          <p:nvPr/>
        </p:nvSpPr>
        <p:spPr>
          <a:xfrm>
            <a:off x="5550000" y="2251666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2" name="Google Shape;1242;p51"/>
          <p:cNvSpPr/>
          <p:nvPr/>
        </p:nvSpPr>
        <p:spPr>
          <a:xfrm>
            <a:off x="5550000" y="2251666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3" name="Google Shape;1243;p51"/>
          <p:cNvSpPr txBox="1"/>
          <p:nvPr/>
        </p:nvSpPr>
        <p:spPr>
          <a:xfrm>
            <a:off x="5765000" y="2271666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PCA after scaling</a:t>
            </a:r>
            <a:endParaRPr/>
          </a:p>
        </p:txBody>
      </p:sp>
      <p:sp>
        <p:nvSpPr>
          <p:cNvPr id="1244" name="Google Shape;1244;p51"/>
          <p:cNvSpPr txBox="1"/>
          <p:nvPr/>
        </p:nvSpPr>
        <p:spPr>
          <a:xfrm>
            <a:off x="5765000" y="2554465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PCA is sensitive to feature scale so scaling must come first. Fitted per fold to avoid leakage</a:t>
            </a:r>
            <a:endParaRPr/>
          </a:p>
        </p:txBody>
      </p:sp>
      <p:sp>
        <p:nvSpPr>
          <p:cNvPr id="1245" name="Google Shape;1245;p51"/>
          <p:cNvSpPr/>
          <p:nvPr/>
        </p:nvSpPr>
        <p:spPr>
          <a:xfrm>
            <a:off x="5550000" y="2964999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51"/>
          <p:cNvSpPr/>
          <p:nvPr/>
        </p:nvSpPr>
        <p:spPr>
          <a:xfrm>
            <a:off x="5550000" y="2964999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7" name="Google Shape;1247;p51"/>
          <p:cNvSpPr txBox="1"/>
          <p:nvPr/>
        </p:nvSpPr>
        <p:spPr>
          <a:xfrm>
            <a:off x="5765000" y="2984999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ROC-AUC as tuning criterion</a:t>
            </a:r>
            <a:endParaRPr/>
          </a:p>
        </p:txBody>
      </p:sp>
      <p:sp>
        <p:nvSpPr>
          <p:cNvPr id="1248" name="Google Shape;1248;p51"/>
          <p:cNvSpPr txBox="1"/>
          <p:nvPr/>
        </p:nvSpPr>
        <p:spPr>
          <a:xfrm>
            <a:off x="5765000" y="3267798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AUC is threshold-independent.</a:t>
            </a:r>
            <a:endParaRPr/>
          </a:p>
        </p:txBody>
      </p:sp>
      <p:sp>
        <p:nvSpPr>
          <p:cNvPr id="1249" name="Google Shape;1249;p51"/>
          <p:cNvSpPr/>
          <p:nvPr/>
        </p:nvSpPr>
        <p:spPr>
          <a:xfrm>
            <a:off x="5550000" y="3678332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0" name="Google Shape;1250;p51"/>
          <p:cNvSpPr/>
          <p:nvPr/>
        </p:nvSpPr>
        <p:spPr>
          <a:xfrm>
            <a:off x="5550000" y="3678332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05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1" name="Google Shape;1251;p51"/>
          <p:cNvSpPr txBox="1"/>
          <p:nvPr/>
        </p:nvSpPr>
        <p:spPr>
          <a:xfrm>
            <a:off x="5550000" y="3678332"/>
            <a:ext cx="200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252" name="Google Shape;1252;p51"/>
          <p:cNvSpPr txBox="1"/>
          <p:nvPr/>
        </p:nvSpPr>
        <p:spPr>
          <a:xfrm>
            <a:off x="5765000" y="3698332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3 classifiers compared</a:t>
            </a:r>
            <a:endParaRPr/>
          </a:p>
        </p:txBody>
      </p:sp>
      <p:sp>
        <p:nvSpPr>
          <p:cNvPr id="1253" name="Google Shape;1253;p51"/>
          <p:cNvSpPr txBox="1"/>
          <p:nvPr/>
        </p:nvSpPr>
        <p:spPr>
          <a:xfrm>
            <a:off x="5765000" y="3981131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RF captures non-linear interactions. SVM-Linear tests linear separability. SVM-RBF tests non-linear boundary.</a:t>
            </a:r>
            <a:endParaRPr/>
          </a:p>
        </p:txBody>
      </p:sp>
      <p:sp>
        <p:nvSpPr>
          <p:cNvPr id="1254" name="Google Shape;1254;p51"/>
          <p:cNvSpPr/>
          <p:nvPr/>
        </p:nvSpPr>
        <p:spPr>
          <a:xfrm>
            <a:off x="5550000" y="4391665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5" name="Google Shape;1255;p51"/>
          <p:cNvSpPr/>
          <p:nvPr/>
        </p:nvSpPr>
        <p:spPr>
          <a:xfrm>
            <a:off x="5550000" y="4391665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6" name="Google Shape;1256;p51"/>
          <p:cNvSpPr txBox="1"/>
          <p:nvPr/>
        </p:nvSpPr>
        <p:spPr>
          <a:xfrm>
            <a:off x="5550000" y="4391665"/>
            <a:ext cx="200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257" name="Google Shape;1257;p51"/>
          <p:cNvSpPr txBox="1"/>
          <p:nvPr/>
        </p:nvSpPr>
        <p:spPr>
          <a:xfrm>
            <a:off x="5765000" y="4411665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Subject-level aggregation</a:t>
            </a:r>
            <a:endParaRPr/>
          </a:p>
        </p:txBody>
      </p:sp>
      <p:sp>
        <p:nvSpPr>
          <p:cNvPr id="1258" name="Google Shape;1258;p51"/>
          <p:cNvSpPr txBox="1"/>
          <p:nvPr/>
        </p:nvSpPr>
        <p:spPr>
          <a:xfrm>
            <a:off x="5765000" y="4694464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Window-level evaluation inflates accuracy. One subject contributes hundreds of windows causing leakage.</a:t>
            </a:r>
            <a:endParaRPr/>
          </a:p>
        </p:txBody>
      </p:sp>
      <p:sp>
        <p:nvSpPr>
          <p:cNvPr id="1259" name="Google Shape;1259;p51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60" name="Google Shape;1260;p51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4" name="Shape 1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Google Shape;1265;p52"/>
          <p:cNvSpPr txBox="1"/>
          <p:nvPr>
            <p:ph type="title"/>
          </p:nvPr>
        </p:nvSpPr>
        <p:spPr>
          <a:xfrm>
            <a:off x="388751" y="225900"/>
            <a:ext cx="54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Cross-Validated Performance (Fold-wise Metrics)</a:t>
            </a:r>
            <a:endParaRPr/>
          </a:p>
        </p:txBody>
      </p:sp>
      <p:sp>
        <p:nvSpPr>
          <p:cNvPr id="1266" name="Google Shape;1266;p52"/>
          <p:cNvSpPr txBox="1"/>
          <p:nvPr>
            <p:ph idx="3" type="body"/>
          </p:nvPr>
        </p:nvSpPr>
        <p:spPr>
          <a:xfrm>
            <a:off x="388738" y="515699"/>
            <a:ext cx="51333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"/>
              <a:t>Baseline Model Performance (Mean ± Std Across 5 Folds)</a:t>
            </a:r>
            <a:endParaRPr/>
          </a:p>
        </p:txBody>
      </p:sp>
      <p:sp>
        <p:nvSpPr>
          <p:cNvPr id="1267" name="Google Shape;1267;p52"/>
          <p:cNvSpPr/>
          <p:nvPr>
            <p:ph idx="4" type="pic"/>
          </p:nvPr>
        </p:nvSpPr>
        <p:spPr>
          <a:xfrm>
            <a:off x="5925110" y="225889"/>
            <a:ext cx="810000" cy="289800"/>
          </a:xfrm>
          <a:prstGeom prst="rect">
            <a:avLst/>
          </a:prstGeom>
        </p:spPr>
      </p:sp>
      <p:graphicFrame>
        <p:nvGraphicFramePr>
          <p:cNvPr id="1268" name="Google Shape;1268;p52"/>
          <p:cNvGraphicFramePr/>
          <p:nvPr/>
        </p:nvGraphicFramePr>
        <p:xfrm>
          <a:off x="533438" y="995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{B2338396-4456-490A-B57B-06391262F7C4}</a:tableStyleId>
              </a:tblPr>
              <a:tblGrid>
                <a:gridCol w="907450"/>
                <a:gridCol w="1289900"/>
                <a:gridCol w="1337650"/>
                <a:gridCol w="1403600"/>
                <a:gridCol w="1392900"/>
                <a:gridCol w="1745625"/>
              </a:tblGrid>
              <a:tr h="5237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Dataset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Model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Accuracy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Sensitivity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Specificity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AUC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6550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Left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0.64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0.49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0.68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(Linear)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0.64 ± 0.08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0.83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0.40 ± 0.09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0.62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(RBF)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0.67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0.89 ± 0.11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0.45 ± 0.24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6550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Right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 ± 0.04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0.83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0.52 ± 0.13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0.76 ± 0.08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(Linear)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0.67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0.78 ± 0.10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0.54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(RBF)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0.76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 ± 0.13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0.78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4025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Combined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0.73 ± 0.03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0.82 ± 0.08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0.62 ± 0.06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0.85 ± 0.07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(Linear)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0.04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0.75 ± 0.11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0.82 ± 0.06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(RBF)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0.78 ± 0.05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0.78 ± 0.09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0.85 ± 0.04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69" name="Google Shape;1269;p52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70" name="Google Shape;1270;p52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4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Google Shape;1275;p53"/>
          <p:cNvSpPr txBox="1"/>
          <p:nvPr>
            <p:ph type="title"/>
          </p:nvPr>
        </p:nvSpPr>
        <p:spPr>
          <a:xfrm>
            <a:off x="388739" y="222639"/>
            <a:ext cx="51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Best Performing Baseline Models (Highlights)</a:t>
            </a:r>
            <a:endParaRPr/>
          </a:p>
        </p:txBody>
      </p:sp>
      <p:sp>
        <p:nvSpPr>
          <p:cNvPr id="1276" name="Google Shape;1276;p53"/>
          <p:cNvSpPr txBox="1"/>
          <p:nvPr>
            <p:ph idx="1" type="body"/>
          </p:nvPr>
        </p:nvSpPr>
        <p:spPr>
          <a:xfrm>
            <a:off x="307325" y="3476200"/>
            <a:ext cx="4084200" cy="2493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rPr i="1" lang="en" sz="1040"/>
              <a:t>Combined features yield the best baselines; RF and SVM-RBF:  both at 0.85 AUC.</a:t>
            </a:r>
            <a:endParaRPr i="1" sz="1040"/>
          </a:p>
        </p:txBody>
      </p:sp>
      <p:pic>
        <p:nvPicPr>
          <p:cNvPr id="1277" name="Google Shape;1277;p53" title="baseline_auc_combined_bar_FAU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4700" y="1007700"/>
            <a:ext cx="3906862" cy="2468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78" name="Google Shape;1278;p53"/>
          <p:cNvSpPr txBox="1"/>
          <p:nvPr>
            <p:ph idx="1" type="body"/>
          </p:nvPr>
        </p:nvSpPr>
        <p:spPr>
          <a:xfrm>
            <a:off x="4440125" y="3476200"/>
            <a:ext cx="4471200" cy="2493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rPr i="1" lang="en" sz="1040"/>
              <a:t>Left &lt; Right &lt; Combined in AUC across all models, confirming benefit of using both feet.</a:t>
            </a:r>
            <a:endParaRPr i="1" sz="1040"/>
          </a:p>
        </p:txBody>
      </p:sp>
      <p:sp>
        <p:nvSpPr>
          <p:cNvPr id="1279" name="Google Shape;1279;p53"/>
          <p:cNvSpPr txBox="1"/>
          <p:nvPr/>
        </p:nvSpPr>
        <p:spPr>
          <a:xfrm>
            <a:off x="164700" y="3872475"/>
            <a:ext cx="8688000" cy="6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Combined TSFresh features (L+R) clearly outperform Left or Right alone.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SVM-RBF and Random Forest are the strongest classical baselines.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This </a:t>
            </a:r>
            <a:r>
              <a:rPr b="1" lang="en" sz="1100">
                <a:solidFill>
                  <a:schemeClr val="dk1"/>
                </a:solidFill>
              </a:rPr>
              <a:t>Combined + SVM-RBF / Random Forest</a:t>
            </a:r>
            <a:r>
              <a:rPr lang="en" sz="1100">
                <a:solidFill>
                  <a:schemeClr val="dk1"/>
                </a:solidFill>
              </a:rPr>
              <a:t> configuration is the strongest performer.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80" name="Google Shape;1280;p53"/>
          <p:cNvSpPr txBox="1"/>
          <p:nvPr/>
        </p:nvSpPr>
        <p:spPr>
          <a:xfrm>
            <a:off x="388750" y="421175"/>
            <a:ext cx="6600000" cy="4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Combined TSFresh features with SVM-RBF/Random Forest yield strong baseline AUC (~0.84–0.85), clearly outperforming single-foot models.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81" name="Google Shape;1281;p53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82" name="Google Shape;1282;p53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  <p:pic>
        <p:nvPicPr>
          <p:cNvPr id="1283" name="Google Shape;1283;p53" title="baseline_auc_grouped_bar_FAU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23949" y="991475"/>
            <a:ext cx="4702807" cy="2468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7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p54"/>
          <p:cNvSpPr txBox="1"/>
          <p:nvPr>
            <p:ph type="title"/>
          </p:nvPr>
        </p:nvSpPr>
        <p:spPr>
          <a:xfrm>
            <a:off x="386975" y="280350"/>
            <a:ext cx="64884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Left Foot – Confusion Matrices (5-Fold Aggregated)</a:t>
            </a:r>
            <a:endParaRPr sz="2000"/>
          </a:p>
        </p:txBody>
      </p:sp>
      <p:pic>
        <p:nvPicPr>
          <p:cNvPr id="1289" name="Google Shape;1289;p54" title="cm_opt_Left_RandomFores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6975" y="1221575"/>
            <a:ext cx="2678376" cy="20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0" name="Google Shape;1290;p54" title="cm_opt_Left_SVM_Linear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49575" y="1223375"/>
            <a:ext cx="2482950" cy="1862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1" name="Google Shape;1291;p54" title="cm_opt_Left_SVM_RBF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80400" y="1260450"/>
            <a:ext cx="2384091" cy="178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2" name="Google Shape;1292;p54"/>
          <p:cNvSpPr txBox="1"/>
          <p:nvPr/>
        </p:nvSpPr>
        <p:spPr>
          <a:xfrm>
            <a:off x="399600" y="3751425"/>
            <a:ext cx="8843400" cy="9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 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Weakest feature set - no model exceeds 69% accuracy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High sensitivity (75–89%) but low specificity (40–49%) across all models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Left foot alone insufficient for reliable PD vs HC classification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93" name="Google Shape;1293;p54"/>
          <p:cNvSpPr txBox="1"/>
          <p:nvPr/>
        </p:nvSpPr>
        <p:spPr>
          <a:xfrm>
            <a:off x="626150" y="304852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100">
                <a:solidFill>
                  <a:schemeClr val="dk1"/>
                </a:solidFill>
              </a:rPr>
              <a:t>High sensitivity (</a:t>
            </a:r>
            <a:r>
              <a:rPr b="1" i="1" lang="en" sz="1100">
                <a:solidFill>
                  <a:schemeClr val="dk1"/>
                </a:solidFill>
              </a:rPr>
              <a:t>75%</a:t>
            </a:r>
            <a:r>
              <a:rPr i="1" lang="en" sz="1100">
                <a:solidFill>
                  <a:schemeClr val="dk1"/>
                </a:solidFill>
              </a:rPr>
              <a:t>), low </a:t>
            </a:r>
            <a:endParaRPr i="1"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100">
                <a:solidFill>
                  <a:schemeClr val="dk1"/>
                </a:solidFill>
              </a:rPr>
              <a:t>specificity (</a:t>
            </a:r>
            <a:r>
              <a:rPr b="1" i="1" lang="en" sz="1100">
                <a:solidFill>
                  <a:schemeClr val="dk1"/>
                </a:solidFill>
              </a:rPr>
              <a:t>49%</a:t>
            </a:r>
            <a:r>
              <a:rPr i="1" lang="en" sz="1100">
                <a:solidFill>
                  <a:schemeClr val="dk1"/>
                </a:solidFill>
              </a:rPr>
              <a:t>) - biased toward PD</a:t>
            </a:r>
            <a:endParaRPr i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1294" name="Google Shape;1294;p54"/>
          <p:cNvSpPr txBox="1"/>
          <p:nvPr/>
        </p:nvSpPr>
        <p:spPr>
          <a:xfrm>
            <a:off x="3337050" y="3048525"/>
            <a:ext cx="2968500" cy="9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Highest FP count -</a:t>
            </a:r>
            <a:endParaRPr i="1"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linear kernel fails gait complexity.</a:t>
            </a:r>
            <a:endParaRPr i="1"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1295" name="Google Shape;1295;p54"/>
          <p:cNvSpPr txBox="1"/>
          <p:nvPr/>
        </p:nvSpPr>
        <p:spPr>
          <a:xfrm>
            <a:off x="6257250" y="304852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Best sensitivity (</a:t>
            </a:r>
            <a:r>
              <a:rPr b="1" i="1" lang="en" sz="1100">
                <a:solidFill>
                  <a:schemeClr val="dk1"/>
                </a:solidFill>
              </a:rPr>
              <a:t>89%</a:t>
            </a:r>
            <a:r>
              <a:rPr i="1" lang="en" sz="1100">
                <a:solidFill>
                  <a:schemeClr val="dk1"/>
                </a:solidFill>
              </a:rPr>
              <a:t>), specificity still weak (</a:t>
            </a:r>
            <a:r>
              <a:rPr b="1" i="1" lang="en" sz="1100">
                <a:solidFill>
                  <a:schemeClr val="dk1"/>
                </a:solidFill>
              </a:rPr>
              <a:t>45%</a:t>
            </a:r>
            <a:r>
              <a:rPr i="1" lang="en" sz="1100">
                <a:solidFill>
                  <a:schemeClr val="dk1"/>
                </a:solidFill>
              </a:rPr>
              <a:t>).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296" name="Google Shape;1296;p54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97" name="Google Shape;1297;p54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  <p:sp>
        <p:nvSpPr>
          <p:cNvPr id="1298" name="Google Shape;1298;p54"/>
          <p:cNvSpPr txBox="1"/>
          <p:nvPr/>
        </p:nvSpPr>
        <p:spPr>
          <a:xfrm>
            <a:off x="318450" y="530400"/>
            <a:ext cx="5987100" cy="1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Pooled out-of-fold predictions - each subject appears exactly once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2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3" name="Google Shape;1303;p55" title="cm_opt_Right_RandomFores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6975" y="1221575"/>
            <a:ext cx="2678376" cy="20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4" name="Google Shape;1304;p55" title="cm_opt_Right_SVM_Linear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49575" y="1223375"/>
            <a:ext cx="2482950" cy="1862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5" name="Google Shape;1305;p55" title="cm_opt_Right_SVM_RBF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80400" y="1260450"/>
            <a:ext cx="2384091" cy="178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306" name="Google Shape;1306;p55"/>
          <p:cNvSpPr txBox="1"/>
          <p:nvPr/>
        </p:nvSpPr>
        <p:spPr>
          <a:xfrm>
            <a:off x="542325" y="3638775"/>
            <a:ext cx="8843400" cy="9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 </a:t>
            </a:r>
            <a:endParaRPr b="1"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Strongest single-foot set - </a:t>
            </a:r>
            <a:r>
              <a:rPr lang="en" sz="1200">
                <a:solidFill>
                  <a:schemeClr val="dk1"/>
                </a:solidFill>
              </a:rPr>
              <a:t>accuracy improves to 69–72%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SVM RBF </a:t>
            </a:r>
            <a:r>
              <a:rPr lang="en" sz="1200">
                <a:solidFill>
                  <a:schemeClr val="dk1"/>
                </a:solidFill>
              </a:rPr>
              <a:t>best captures the non-linear boundary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SVM Linear </a:t>
            </a:r>
            <a:r>
              <a:rPr lang="en" sz="1200">
                <a:solidFill>
                  <a:schemeClr val="dk1"/>
                </a:solidFill>
              </a:rPr>
              <a:t>consistently underperforms across all datasets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307" name="Google Shape;1307;p55"/>
          <p:cNvSpPr txBox="1"/>
          <p:nvPr/>
        </p:nvSpPr>
        <p:spPr>
          <a:xfrm>
            <a:off x="388750" y="2980100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100">
                <a:solidFill>
                  <a:schemeClr val="dk1"/>
                </a:solidFill>
              </a:rPr>
              <a:t>83% sensitivity, 52% specificity </a:t>
            </a:r>
            <a:r>
              <a:rPr i="1" lang="en" sz="1100">
                <a:solidFill>
                  <a:schemeClr val="dk1"/>
                </a:solidFill>
              </a:rPr>
              <a:t>- strong PD marker capture.</a:t>
            </a:r>
            <a:endParaRPr i="1" sz="1100">
              <a:solidFill>
                <a:schemeClr val="dk1"/>
              </a:solidFill>
            </a:endParaRPr>
          </a:p>
        </p:txBody>
      </p:sp>
      <p:sp>
        <p:nvSpPr>
          <p:cNvPr id="1308" name="Google Shape;1308;p55"/>
          <p:cNvSpPr txBox="1"/>
          <p:nvPr/>
        </p:nvSpPr>
        <p:spPr>
          <a:xfrm>
            <a:off x="3319450" y="2980100"/>
            <a:ext cx="2968500" cy="9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 Similar </a:t>
            </a:r>
            <a:r>
              <a:rPr b="1" i="1" lang="en" sz="1100">
                <a:solidFill>
                  <a:schemeClr val="dk1"/>
                </a:solidFill>
              </a:rPr>
              <a:t>sensitivity (78%)</a:t>
            </a:r>
            <a:r>
              <a:rPr i="1" lang="en" sz="1100">
                <a:solidFill>
                  <a:schemeClr val="dk1"/>
                </a:solidFill>
              </a:rPr>
              <a:t> but decision boundary remains misaligned.</a:t>
            </a:r>
            <a:endParaRPr i="1" sz="1100">
              <a:solidFill>
                <a:schemeClr val="dk1"/>
              </a:solidFill>
            </a:endParaRPr>
          </a:p>
        </p:txBody>
      </p:sp>
      <p:sp>
        <p:nvSpPr>
          <p:cNvPr id="1309" name="Google Shape;1309;p55"/>
          <p:cNvSpPr txBox="1"/>
          <p:nvPr/>
        </p:nvSpPr>
        <p:spPr>
          <a:xfrm>
            <a:off x="6213300" y="2980100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Best HC/PD balance — </a:t>
            </a:r>
            <a:r>
              <a:rPr b="1" i="1" lang="en" sz="1100">
                <a:solidFill>
                  <a:schemeClr val="dk1"/>
                </a:solidFill>
              </a:rPr>
              <a:t>76% sensitivity</a:t>
            </a:r>
            <a:r>
              <a:rPr i="1" lang="en" sz="1100">
                <a:solidFill>
                  <a:schemeClr val="dk1"/>
                </a:solidFill>
              </a:rPr>
              <a:t>, </a:t>
            </a:r>
            <a:r>
              <a:rPr b="1" i="1" lang="en" sz="1100">
                <a:solidFill>
                  <a:schemeClr val="dk1"/>
                </a:solidFill>
              </a:rPr>
              <a:t>66% specificity.</a:t>
            </a:r>
            <a:endParaRPr b="1" i="1" sz="1000">
              <a:solidFill>
                <a:schemeClr val="dk1"/>
              </a:solidFill>
            </a:endParaRPr>
          </a:p>
        </p:txBody>
      </p:sp>
      <p:sp>
        <p:nvSpPr>
          <p:cNvPr id="1310" name="Google Shape;1310;p55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11" name="Google Shape;1311;p55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  <p:sp>
        <p:nvSpPr>
          <p:cNvPr id="1312" name="Google Shape;1312;p55"/>
          <p:cNvSpPr txBox="1"/>
          <p:nvPr>
            <p:ph type="title"/>
          </p:nvPr>
        </p:nvSpPr>
        <p:spPr>
          <a:xfrm>
            <a:off x="386975" y="280350"/>
            <a:ext cx="64884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Right</a:t>
            </a:r>
            <a:r>
              <a:rPr lang="en" sz="2000"/>
              <a:t> Foot – Confusion Matrices (5-Fold Aggregated)</a:t>
            </a:r>
            <a:endParaRPr sz="2000"/>
          </a:p>
        </p:txBody>
      </p:sp>
      <p:sp>
        <p:nvSpPr>
          <p:cNvPr id="1313" name="Google Shape;1313;p55"/>
          <p:cNvSpPr txBox="1"/>
          <p:nvPr/>
        </p:nvSpPr>
        <p:spPr>
          <a:xfrm>
            <a:off x="318450" y="530400"/>
            <a:ext cx="5987100" cy="1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Pooled out-of-fold predictions - each subject appears exactly once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8" name="Google Shape;1318;p56" title="cm_opt_Combined_RandomFores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750" y="1039750"/>
            <a:ext cx="2678376" cy="20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9" name="Google Shape;1319;p56" title="cm_opt_Combined_SVM_Linear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49575" y="1039750"/>
            <a:ext cx="2482950" cy="1862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0" name="Google Shape;1320;p56" title="cm_opt_Combined_SVM_RBF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06775" y="1076825"/>
            <a:ext cx="2384091" cy="178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321" name="Google Shape;1321;p56"/>
          <p:cNvSpPr txBox="1"/>
          <p:nvPr/>
        </p:nvSpPr>
        <p:spPr>
          <a:xfrm>
            <a:off x="300075" y="3663425"/>
            <a:ext cx="8915400" cy="13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100">
                <a:solidFill>
                  <a:schemeClr val="dk1"/>
                </a:solidFill>
              </a:rPr>
              <a:t>Combining both feet gives best results across all classifiers (</a:t>
            </a:r>
            <a:r>
              <a:rPr b="1" lang="en" sz="1100">
                <a:solidFill>
                  <a:schemeClr val="dk1"/>
                </a:solidFill>
              </a:rPr>
              <a:t>73–78% accuracy</a:t>
            </a:r>
            <a:r>
              <a:rPr lang="en" sz="1100">
                <a:solidFill>
                  <a:schemeClr val="dk1"/>
                </a:solidFill>
              </a:rPr>
              <a:t>)</a:t>
            </a:r>
            <a:endParaRPr sz="11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100">
                <a:solidFill>
                  <a:schemeClr val="dk1"/>
                </a:solidFill>
              </a:rPr>
              <a:t>SVM RBF</a:t>
            </a:r>
            <a:r>
              <a:rPr lang="en" sz="1100">
                <a:solidFill>
                  <a:schemeClr val="dk1"/>
                </a:solidFill>
              </a:rPr>
              <a:t> achieves the strongest balance — only model where specificity meaningfully closes the gap</a:t>
            </a:r>
            <a:endParaRPr sz="11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100">
                <a:solidFill>
                  <a:schemeClr val="dk1"/>
                </a:solidFill>
              </a:rPr>
              <a:t>Bilateral gait asymmetry</a:t>
            </a:r>
            <a:r>
              <a:rPr lang="en" sz="1100">
                <a:solidFill>
                  <a:schemeClr val="dk1"/>
                </a:solidFill>
              </a:rPr>
              <a:t> is the key discriminating signal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322" name="Google Shape;1322;p56"/>
          <p:cNvSpPr txBox="1"/>
          <p:nvPr/>
        </p:nvSpPr>
        <p:spPr>
          <a:xfrm>
            <a:off x="432700" y="290197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100">
                <a:solidFill>
                  <a:schemeClr val="dk1"/>
                </a:solidFill>
              </a:rPr>
              <a:t>73% accuracy</a:t>
            </a:r>
            <a:r>
              <a:rPr i="1" lang="en" sz="1100">
                <a:solidFill>
                  <a:schemeClr val="dk1"/>
                </a:solidFill>
              </a:rPr>
              <a:t>,</a:t>
            </a:r>
            <a:r>
              <a:rPr b="1" i="1" lang="en" sz="1100">
                <a:solidFill>
                  <a:schemeClr val="dk1"/>
                </a:solidFill>
              </a:rPr>
              <a:t> 82% sensitivity, 62% specificity </a:t>
            </a:r>
            <a:r>
              <a:rPr i="1" lang="en" sz="1100">
                <a:solidFill>
                  <a:schemeClr val="dk1"/>
                </a:solidFill>
              </a:rPr>
              <a:t>- robust bilateral integration.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323" name="Google Shape;1323;p56"/>
          <p:cNvSpPr txBox="1"/>
          <p:nvPr/>
        </p:nvSpPr>
        <p:spPr>
          <a:xfrm>
            <a:off x="3363400" y="2864900"/>
            <a:ext cx="2968500" cy="9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100">
                <a:solidFill>
                  <a:schemeClr val="dk1"/>
                </a:solidFill>
              </a:rPr>
              <a:t>Specificity </a:t>
            </a:r>
            <a:r>
              <a:rPr i="1" lang="en" sz="1100">
                <a:solidFill>
                  <a:schemeClr val="dk1"/>
                </a:solidFill>
              </a:rPr>
              <a:t>reaches </a:t>
            </a:r>
            <a:r>
              <a:rPr b="1" i="1" lang="en" sz="1100">
                <a:solidFill>
                  <a:schemeClr val="dk1"/>
                </a:solidFill>
              </a:rPr>
              <a:t>75% </a:t>
            </a:r>
            <a:r>
              <a:rPr i="1" lang="en" sz="1100">
                <a:solidFill>
                  <a:schemeClr val="dk1"/>
                </a:solidFill>
              </a:rPr>
              <a:t>- </a:t>
            </a:r>
            <a:endParaRPr i="1"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bilateral features partially offset linearity.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324" name="Google Shape;1324;p56"/>
          <p:cNvSpPr txBox="1"/>
          <p:nvPr/>
        </p:nvSpPr>
        <p:spPr>
          <a:xfrm>
            <a:off x="6213300" y="290197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100">
                <a:solidFill>
                  <a:schemeClr val="dk1"/>
                </a:solidFill>
              </a:rPr>
              <a:t>Best overall</a:t>
            </a:r>
            <a:r>
              <a:rPr i="1" lang="en" sz="1100">
                <a:solidFill>
                  <a:schemeClr val="dk1"/>
                </a:solidFill>
              </a:rPr>
              <a:t> - </a:t>
            </a:r>
            <a:r>
              <a:rPr b="1" i="1" lang="en" sz="1100">
                <a:solidFill>
                  <a:schemeClr val="dk1"/>
                </a:solidFill>
              </a:rPr>
              <a:t>78% sensitivity, 73% specificity.</a:t>
            </a:r>
            <a:endParaRPr b="1" i="1" sz="1000">
              <a:solidFill>
                <a:schemeClr val="dk1"/>
              </a:solidFill>
            </a:endParaRPr>
          </a:p>
        </p:txBody>
      </p:sp>
      <p:sp>
        <p:nvSpPr>
          <p:cNvPr id="1325" name="Google Shape;1325;p56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26" name="Google Shape;1326;p56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  <p:sp>
        <p:nvSpPr>
          <p:cNvPr id="1327" name="Google Shape;1327;p56"/>
          <p:cNvSpPr txBox="1"/>
          <p:nvPr>
            <p:ph type="title"/>
          </p:nvPr>
        </p:nvSpPr>
        <p:spPr>
          <a:xfrm>
            <a:off x="386975" y="280350"/>
            <a:ext cx="64884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Combined Feet</a:t>
            </a:r>
            <a:r>
              <a:rPr lang="en"/>
              <a:t> – Confusion Matrices (5-Fold Aggregated)</a:t>
            </a:r>
            <a:endParaRPr/>
          </a:p>
        </p:txBody>
      </p:sp>
      <p:sp>
        <p:nvSpPr>
          <p:cNvPr id="1328" name="Google Shape;1328;p56"/>
          <p:cNvSpPr txBox="1"/>
          <p:nvPr/>
        </p:nvSpPr>
        <p:spPr>
          <a:xfrm>
            <a:off x="318450" y="530400"/>
            <a:ext cx="5987100" cy="1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Pooled out-of-fold predictions - each subject appears exactly once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2" name="Shape 1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Google Shape;1333;p57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20 March 2026</a:t>
            </a:r>
            <a:endParaRPr/>
          </a:p>
        </p:txBody>
      </p:sp>
      <p:sp>
        <p:nvSpPr>
          <p:cNvPr id="1334" name="Google Shape;1334;p57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335" name="Google Shape;1335;p57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6" name="Google Shape;1336;p57"/>
          <p:cNvSpPr txBox="1"/>
          <p:nvPr>
            <p:ph type="title"/>
          </p:nvPr>
        </p:nvSpPr>
        <p:spPr>
          <a:xfrm>
            <a:off x="380000" y="150000"/>
            <a:ext cx="7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20"/>
              <a:buNone/>
            </a:pPr>
            <a:r>
              <a:rPr b="1" lang="en" sz="1920">
                <a:solidFill>
                  <a:schemeClr val="accent2"/>
                </a:solidFill>
              </a:rPr>
              <a:t>Conclusions, Limitations &amp; Future Work</a:t>
            </a:r>
            <a:endParaRPr sz="1920">
              <a:solidFill>
                <a:schemeClr val="accent2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20"/>
              <a:buNone/>
            </a:pPr>
            <a:r>
              <a:rPr lang="en" sz="1110">
                <a:solidFill>
                  <a:schemeClr val="accent2"/>
                </a:solidFill>
              </a:rPr>
              <a:t>Summary · Key Findings · Next Steps</a:t>
            </a:r>
            <a:endParaRPr sz="1920">
              <a:solidFill>
                <a:schemeClr val="accent2"/>
              </a:solidFill>
            </a:endParaRPr>
          </a:p>
        </p:txBody>
      </p:sp>
      <p:sp>
        <p:nvSpPr>
          <p:cNvPr id="1337" name="Google Shape;1337;p57"/>
          <p:cNvSpPr txBox="1"/>
          <p:nvPr/>
        </p:nvSpPr>
        <p:spPr>
          <a:xfrm>
            <a:off x="0" y="600000"/>
            <a:ext cx="9144000" cy="307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8" name="Google Shape;1338;p57"/>
          <p:cNvSpPr txBox="1"/>
          <p:nvPr/>
        </p:nvSpPr>
        <p:spPr>
          <a:xfrm>
            <a:off x="0" y="618000"/>
            <a:ext cx="9144000" cy="30780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9" name="Google Shape;1339;p57"/>
          <p:cNvSpPr/>
          <p:nvPr/>
        </p:nvSpPr>
        <p:spPr>
          <a:xfrm>
            <a:off x="405000" y="1440000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0" name="Google Shape;1340;p57"/>
          <p:cNvSpPr/>
          <p:nvPr/>
        </p:nvSpPr>
        <p:spPr>
          <a:xfrm>
            <a:off x="405000" y="2000000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1" name="Google Shape;1341;p57"/>
          <p:cNvSpPr/>
          <p:nvPr/>
        </p:nvSpPr>
        <p:spPr>
          <a:xfrm>
            <a:off x="405000" y="2560000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2" name="Google Shape;1342;p57"/>
          <p:cNvSpPr/>
          <p:nvPr/>
        </p:nvSpPr>
        <p:spPr>
          <a:xfrm>
            <a:off x="3193000" y="650000"/>
            <a:ext cx="2757900" cy="275700"/>
          </a:xfrm>
          <a:prstGeom prst="roundRect">
            <a:avLst>
              <a:gd fmla="val 28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3" name="Google Shape;1343;p57"/>
          <p:cNvSpPr/>
          <p:nvPr/>
        </p:nvSpPr>
        <p:spPr>
          <a:xfrm>
            <a:off x="3193000" y="650000"/>
            <a:ext cx="2757900" cy="26001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4" name="Google Shape;1344;p57"/>
          <p:cNvSpPr txBox="1"/>
          <p:nvPr/>
        </p:nvSpPr>
        <p:spPr>
          <a:xfrm>
            <a:off x="3909768" y="612900"/>
            <a:ext cx="1244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 LIMITATIONS</a:t>
            </a:r>
            <a:endParaRPr b="0" i="0" sz="1500" u="none" cap="none" strike="noStrike">
              <a:solidFill>
                <a:srgbClr val="0097A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5" name="Google Shape;1345;p57"/>
          <p:cNvSpPr/>
          <p:nvPr/>
        </p:nvSpPr>
        <p:spPr>
          <a:xfrm>
            <a:off x="3218000" y="1003855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6" name="Google Shape;1346;p57"/>
          <p:cNvSpPr txBox="1"/>
          <p:nvPr/>
        </p:nvSpPr>
        <p:spPr>
          <a:xfrm>
            <a:off x="3272900" y="918500"/>
            <a:ext cx="2898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Small dataset (n=16</a:t>
            </a:r>
            <a:r>
              <a:rPr b="1" lang="en" sz="925">
                <a:solidFill>
                  <a:srgbClr val="041E42"/>
                </a:solidFill>
              </a:rPr>
              <a:t>6</a:t>
            </a: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) — limits generalization to larger populations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7" name="Google Shape;1347;p57"/>
          <p:cNvSpPr/>
          <p:nvPr/>
        </p:nvSpPr>
        <p:spPr>
          <a:xfrm>
            <a:off x="3218000" y="1440000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8" name="Google Shape;1348;p57"/>
          <p:cNvSpPr txBox="1"/>
          <p:nvPr/>
        </p:nvSpPr>
        <p:spPr>
          <a:xfrm>
            <a:off x="3298000" y="140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TSFresh aggregation loses temporal ordering of gait events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9" name="Google Shape;1349;p57"/>
          <p:cNvSpPr/>
          <p:nvPr/>
        </p:nvSpPr>
        <p:spPr>
          <a:xfrm>
            <a:off x="3218000" y="2000000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0" name="Google Shape;1350;p57"/>
          <p:cNvSpPr txBox="1"/>
          <p:nvPr/>
        </p:nvSpPr>
        <p:spPr>
          <a:xfrm>
            <a:off x="3298000" y="196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Left-foot specificity low (0.40–0.4</a:t>
            </a:r>
            <a:r>
              <a:rPr lang="en" sz="925">
                <a:solidFill>
                  <a:srgbClr val="445566"/>
                </a:solidFill>
              </a:rPr>
              <a:t>9</a:t>
            </a: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) — possible HC compensation effect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1" name="Google Shape;1351;p57"/>
          <p:cNvSpPr/>
          <p:nvPr/>
        </p:nvSpPr>
        <p:spPr>
          <a:xfrm>
            <a:off x="3218000" y="2560000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2" name="Google Shape;1352;p57"/>
          <p:cNvSpPr txBox="1"/>
          <p:nvPr/>
        </p:nvSpPr>
        <p:spPr>
          <a:xfrm>
            <a:off x="3298000" y="252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Classical ML cannot model cross-foot coordination dynamically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3" name="Google Shape;1353;p57"/>
          <p:cNvSpPr/>
          <p:nvPr/>
        </p:nvSpPr>
        <p:spPr>
          <a:xfrm>
            <a:off x="6006000" y="650000"/>
            <a:ext cx="2757900" cy="307800"/>
          </a:xfrm>
          <a:prstGeom prst="roundRect">
            <a:avLst>
              <a:gd fmla="val 28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4" name="Google Shape;1354;p57"/>
          <p:cNvSpPr/>
          <p:nvPr/>
        </p:nvSpPr>
        <p:spPr>
          <a:xfrm>
            <a:off x="5976000" y="672500"/>
            <a:ext cx="2757900" cy="26001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5" name="Google Shape;1355;p57"/>
          <p:cNvSpPr txBox="1"/>
          <p:nvPr/>
        </p:nvSpPr>
        <p:spPr>
          <a:xfrm>
            <a:off x="6461775" y="641100"/>
            <a:ext cx="2718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FUTURE DIRECTIONS</a:t>
            </a:r>
            <a:endParaRPr b="0" i="0" sz="15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6" name="Google Shape;1356;p57"/>
          <p:cNvSpPr/>
          <p:nvPr/>
        </p:nvSpPr>
        <p:spPr>
          <a:xfrm>
            <a:off x="6031000" y="1127805"/>
            <a:ext cx="54900" cy="54900"/>
          </a:xfrm>
          <a:prstGeom prst="roundRect">
            <a:avLst>
              <a:gd fmla="val 275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7" name="Google Shape;1357;p57"/>
          <p:cNvSpPr txBox="1"/>
          <p:nvPr/>
        </p:nvSpPr>
        <p:spPr>
          <a:xfrm>
            <a:off x="6111000" y="94415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Apply State Space Models (Mamba) to raw vGRF sequences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8" name="Google Shape;1358;p57"/>
          <p:cNvSpPr/>
          <p:nvPr/>
        </p:nvSpPr>
        <p:spPr>
          <a:xfrm>
            <a:off x="6036000" y="1489725"/>
            <a:ext cx="54900" cy="54900"/>
          </a:xfrm>
          <a:prstGeom prst="roundRect">
            <a:avLst>
              <a:gd fmla="val 275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9" name="Google Shape;1359;p57"/>
          <p:cNvSpPr txBox="1"/>
          <p:nvPr/>
        </p:nvSpPr>
        <p:spPr>
          <a:xfrm>
            <a:off x="6111000" y="140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Explore LDA for supervised dimensionality reduction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0" name="Google Shape;1360;p57"/>
          <p:cNvSpPr/>
          <p:nvPr/>
        </p:nvSpPr>
        <p:spPr>
          <a:xfrm>
            <a:off x="6031000" y="2076540"/>
            <a:ext cx="54900" cy="54900"/>
          </a:xfrm>
          <a:prstGeom prst="roundRect">
            <a:avLst>
              <a:gd fmla="val 275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1" name="Google Shape;1361;p57"/>
          <p:cNvSpPr txBox="1"/>
          <p:nvPr/>
        </p:nvSpPr>
        <p:spPr>
          <a:xfrm>
            <a:off x="6111000" y="1965000"/>
            <a:ext cx="2622900" cy="6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lang="en" sz="925">
                <a:solidFill>
                  <a:srgbClr val="445566"/>
                </a:solidFill>
              </a:rPr>
              <a:t>Representation learning: Use self-supervised or deep embedding methods to learn richer gait signatures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2" name="Google Shape;1362;p57"/>
          <p:cNvSpPr/>
          <p:nvPr/>
        </p:nvSpPr>
        <p:spPr>
          <a:xfrm>
            <a:off x="6031000" y="2722622"/>
            <a:ext cx="54900" cy="54900"/>
          </a:xfrm>
          <a:prstGeom prst="roundRect">
            <a:avLst>
              <a:gd fmla="val 50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3" name="Google Shape;1363;p57"/>
          <p:cNvSpPr txBox="1"/>
          <p:nvPr/>
        </p:nvSpPr>
        <p:spPr>
          <a:xfrm>
            <a:off x="6111000" y="2628950"/>
            <a:ext cx="2622900" cy="2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Validate on larger multi-site PD gait datasets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4" name="Google Shape;1364;p57"/>
          <p:cNvSpPr/>
          <p:nvPr/>
        </p:nvSpPr>
        <p:spPr>
          <a:xfrm>
            <a:off x="744375" y="3293750"/>
            <a:ext cx="7546800" cy="1638600"/>
          </a:xfrm>
          <a:prstGeom prst="roundRect">
            <a:avLst>
              <a:gd fmla="val 28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5" name="Google Shape;1365;p57"/>
          <p:cNvSpPr txBox="1"/>
          <p:nvPr/>
        </p:nvSpPr>
        <p:spPr>
          <a:xfrm>
            <a:off x="793473" y="3486750"/>
            <a:ext cx="7448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" sz="11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BEST BASELINE — Combined + SVM-RBF (Nested CV)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6" name="Google Shape;1366;p57"/>
          <p:cNvSpPr txBox="1"/>
          <p:nvPr/>
        </p:nvSpPr>
        <p:spPr>
          <a:xfrm>
            <a:off x="793473" y="3829150"/>
            <a:ext cx="18132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r>
              <a:rPr b="1" lang="en" sz="2200">
                <a:solidFill>
                  <a:srgbClr val="FFFFFF"/>
                </a:solidFill>
              </a:rPr>
              <a:t>8</a:t>
            </a: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7" name="Google Shape;1367;p57"/>
          <p:cNvSpPr txBox="1"/>
          <p:nvPr/>
        </p:nvSpPr>
        <p:spPr>
          <a:xfrm>
            <a:off x="842572" y="4240450"/>
            <a:ext cx="1813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8" name="Google Shape;1368;p57"/>
          <p:cNvSpPr txBox="1"/>
          <p:nvPr/>
        </p:nvSpPr>
        <p:spPr>
          <a:xfrm>
            <a:off x="2242526" y="3860400"/>
            <a:ext cx="16200" cy="30780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9" name="Google Shape;1369;p57"/>
          <p:cNvSpPr txBox="1"/>
          <p:nvPr/>
        </p:nvSpPr>
        <p:spPr>
          <a:xfrm>
            <a:off x="2671973" y="3839550"/>
            <a:ext cx="18132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0.85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0" name="Google Shape;1370;p57"/>
          <p:cNvSpPr txBox="1"/>
          <p:nvPr/>
        </p:nvSpPr>
        <p:spPr>
          <a:xfrm>
            <a:off x="2671973" y="4240450"/>
            <a:ext cx="1813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AUC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1" name="Google Shape;1371;p57"/>
          <p:cNvSpPr txBox="1"/>
          <p:nvPr/>
        </p:nvSpPr>
        <p:spPr>
          <a:xfrm>
            <a:off x="4180230" y="3904450"/>
            <a:ext cx="16200" cy="30780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2" name="Google Shape;1372;p57"/>
          <p:cNvSpPr txBox="1"/>
          <p:nvPr/>
        </p:nvSpPr>
        <p:spPr>
          <a:xfrm>
            <a:off x="4550472" y="3798900"/>
            <a:ext cx="18132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3" name="Google Shape;1373;p57"/>
          <p:cNvSpPr txBox="1"/>
          <p:nvPr/>
        </p:nvSpPr>
        <p:spPr>
          <a:xfrm>
            <a:off x="4550472" y="4228750"/>
            <a:ext cx="1813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Sensitivity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4" name="Google Shape;1374;p57"/>
          <p:cNvSpPr txBox="1"/>
          <p:nvPr/>
        </p:nvSpPr>
        <p:spPr>
          <a:xfrm>
            <a:off x="6191990" y="3904450"/>
            <a:ext cx="16200" cy="30780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5" name="Google Shape;1375;p57"/>
          <p:cNvSpPr txBox="1"/>
          <p:nvPr/>
        </p:nvSpPr>
        <p:spPr>
          <a:xfrm>
            <a:off x="6388056" y="3798900"/>
            <a:ext cx="18132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6" name="Google Shape;1376;p57"/>
          <p:cNvSpPr txBox="1"/>
          <p:nvPr/>
        </p:nvSpPr>
        <p:spPr>
          <a:xfrm>
            <a:off x="6428971" y="4240450"/>
            <a:ext cx="1813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Specificity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7" name="Google Shape;1377;p57"/>
          <p:cNvSpPr txBox="1"/>
          <p:nvPr/>
        </p:nvSpPr>
        <p:spPr>
          <a:xfrm>
            <a:off x="1875922" y="4500025"/>
            <a:ext cx="74487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Unbiased estimate via 5-fold outer / 3-fold inner nested cross-validation  ·  n=16</a:t>
            </a:r>
            <a:r>
              <a:rPr lang="en" sz="1000">
                <a:solidFill>
                  <a:srgbClr val="AACCEE"/>
                </a:solidFill>
              </a:rPr>
              <a:t>6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8" name="Google Shape;1378;p57"/>
          <p:cNvSpPr/>
          <p:nvPr/>
        </p:nvSpPr>
        <p:spPr>
          <a:xfrm>
            <a:off x="405000" y="98428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9" name="Google Shape;1379;p57"/>
          <p:cNvSpPr/>
          <p:nvPr/>
        </p:nvSpPr>
        <p:spPr>
          <a:xfrm>
            <a:off x="380000" y="650000"/>
            <a:ext cx="2757900" cy="275700"/>
          </a:xfrm>
          <a:prstGeom prst="roundRect">
            <a:avLst>
              <a:gd fmla="val 28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0" name="Google Shape;1380;p57"/>
          <p:cNvSpPr/>
          <p:nvPr/>
        </p:nvSpPr>
        <p:spPr>
          <a:xfrm>
            <a:off x="380000" y="650000"/>
            <a:ext cx="2757900" cy="26001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1" name="Google Shape;1381;p57"/>
          <p:cNvSpPr txBox="1"/>
          <p:nvPr/>
        </p:nvSpPr>
        <p:spPr>
          <a:xfrm>
            <a:off x="485000" y="845000"/>
            <a:ext cx="2622900" cy="41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lang="en" sz="850">
                <a:solidFill>
                  <a:srgbClr val="041E42"/>
                </a:solidFill>
              </a:rPr>
              <a:t>Right Foot &gt; Left Foot -&gt; clearer PD–HC separation, stronger discriminative patterns</a:t>
            </a:r>
            <a:endParaRPr b="0" i="0" sz="8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2" name="Google Shape;1382;p57"/>
          <p:cNvSpPr txBox="1"/>
          <p:nvPr/>
        </p:nvSpPr>
        <p:spPr>
          <a:xfrm>
            <a:off x="485000" y="140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5"/>
              <a:buFont typeface="Arial"/>
              <a:buNone/>
            </a:pPr>
            <a:r>
              <a:rPr b="1" lang="en" sz="925">
                <a:solidFill>
                  <a:srgbClr val="041E42"/>
                </a:solidFill>
              </a:rPr>
              <a:t>Combined bilateral features outperform single-foot across ALL classifiers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3" name="Google Shape;1383;p57"/>
          <p:cNvSpPr txBox="1"/>
          <p:nvPr/>
        </p:nvSpPr>
        <p:spPr>
          <a:xfrm>
            <a:off x="485000" y="196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5"/>
              <a:buFont typeface="Arial"/>
              <a:buNone/>
            </a:pPr>
            <a:r>
              <a:rPr b="1" lang="en" sz="925">
                <a:solidFill>
                  <a:srgbClr val="041E42"/>
                </a:solidFill>
              </a:rPr>
              <a:t>Non-linear models (RF, SVM-RBF) best capture PD–HC gait differences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4" name="Google Shape;1384;p57"/>
          <p:cNvSpPr txBox="1"/>
          <p:nvPr/>
        </p:nvSpPr>
        <p:spPr>
          <a:xfrm>
            <a:off x="485000" y="252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5"/>
              <a:buFont typeface="Arial"/>
              <a:buNone/>
            </a:pPr>
            <a:r>
              <a:rPr b="1" lang="en" sz="925">
                <a:solidFill>
                  <a:srgbClr val="041E42"/>
                </a:solidFill>
              </a:rPr>
              <a:t>TSFresh</a:t>
            </a:r>
            <a:r>
              <a:rPr b="1" lang="en" sz="925">
                <a:solidFill>
                  <a:srgbClr val="143589"/>
                </a:solidFill>
              </a:rPr>
              <a:t> </a:t>
            </a:r>
            <a:r>
              <a:rPr lang="en" sz="925">
                <a:solidFill>
                  <a:srgbClr val="445566"/>
                </a:solidFill>
              </a:rPr>
              <a:t>automation provides rich, reproducible features without manual design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5" name="Google Shape;1385;p57"/>
          <p:cNvSpPr txBox="1"/>
          <p:nvPr/>
        </p:nvSpPr>
        <p:spPr>
          <a:xfrm>
            <a:off x="866563" y="641100"/>
            <a:ext cx="2718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100">
                <a:solidFill>
                  <a:srgbClr val="041E42"/>
                </a:solidFill>
              </a:rPr>
              <a:t>KEY CONCLUSIONS</a:t>
            </a:r>
            <a:endParaRPr b="0" i="0" sz="1500" u="none" cap="none" strike="noStrike">
              <a:solidFill>
                <a:srgbClr val="041E4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6" name="Google Shape;1386;p57"/>
          <p:cNvSpPr/>
          <p:nvPr/>
        </p:nvSpPr>
        <p:spPr>
          <a:xfrm>
            <a:off x="386975" y="147753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7" name="Google Shape;1387;p57"/>
          <p:cNvSpPr/>
          <p:nvPr/>
        </p:nvSpPr>
        <p:spPr>
          <a:xfrm>
            <a:off x="386975" y="205488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8" name="Google Shape;1388;p57"/>
          <p:cNvSpPr/>
          <p:nvPr/>
        </p:nvSpPr>
        <p:spPr>
          <a:xfrm>
            <a:off x="386975" y="264018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2" name="Shape 1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Google Shape;1393;p58"/>
          <p:cNvSpPr txBox="1"/>
          <p:nvPr>
            <p:ph idx="1" type="body"/>
          </p:nvPr>
        </p:nvSpPr>
        <p:spPr>
          <a:xfrm>
            <a:off x="0" y="1221581"/>
            <a:ext cx="9144000" cy="3921900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/>
          </a:p>
        </p:txBody>
      </p:sp>
      <p:pic>
        <p:nvPicPr>
          <p:cNvPr descr="Ein Bild, das Text, Geschirr enthält.&#10;&#10;Automatisch generierte Beschreibung" id="1394" name="Google Shape;1394;p5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1880" l="0" r="0" t="11872"/>
          <a:stretch/>
        </p:blipFill>
        <p:spPr>
          <a:xfrm>
            <a:off x="0" y="940699"/>
            <a:ext cx="9144000" cy="420280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1395" name="Google Shape;1395;p58"/>
          <p:cNvSpPr txBox="1"/>
          <p:nvPr>
            <p:ph type="title"/>
          </p:nvPr>
        </p:nvSpPr>
        <p:spPr>
          <a:xfrm>
            <a:off x="2708325" y="2571750"/>
            <a:ext cx="4372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</a:pPr>
            <a:r>
              <a:rPr i="1" lang="en" sz="2700">
                <a:solidFill>
                  <a:schemeClr val="accent2"/>
                </a:solidFill>
              </a:rPr>
              <a:t>Any Questions ?</a:t>
            </a:r>
            <a:endParaRPr i="1" sz="2700">
              <a:solidFill>
                <a:schemeClr val="accent2"/>
              </a:solidFill>
            </a:endParaRPr>
          </a:p>
        </p:txBody>
      </p:sp>
      <p:sp>
        <p:nvSpPr>
          <p:cNvPr id="1396" name="Google Shape;1396;p58"/>
          <p:cNvSpPr txBox="1"/>
          <p:nvPr/>
        </p:nvSpPr>
        <p:spPr>
          <a:xfrm>
            <a:off x="1540350" y="1654850"/>
            <a:ext cx="4195800" cy="10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100">
                <a:solidFill>
                  <a:schemeClr val="lt1"/>
                </a:solidFill>
              </a:rPr>
              <a:t>THANK YOU</a:t>
            </a:r>
            <a:endParaRPr b="1" sz="4100">
              <a:solidFill>
                <a:schemeClr val="lt1"/>
              </a:solidFill>
            </a:endParaRPr>
          </a:p>
        </p:txBody>
      </p:sp>
      <p:pic>
        <p:nvPicPr>
          <p:cNvPr id="1397" name="Google Shape;1397;p58" title="pngaaa.com-261068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4725" y="1127124"/>
            <a:ext cx="2258086" cy="3921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AU - Technische Fakultät">
  <a:themeElements>
    <a:clrScheme name="FAU - Grau">
      <a:dk1>
        <a:srgbClr val="000000"/>
      </a:dk1>
      <a:lt1>
        <a:srgbClr val="FFFFFF"/>
      </a:lt1>
      <a:dk2>
        <a:srgbClr val="8C9FB1"/>
      </a:dk2>
      <a:lt2>
        <a:srgbClr val="FFFFFF"/>
      </a:lt2>
      <a:accent1>
        <a:srgbClr val="7F7F7F"/>
      </a:accent1>
      <a:accent2>
        <a:srgbClr val="204251"/>
      </a:accent2>
      <a:accent3>
        <a:srgbClr val="2F586E"/>
      </a:accent3>
      <a:accent4>
        <a:srgbClr val="8C9FB1"/>
      </a:accent4>
      <a:accent5>
        <a:srgbClr val="C2D0DC"/>
      </a:accent5>
      <a:accent6>
        <a:srgbClr val="C7C7C7"/>
      </a:accent6>
      <a:hlink>
        <a:srgbClr val="2F586E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FAU - Technische Fakultät">
  <a:themeElements>
    <a:clrScheme name="FAU - Grau">
      <a:dk1>
        <a:srgbClr val="000000"/>
      </a:dk1>
      <a:lt1>
        <a:srgbClr val="FFFFFF"/>
      </a:lt1>
      <a:dk2>
        <a:srgbClr val="8C9FB1"/>
      </a:dk2>
      <a:lt2>
        <a:srgbClr val="FFFFFF"/>
      </a:lt2>
      <a:accent1>
        <a:srgbClr val="7F7F7F"/>
      </a:accent1>
      <a:accent2>
        <a:srgbClr val="204251"/>
      </a:accent2>
      <a:accent3>
        <a:srgbClr val="2F586E"/>
      </a:accent3>
      <a:accent4>
        <a:srgbClr val="8C9FB1"/>
      </a:accent4>
      <a:accent5>
        <a:srgbClr val="C2D0DC"/>
      </a:accent5>
      <a:accent6>
        <a:srgbClr val="C7C7C7"/>
      </a:accent6>
      <a:hlink>
        <a:srgbClr val="2F586E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